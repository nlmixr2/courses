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530" r:id="rId2"/>
    <p:sldId id="585" r:id="rId3"/>
    <p:sldId id="606" r:id="rId4"/>
    <p:sldId id="607" r:id="rId5"/>
    <p:sldId id="597" r:id="rId6"/>
    <p:sldId id="598" r:id="rId7"/>
    <p:sldId id="602" r:id="rId8"/>
    <p:sldId id="603" r:id="rId9"/>
    <p:sldId id="604" r:id="rId10"/>
    <p:sldId id="637" r:id="rId11"/>
    <p:sldId id="591" r:id="rId12"/>
    <p:sldId id="616" r:id="rId13"/>
    <p:sldId id="610" r:id="rId14"/>
    <p:sldId id="617" r:id="rId15"/>
    <p:sldId id="609" r:id="rId16"/>
    <p:sldId id="618" r:id="rId17"/>
    <p:sldId id="613" r:id="rId18"/>
    <p:sldId id="608" r:id="rId19"/>
    <p:sldId id="619" r:id="rId20"/>
    <p:sldId id="633" r:id="rId21"/>
    <p:sldId id="639" r:id="rId22"/>
    <p:sldId id="63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EDE"/>
    <a:srgbClr val="B03A2E"/>
    <a:srgbClr val="FEF2F2"/>
    <a:srgbClr val="FFF9E6"/>
    <a:srgbClr val="E8F0FE"/>
    <a:srgbClr val="DCE6F2"/>
    <a:srgbClr val="EA6742"/>
    <a:srgbClr val="FF8000"/>
    <a:srgbClr val="B9B6AD"/>
    <a:srgbClr val="76C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79237" autoAdjust="0"/>
  </p:normalViewPr>
  <p:slideViewPr>
    <p:cSldViewPr>
      <p:cViewPr varScale="1">
        <p:scale>
          <a:sx n="80" d="100"/>
          <a:sy n="80" d="100"/>
        </p:scale>
        <p:origin x="792" y="67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5154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B5575-5396-4903-B001-2952BE6B9F1B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2CCE1-13AB-4907-8C53-954A4412C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615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547EB-7C1B-40A0-9C00-7392B48D9156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989F4-5BC7-45C8-8C9A-BD91344270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4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826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9CCCC-4EEB-B18C-B853-4F89AF99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C865F-7C2D-94EF-628F-C39AEEB3A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D1CB5-8778-20AD-53E5-741351FA1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24C8D-A36E-8B28-34C0-0B21FF8E3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721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88725-040A-8853-8409-A43938FE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557FA-F271-B8AC-9E2D-65AC66563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F8469-DBF0-635F-24D4-38B8F1C13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CAC4A-693F-C5B9-DC95-A1C1344F0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072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690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C99A-E374-73A7-57A0-A1F76758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BE635-30C6-237C-F581-C0103D9D0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A8BD2-1EBD-1570-CCCD-0906B12FE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4304D-589E-7AC6-8655-044B314FB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330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277A-1014-6927-B158-95019C6D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63220-13F0-EDF4-FB89-236CE15F7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793D7-948D-97D8-E4B2-60EEC1FE4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A46-89AD-58A7-A77E-1F87EC955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26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4C426-E0E9-B978-A97A-049EF4BF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53F75-538E-9102-08F0-CBCAC094B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2EE3D-EB77-48A5-FEA1-F7BF2BAFC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automated modeling tools</a:t>
            </a:r>
            <a:endParaRPr lang="en-US" sz="12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B6E9A-4D42-B110-DA80-55B7684BA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580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C0254-F9E3-AB87-4C0F-79C97A58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754B7-0630-FA73-8294-6A3DA1A04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D0BA7-A2F6-3E13-04B5-D65419A07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automated modeling tools</a:t>
            </a:r>
            <a:endParaRPr lang="en-US" sz="12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595A9-D2DF-435C-754A-4261029FA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985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A34D-2B0B-8402-05ED-5733C6D7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CCABE-1137-E584-4389-386317C50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B2E93-8B53-7BB2-C76A-9F3AB2503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5B413-B5C4-35B4-2B29-9DD369B54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339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07CCA-B68D-34F8-EE43-43D31865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C6AD4-CE42-7084-36BC-A5CCFEF16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A1E27-5D89-006A-E58F-E66A0C8FB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04AC3-BD2B-FE32-3473-6473A5A48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534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38CA-B1B1-7B26-20CA-F5A4D2D9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A97E6-030C-34F9-5477-E19143007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F2722-8A03-115F-A6CC-97D7C8F7A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E6D4D-4FC7-300A-D464-BA4753E22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067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73B5-1D04-0EA2-5F90-7B86DF77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D3F84-990C-4BA4-E256-C3FFB225C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8D033-99AE-2310-F989-C271A8609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3D6DA-C296-F3ED-EFA4-1E7FEDEEF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486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E47EF-A5AD-CA30-C76A-23D57A3AD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17245-7D20-04CF-C924-FA054A067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26F2E-D4A7-064E-A7B2-FEA1E77AB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79EDA-6FAB-4345-58FC-CC1B3E3E6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684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115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0A1FA-ED6B-A725-DAAE-18CB9068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7F24E-4C4D-D3C1-E886-FA17BA4ED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42729-A550-F529-571D-DED1866DE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850" kern="1200" dirty="0">
              <a:solidFill>
                <a:srgbClr val="8FAF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FD225-136D-4ED4-03CE-2408D582A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196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4634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865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989F4-5BC7-45C8-8C9A-BD913442709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633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D51947-24F4-C4DC-5885-9F67B2093E4F}"/>
              </a:ext>
            </a:extLst>
          </p:cNvPr>
          <p:cNvGrpSpPr/>
          <p:nvPr userDrawn="1"/>
        </p:nvGrpSpPr>
        <p:grpSpPr>
          <a:xfrm>
            <a:off x="4339232" y="4819600"/>
            <a:ext cx="3589360" cy="1763448"/>
            <a:chOff x="4339232" y="4819600"/>
            <a:chExt cx="3589360" cy="176344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E4E562-3F63-307A-0740-45B3E73A09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9232" y="4819600"/>
              <a:ext cx="3513536" cy="176344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C4A0EA-E478-7F0A-1EEC-46DA78AFE7EE}"/>
                </a:ext>
              </a:extLst>
            </p:cNvPr>
            <p:cNvSpPr txBox="1"/>
            <p:nvPr userDrawn="1"/>
          </p:nvSpPr>
          <p:spPr>
            <a:xfrm>
              <a:off x="7568552" y="5538903"/>
              <a:ext cx="36004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900" b="1">
                  <a:solidFill>
                    <a:srgbClr val="C00000"/>
                  </a:solidFill>
                </a:rPr>
                <a:t>2</a:t>
              </a:r>
              <a:endParaRPr lang="en-NL" sz="19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38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31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3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120829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88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20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13386"/>
            <a:ext cx="10945216" cy="98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9563" y="6564883"/>
            <a:ext cx="7392821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>
                    <a:lumMod val="75000"/>
                  </a:schemeClr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3392" y="6564883"/>
            <a:ext cx="1056117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3B2648-2988-DDF5-3B00-2C50D9961258}"/>
              </a:ext>
            </a:extLst>
          </p:cNvPr>
          <p:cNvGrpSpPr/>
          <p:nvPr userDrawn="1"/>
        </p:nvGrpSpPr>
        <p:grpSpPr>
          <a:xfrm>
            <a:off x="10598596" y="6318101"/>
            <a:ext cx="1066119" cy="524043"/>
            <a:chOff x="10598596" y="6318101"/>
            <a:chExt cx="1066119" cy="52404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7B45EA-DF08-9BD8-0E65-7B7CF845E1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8596" y="6318101"/>
              <a:ext cx="1044116" cy="52404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5425DF-E504-86F9-34AC-3D4EE1BA0992}"/>
                </a:ext>
              </a:extLst>
            </p:cNvPr>
            <p:cNvSpPr txBox="1"/>
            <p:nvPr userDrawn="1"/>
          </p:nvSpPr>
          <p:spPr>
            <a:xfrm>
              <a:off x="11557722" y="6435742"/>
              <a:ext cx="1069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>
                  <a:solidFill>
                    <a:srgbClr val="C00000"/>
                  </a:solidFill>
                </a:rPr>
                <a:t>2</a:t>
              </a:r>
              <a:endParaRPr lang="en-NL" sz="12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529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B40000"/>
          </a:solidFill>
          <a:latin typeface="+mn-lt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2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tm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351584" y="4509120"/>
            <a:ext cx="7056784" cy="792088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chemeClr val="tx2"/>
                </a:solidFill>
                <a:latin typeface="+mj-lt"/>
              </a:rPr>
              <a:t>Zh</a:t>
            </a:r>
            <a:r>
              <a:rPr lang="en-US" altLang="zh-CN" b="1" dirty="0">
                <a:solidFill>
                  <a:schemeClr val="tx2"/>
                </a:solidFill>
                <a:latin typeface="+mj-lt"/>
              </a:rPr>
              <a:t>on</a:t>
            </a:r>
            <a:r>
              <a:rPr lang="en-GB" b="1" dirty="0" err="1">
                <a:solidFill>
                  <a:schemeClr val="tx2"/>
                </a:solidFill>
                <a:latin typeface="+mj-lt"/>
              </a:rPr>
              <a:t>ghui</a:t>
            </a:r>
            <a:r>
              <a:rPr lang="en-GB" b="1" dirty="0">
                <a:solidFill>
                  <a:schemeClr val="tx2"/>
                </a:solidFill>
                <a:latin typeface="+mj-lt"/>
              </a:rPr>
              <a:t> Huang</a:t>
            </a:r>
            <a:endParaRPr kumimoji="0" lang="en-GB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343472" y="1556792"/>
            <a:ext cx="9289032" cy="1368152"/>
          </a:xfrm>
        </p:spPr>
        <p:txBody>
          <a:bodyPr>
            <a:normAutofit/>
          </a:bodyPr>
          <a:lstStyle/>
          <a:p>
            <a:r>
              <a:rPr lang="en-GB" dirty="0"/>
              <a:t>Automated Model Parameter Initialisation with </a:t>
            </a:r>
            <a:r>
              <a:rPr lang="en-GB" sz="3600" dirty="0">
                <a:solidFill>
                  <a:schemeClr val="tx2"/>
                </a:solidFill>
              </a:rPr>
              <a:t>nlmixr2autoinit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FBA56-A173-E980-E4F6-90BB29FA3143}"/>
              </a:ext>
            </a:extLst>
          </p:cNvPr>
          <p:cNvSpPr txBox="1"/>
          <p:nvPr/>
        </p:nvSpPr>
        <p:spPr>
          <a:xfrm>
            <a:off x="2832563" y="3286726"/>
            <a:ext cx="6094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nlmixr2 Course 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PAGE 2026, Dubrovnik, Croatia </a:t>
            </a:r>
          </a:p>
        </p:txBody>
      </p:sp>
    </p:spTree>
    <p:extLst>
      <p:ext uri="{BB962C8B-B14F-4D97-AF65-F5344CB8AC3E}">
        <p14:creationId xmlns:p14="http://schemas.microsoft.com/office/powerpoint/2010/main" val="274031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7167-8F4F-60AB-1FEB-C834766C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07635-21CA-AEC5-9B29-D642B1A9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CFD02-6B31-BF82-9FE7-1C74CE663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729192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Introduction to nlmixr2autoinit</a:t>
            </a:r>
          </a:p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Hands-on : Integrating nlmixr2autoinit with nlmixr2 (Warfarin PK)</a:t>
            </a:r>
          </a:p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Introduction to nlmixr2auto</a:t>
            </a:r>
          </a:p>
          <a:p>
            <a:pPr>
              <a:lnSpc>
                <a:spcPct val="150000"/>
              </a:lnSpc>
            </a:pPr>
            <a:endParaRPr lang="en-GB" sz="1800" b="1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AE762-9AA7-664D-888D-982021DE3E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26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1CCE8-784F-5798-DF1D-3AC7D55DA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D1055-B918-8E3A-110E-7DF9F6D0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nlmixr2autoinit: initial estimate generation for nlmixr2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BBC4E-A8CB-DD5E-611D-D06CC528F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239801"/>
            <a:ext cx="9505056" cy="518457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600" b="1" dirty="0">
                <a:solidFill>
                  <a:schemeClr val="tx2"/>
                </a:solidFill>
                <a:latin typeface="+mn-lt"/>
              </a:rPr>
              <a:t>nlmixr2autoinit is </a:t>
            </a:r>
            <a:r>
              <a:rPr lang="en-GB" sz="1600" b="1" i="1" dirty="0">
                <a:solidFill>
                  <a:schemeClr val="tx2"/>
                </a:solidFill>
                <a:latin typeface="+mn-lt"/>
              </a:rPr>
              <a:t>an open-source R package for generating initial estimates for </a:t>
            </a:r>
            <a:r>
              <a:rPr lang="en-GB" sz="1600" b="1" i="1" dirty="0" err="1">
                <a:solidFill>
                  <a:schemeClr val="tx2"/>
                </a:solidFill>
                <a:latin typeface="+mn-lt"/>
              </a:rPr>
              <a:t>nlmixr</a:t>
            </a:r>
            <a:r>
              <a:rPr lang="en-GB" sz="1600" b="1" i="1" dirty="0">
                <a:solidFill>
                  <a:schemeClr val="tx2"/>
                </a:solidFill>
                <a:latin typeface="+mn-lt"/>
              </a:rPr>
              <a:t> models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Released on CRAN in November 2025 (v1.0.0)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Provides starting values for structural and random effect parameters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Applicable to diverse PK scenarios (iv, infusion, extravascular; single/repeated dose; rich/sparse sampling)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Part of the nlmixr2auto ecosystem for automated population pharmacokinetic model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FC974-D143-1C01-5D3E-13E9E533BF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11424" y="5283501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CRAN: https://cran.r-project.org/package=nlmixr2autoinit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 GitHub: https://github.com/ucl-pharmacometrics/nlmixr2autoinit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[c] Huang Z et al. J Pharmacokinet Pharmacodyn (2025). https://doi.org/10.1007/s10928-025-10000-z</a:t>
            </a:r>
            <a:endParaRPr lang="en-US" sz="14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FDEE38C1-2E72-9A5F-F1ED-303EFF24D9BC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6B6E466-F428-2D9F-C9BA-7300F8F6FE7E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  <a:endParaRPr lang="en-US" sz="85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B42EA213-42F5-5C06-79B2-647AE77BB354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4E0D3610-36C0-8DA1-1987-26BCA6786522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3C91AE7D-817C-CC63-5237-E0F3FD675F73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DBC7D826-AFD4-0BB3-6344-98AED634D909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307553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FAF4-083B-5DB3-E528-8BA8046D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C14A5-CD61-F4AF-1820-B7183645E6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359D4303-5CA6-A5CE-8BD7-E48E71FC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3386"/>
            <a:ext cx="10945216" cy="985909"/>
          </a:xfrm>
        </p:spPr>
        <p:txBody>
          <a:bodyPr/>
          <a:lstStyle/>
          <a:p>
            <a:r>
              <a:rPr lang="en-GB" dirty="0"/>
              <a:t>Two main parts in</a:t>
            </a:r>
            <a:r>
              <a:rPr lang="en-US" altLang="zh-CN" dirty="0"/>
              <a:t> a </a:t>
            </a:r>
            <a:r>
              <a:rPr lang="en-US" altLang="zh-CN" dirty="0" err="1"/>
              <a:t>nlmixr</a:t>
            </a:r>
            <a:r>
              <a:rPr lang="en-US" altLang="zh-CN" dirty="0"/>
              <a:t> model</a:t>
            </a:r>
            <a:endParaRPr lang="en-GB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37E5E08-C42A-9830-6C85-D87417735424}"/>
              </a:ext>
            </a:extLst>
          </p:cNvPr>
          <p:cNvSpPr/>
          <p:nvPr/>
        </p:nvSpPr>
        <p:spPr>
          <a:xfrm>
            <a:off x="7141952" y="1304775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+mj-lt"/>
                <a:ea typeface="Calibri" pitchFamily="34" charset="-122"/>
                <a:cs typeface="Calibri" pitchFamily="34" charset="-120"/>
              </a:rPr>
              <a:t>Model Structure</a:t>
            </a:r>
            <a:endParaRPr lang="en-US" sz="1600" dirty="0">
              <a:latin typeface="+mj-lt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A3DE742-6EF3-BDC9-BA65-72EB31D352F3}"/>
              </a:ext>
            </a:extLst>
          </p:cNvPr>
          <p:cNvSpPr/>
          <p:nvPr/>
        </p:nvSpPr>
        <p:spPr>
          <a:xfrm>
            <a:off x="5977033" y="1693014"/>
            <a:ext cx="4328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  <a:latin typeface="+mj-lt"/>
                <a:ea typeface="Calibri" pitchFamily="34" charset="-122"/>
                <a:cs typeface="Calibri" pitchFamily="34" charset="-120"/>
              </a:rPr>
              <a:t>How does the drug behave in the body?</a:t>
            </a:r>
            <a:endParaRPr lang="en-US" sz="16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606CA8C-F0A8-0D11-F0A6-27FB2B011CBF}"/>
              </a:ext>
            </a:extLst>
          </p:cNvPr>
          <p:cNvSpPr/>
          <p:nvPr/>
        </p:nvSpPr>
        <p:spPr>
          <a:xfrm>
            <a:off x="2191520" y="131430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+mj-lt"/>
                <a:ea typeface="Calibri" pitchFamily="34" charset="-122"/>
                <a:cs typeface="Calibri" pitchFamily="34" charset="-120"/>
              </a:rPr>
              <a:t>Initial Estimates</a:t>
            </a:r>
            <a:endParaRPr lang="en-US" sz="1600" dirty="0">
              <a:latin typeface="+mj-lt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BA79C84-566C-B005-8B5A-37D56084A63D}"/>
              </a:ext>
            </a:extLst>
          </p:cNvPr>
          <p:cNvSpPr/>
          <p:nvPr/>
        </p:nvSpPr>
        <p:spPr>
          <a:xfrm>
            <a:off x="1025784" y="1730549"/>
            <a:ext cx="4328414" cy="21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  <a:latin typeface="+mj-lt"/>
                <a:ea typeface="Calibri" pitchFamily="34" charset="-122"/>
                <a:cs typeface="Calibri" pitchFamily="34" charset="-120"/>
              </a:rPr>
              <a:t>Where does parameter estimation start?</a:t>
            </a:r>
            <a:endParaRPr lang="en-US" sz="16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48" name="Slide Number Placeholder 4">
            <a:extLst>
              <a:ext uri="{FF2B5EF4-FFF2-40B4-BE49-F238E27FC236}">
                <a16:creationId xmlns:a16="http://schemas.microsoft.com/office/drawing/2014/main" id="{C506EF9F-86CF-6AAF-DB90-B452414E7878}"/>
              </a:ext>
            </a:extLst>
          </p:cNvPr>
          <p:cNvSpPr txBox="1">
            <a:spLocks/>
          </p:cNvSpPr>
          <p:nvPr/>
        </p:nvSpPr>
        <p:spPr>
          <a:xfrm>
            <a:off x="623392" y="6564883"/>
            <a:ext cx="1056117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3EA325-E17C-4431-8C79-1AEA4A396602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Text 20">
            <a:extLst>
              <a:ext uri="{FF2B5EF4-FFF2-40B4-BE49-F238E27FC236}">
                <a16:creationId xmlns:a16="http://schemas.microsoft.com/office/drawing/2014/main" id="{DD50F4F0-5BBB-3187-3243-7C6E47266A50}"/>
              </a:ext>
            </a:extLst>
          </p:cNvPr>
          <p:cNvSpPr/>
          <p:nvPr/>
        </p:nvSpPr>
        <p:spPr>
          <a:xfrm>
            <a:off x="9192953" y="1058455"/>
            <a:ext cx="3480806" cy="69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9C501C73-57F4-6A72-0CCB-C7EA68F777D6}"/>
              </a:ext>
            </a:extLst>
          </p:cNvPr>
          <p:cNvSpPr/>
          <p:nvPr/>
        </p:nvSpPr>
        <p:spPr>
          <a:xfrm>
            <a:off x="1353787" y="2288660"/>
            <a:ext cx="3374061" cy="2432095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/>
            </a:solidFill>
            <a:prstDash val="solid"/>
          </a:ln>
        </p:spPr>
        <p:txBody>
          <a:bodyPr/>
          <a:lstStyle/>
          <a:p>
            <a:endParaRPr lang="en-GB" sz="1200">
              <a:solidFill>
                <a:srgbClr val="E8F0FE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45B45F1B-DD09-79C0-7F3E-CFA4B33A8397}"/>
              </a:ext>
            </a:extLst>
          </p:cNvPr>
          <p:cNvSpPr/>
          <p:nvPr/>
        </p:nvSpPr>
        <p:spPr>
          <a:xfrm>
            <a:off x="1679509" y="2389394"/>
            <a:ext cx="2256251" cy="397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ini({</a:t>
            </a:r>
            <a:endParaRPr lang="en-US" sz="1400" dirty="0">
              <a:solidFill>
                <a:srgbClr val="E8F0FE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70519379-41BD-F5F6-A52B-75673AB4B7B4}"/>
              </a:ext>
            </a:extLst>
          </p:cNvPr>
          <p:cNvSpPr/>
          <p:nvPr/>
        </p:nvSpPr>
        <p:spPr>
          <a:xfrm>
            <a:off x="1680978" y="2693251"/>
            <a:ext cx="2256251" cy="397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tcl  &lt;- log(</a:t>
            </a:r>
            <a:r>
              <a:rPr lang="en-GB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???</a:t>
            </a: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>
              <a:solidFill>
                <a:srgbClr val="E8F0FE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3E5669D9-13CE-7906-0EE7-2AD0E431EC71}"/>
              </a:ext>
            </a:extLst>
          </p:cNvPr>
          <p:cNvSpPr/>
          <p:nvPr/>
        </p:nvSpPr>
        <p:spPr>
          <a:xfrm>
            <a:off x="1682447" y="2947776"/>
            <a:ext cx="2256251" cy="397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tv   &lt;- log(???)</a:t>
            </a:r>
            <a:endParaRPr lang="en-US" sz="1400" dirty="0">
              <a:solidFill>
                <a:srgbClr val="E8F0FE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90DE4F59-3CD7-C76A-E8A5-9507244A6C83}"/>
              </a:ext>
            </a:extLst>
          </p:cNvPr>
          <p:cNvSpPr/>
          <p:nvPr/>
        </p:nvSpPr>
        <p:spPr>
          <a:xfrm>
            <a:off x="1683916" y="3200481"/>
            <a:ext cx="2256251" cy="397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eta.cl ~ ???  </a:t>
            </a:r>
            <a:endParaRPr lang="en-US" sz="1400" dirty="0">
              <a:solidFill>
                <a:srgbClr val="E8F0FE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8534DC96-FACC-AF8F-478B-4B9AFD9B16A4}"/>
              </a:ext>
            </a:extLst>
          </p:cNvPr>
          <p:cNvSpPr/>
          <p:nvPr/>
        </p:nvSpPr>
        <p:spPr>
          <a:xfrm>
            <a:off x="1685385" y="3495050"/>
            <a:ext cx="2256251" cy="397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eta.v  ~ ???</a:t>
            </a:r>
            <a:endParaRPr lang="en-US" sz="1400" dirty="0">
              <a:solidFill>
                <a:srgbClr val="E8F0FE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7158FAC0-1147-1C2A-7068-415F89269D6D}"/>
              </a:ext>
            </a:extLst>
          </p:cNvPr>
          <p:cNvSpPr/>
          <p:nvPr/>
        </p:nvSpPr>
        <p:spPr>
          <a:xfrm>
            <a:off x="1686854" y="3762820"/>
            <a:ext cx="2256251" cy="397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prop.err &lt;- ???</a:t>
            </a:r>
            <a:endParaRPr lang="en-US" sz="1400" dirty="0">
              <a:solidFill>
                <a:srgbClr val="E8F0FE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6415C7C8-9928-3419-EE36-92966B424579}"/>
              </a:ext>
            </a:extLst>
          </p:cNvPr>
          <p:cNvSpPr/>
          <p:nvPr/>
        </p:nvSpPr>
        <p:spPr>
          <a:xfrm>
            <a:off x="1688323" y="4161532"/>
            <a:ext cx="2256251" cy="397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400" dirty="0">
              <a:solidFill>
                <a:srgbClr val="E8F0FE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22450228-6FEF-0A3C-9177-D25B8B273E95}"/>
              </a:ext>
            </a:extLst>
          </p:cNvPr>
          <p:cNvSpPr/>
          <p:nvPr/>
        </p:nvSpPr>
        <p:spPr>
          <a:xfrm>
            <a:off x="925144" y="5396594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6E25CD30-6FA6-F4F5-C196-0BFA2906DA18}"/>
              </a:ext>
            </a:extLst>
          </p:cNvPr>
          <p:cNvSpPr/>
          <p:nvPr/>
        </p:nvSpPr>
        <p:spPr>
          <a:xfrm>
            <a:off x="6384032" y="2291321"/>
            <a:ext cx="3456384" cy="2429434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rgbClr val="E8F0FE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53A02A91-B7D4-6772-B874-3F0D5D709E1F}"/>
              </a:ext>
            </a:extLst>
          </p:cNvPr>
          <p:cNvSpPr/>
          <p:nvPr/>
        </p:nvSpPr>
        <p:spPr>
          <a:xfrm>
            <a:off x="6456040" y="2473539"/>
            <a:ext cx="3168352" cy="18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model({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FAE5A975-2C83-5F6C-0C15-9C1E932C374F}"/>
              </a:ext>
            </a:extLst>
          </p:cNvPr>
          <p:cNvSpPr/>
          <p:nvPr/>
        </p:nvSpPr>
        <p:spPr>
          <a:xfrm>
            <a:off x="6461440" y="2747536"/>
            <a:ext cx="3168352" cy="18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cl  &lt;- exp(tcl + eta.cl)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797DD78E-68DA-ABB2-3780-23B467853F28}"/>
              </a:ext>
            </a:extLst>
          </p:cNvPr>
          <p:cNvSpPr/>
          <p:nvPr/>
        </p:nvSpPr>
        <p:spPr>
          <a:xfrm>
            <a:off x="6493840" y="3003221"/>
            <a:ext cx="3168352" cy="18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v   &lt;- exp(tv  + eta.v)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E8530C9D-9A33-38A5-4B97-C5AE079A6DEB}"/>
              </a:ext>
            </a:extLst>
          </p:cNvPr>
          <p:cNvSpPr/>
          <p:nvPr/>
        </p:nvSpPr>
        <p:spPr>
          <a:xfrm>
            <a:off x="6472240" y="3239524"/>
            <a:ext cx="3168352" cy="18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ke  &lt;- cl / v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8B7E0CAA-0ABC-6407-BC33-974A63950F05}"/>
              </a:ext>
            </a:extLst>
          </p:cNvPr>
          <p:cNvSpPr/>
          <p:nvPr/>
        </p:nvSpPr>
        <p:spPr>
          <a:xfrm>
            <a:off x="6466840" y="3528707"/>
            <a:ext cx="3168352" cy="18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d/dt(A1) = -ke * A1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0787A699-ADA6-B24A-F706-699148992CA4}"/>
              </a:ext>
            </a:extLst>
          </p:cNvPr>
          <p:cNvSpPr/>
          <p:nvPr/>
        </p:nvSpPr>
        <p:spPr>
          <a:xfrm>
            <a:off x="6477640" y="3797984"/>
            <a:ext cx="3168352" cy="18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cp  = A1 / v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72" name="Text 18">
            <a:extLst>
              <a:ext uri="{FF2B5EF4-FFF2-40B4-BE49-F238E27FC236}">
                <a16:creationId xmlns:a16="http://schemas.microsoft.com/office/drawing/2014/main" id="{16E717C0-F9B4-21C3-D123-A3C446DF7B62}"/>
              </a:ext>
            </a:extLst>
          </p:cNvPr>
          <p:cNvSpPr/>
          <p:nvPr/>
        </p:nvSpPr>
        <p:spPr>
          <a:xfrm>
            <a:off x="6483040" y="4076702"/>
            <a:ext cx="3168352" cy="18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cp ~ prop(prop.err)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73" name="Text 19">
            <a:extLst>
              <a:ext uri="{FF2B5EF4-FFF2-40B4-BE49-F238E27FC236}">
                <a16:creationId xmlns:a16="http://schemas.microsoft.com/office/drawing/2014/main" id="{8D4E9214-4607-E01C-5B94-5F50C5F66C70}"/>
              </a:ext>
            </a:extLst>
          </p:cNvPr>
          <p:cNvSpPr/>
          <p:nvPr/>
        </p:nvSpPr>
        <p:spPr>
          <a:xfrm>
            <a:off x="6499242" y="4295200"/>
            <a:ext cx="3168352" cy="18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74" name="Text 20">
            <a:extLst>
              <a:ext uri="{FF2B5EF4-FFF2-40B4-BE49-F238E27FC236}">
                <a16:creationId xmlns:a16="http://schemas.microsoft.com/office/drawing/2014/main" id="{417753A8-0678-18E8-F074-7706E381962B}"/>
              </a:ext>
            </a:extLst>
          </p:cNvPr>
          <p:cNvSpPr/>
          <p:nvPr/>
        </p:nvSpPr>
        <p:spPr>
          <a:xfrm>
            <a:off x="6488440" y="4141404"/>
            <a:ext cx="3168352" cy="18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57B8C0-8E1D-3483-92DC-9F4FCE333956}"/>
              </a:ext>
            </a:extLst>
          </p:cNvPr>
          <p:cNvSpPr txBox="1"/>
          <p:nvPr/>
        </p:nvSpPr>
        <p:spPr>
          <a:xfrm>
            <a:off x="1271464" y="4890689"/>
            <a:ext cx="367240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 err="1"/>
              <a:t>tcl</a:t>
            </a:r>
            <a:r>
              <a:rPr lang="en-GB" sz="1100" dirty="0"/>
              <a:t>, tv - typical clearance and volume on log scale</a:t>
            </a:r>
          </a:p>
          <a:p>
            <a:r>
              <a:rPr lang="en-GB" sz="1100" dirty="0"/>
              <a:t>eta.cl, </a:t>
            </a:r>
            <a:r>
              <a:rPr lang="en-GB" sz="1100" dirty="0" err="1"/>
              <a:t>eta.v</a:t>
            </a:r>
            <a:r>
              <a:rPr lang="en-GB" sz="1100" dirty="0"/>
              <a:t> - inter-individual variability</a:t>
            </a:r>
          </a:p>
          <a:p>
            <a:r>
              <a:rPr lang="es-ES" sz="1100" dirty="0" err="1"/>
              <a:t>prop.err</a:t>
            </a:r>
            <a:r>
              <a:rPr lang="es-ES" sz="1100" dirty="0"/>
              <a:t> - </a:t>
            </a:r>
            <a:r>
              <a:rPr lang="es-ES" sz="1100" dirty="0" err="1"/>
              <a:t>proportional</a:t>
            </a:r>
            <a:r>
              <a:rPr lang="es-ES" sz="1100" dirty="0"/>
              <a:t> residual error</a:t>
            </a:r>
            <a:endParaRPr lang="en-GB" sz="11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C4DE3A-2602-9180-3D26-861F68338A76}"/>
              </a:ext>
            </a:extLst>
          </p:cNvPr>
          <p:cNvSpPr txBox="1"/>
          <p:nvPr/>
        </p:nvSpPr>
        <p:spPr>
          <a:xfrm>
            <a:off x="6407586" y="4847777"/>
            <a:ext cx="643361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cl, v - individual clearance and volume</a:t>
            </a:r>
          </a:p>
          <a:p>
            <a:r>
              <a:rPr lang="en-GB" sz="1100" dirty="0"/>
              <a:t>d/dt(A1) – </a:t>
            </a:r>
            <a:r>
              <a:rPr lang="en-US" altLang="zh-CN" sz="1100" dirty="0"/>
              <a:t>model differential equations</a:t>
            </a:r>
          </a:p>
          <a:p>
            <a:r>
              <a:rPr lang="en-GB" sz="1100" dirty="0"/>
              <a:t>cp ~ prop(</a:t>
            </a:r>
            <a:r>
              <a:rPr lang="en-GB" sz="1100" dirty="0" err="1"/>
              <a:t>prop.err</a:t>
            </a:r>
            <a:r>
              <a:rPr lang="en-GB" sz="1100" dirty="0"/>
              <a:t>) - links predicted concentration to the error model</a:t>
            </a: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A9BAD2CA-EFBD-7717-6237-48C8A574468D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8685598-11E7-06D9-0B3F-0F05F80DACF8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  <a:endParaRPr lang="en-US" sz="85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9900F92E-F98B-1704-4DB8-9F42BB4AC035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1DAF632-D28C-B0C8-70AF-D057BCFF3659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E2D1ABE2-F299-B14E-8CA2-9773FD174CA2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C588E9C-CD89-AAB2-EF2F-07A04F291209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198985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2C5ED-DFF7-63E1-FFEE-A0D6F21BB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12">
            <a:extLst>
              <a:ext uri="{FF2B5EF4-FFF2-40B4-BE49-F238E27FC236}">
                <a16:creationId xmlns:a16="http://schemas.microsoft.com/office/drawing/2014/main" id="{7F604656-F7B8-935B-9A31-2CF60870A8CD}"/>
              </a:ext>
            </a:extLst>
          </p:cNvPr>
          <p:cNvSpPr/>
          <p:nvPr/>
        </p:nvSpPr>
        <p:spPr>
          <a:xfrm>
            <a:off x="865584" y="1349195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Example: </a:t>
            </a:r>
            <a:r>
              <a:rPr lang="en-US" sz="1600" b="1" dirty="0" err="1">
                <a:solidFill>
                  <a:schemeClr val="tx2"/>
                </a:solidFill>
              </a:rPr>
              <a:t>Phenobarbitol</a:t>
            </a:r>
            <a:r>
              <a:rPr lang="en-US" sz="1600" b="1" dirty="0">
                <a:solidFill>
                  <a:schemeClr val="tx2"/>
                </a:solidFill>
              </a:rPr>
              <a:t> (</a:t>
            </a:r>
            <a:r>
              <a:rPr lang="en-US" sz="1600" b="1" dirty="0" err="1">
                <a:solidFill>
                  <a:schemeClr val="tx2"/>
                </a:solidFill>
              </a:rPr>
              <a:t>pheno_sd</a:t>
            </a:r>
            <a:r>
              <a:rPr lang="en-US" sz="1600" b="1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311" name="Title 1">
            <a:extLst>
              <a:ext uri="{FF2B5EF4-FFF2-40B4-BE49-F238E27FC236}">
                <a16:creationId xmlns:a16="http://schemas.microsoft.com/office/drawing/2014/main" id="{B0DA2544-463F-4CE2-CD00-C6C3A938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3386"/>
            <a:ext cx="10945216" cy="985909"/>
          </a:xfrm>
        </p:spPr>
        <p:txBody>
          <a:bodyPr/>
          <a:lstStyle/>
          <a:p>
            <a:r>
              <a:rPr lang="en-GB" dirty="0"/>
              <a:t>Imagine You Have Data Like This…</a:t>
            </a:r>
          </a:p>
        </p:txBody>
      </p:sp>
      <p:sp>
        <p:nvSpPr>
          <p:cNvPr id="315" name="Slide Number Placeholder 4">
            <a:extLst>
              <a:ext uri="{FF2B5EF4-FFF2-40B4-BE49-F238E27FC236}">
                <a16:creationId xmlns:a16="http://schemas.microsoft.com/office/drawing/2014/main" id="{F9D0E1EB-2D47-38E0-607B-0A90A6C994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3392" y="6564883"/>
            <a:ext cx="1056117" cy="230400"/>
          </a:xfrm>
        </p:spPr>
        <p:txBody>
          <a:bodyPr/>
          <a:lstStyle/>
          <a:p>
            <a:fld id="{133EA325-E17C-4431-8C79-1AEA4A396602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17" name="Text 6">
            <a:extLst>
              <a:ext uri="{FF2B5EF4-FFF2-40B4-BE49-F238E27FC236}">
                <a16:creationId xmlns:a16="http://schemas.microsoft.com/office/drawing/2014/main" id="{3F2C8441-1A33-F240-16DF-5CB81EC37B7D}"/>
              </a:ext>
            </a:extLst>
          </p:cNvPr>
          <p:cNvSpPr/>
          <p:nvPr/>
        </p:nvSpPr>
        <p:spPr>
          <a:xfrm>
            <a:off x="1075952" y="6491227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  <a:endParaRPr lang="en-US" sz="850" dirty="0"/>
          </a:p>
        </p:txBody>
      </p:sp>
      <p:pic>
        <p:nvPicPr>
          <p:cNvPr id="325" name="Picture 324">
            <a:extLst>
              <a:ext uri="{FF2B5EF4-FFF2-40B4-BE49-F238E27FC236}">
                <a16:creationId xmlns:a16="http://schemas.microsoft.com/office/drawing/2014/main" id="{A49C6B61-18B3-8B5F-ADC2-D077601A9E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20" y="1864885"/>
            <a:ext cx="6199915" cy="3815332"/>
          </a:xfrm>
          <a:prstGeom prst="rect">
            <a:avLst/>
          </a:prstGeom>
        </p:spPr>
      </p:pic>
      <p:sp>
        <p:nvSpPr>
          <p:cNvPr id="335" name="Text 12">
            <a:extLst>
              <a:ext uri="{FF2B5EF4-FFF2-40B4-BE49-F238E27FC236}">
                <a16:creationId xmlns:a16="http://schemas.microsoft.com/office/drawing/2014/main" id="{0EDBF9FE-2202-3B91-1798-57A14F3E8810}"/>
              </a:ext>
            </a:extLst>
          </p:cNvPr>
          <p:cNvSpPr/>
          <p:nvPr/>
        </p:nvSpPr>
        <p:spPr>
          <a:xfrm>
            <a:off x="7705352" y="2914754"/>
            <a:ext cx="4079280" cy="1236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Repeated dosing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2–3 samples per subject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One sample available for a single dosing interval</a:t>
            </a:r>
            <a:endParaRPr lang="en-US" altLang="zh-CN" sz="1600" b="1" dirty="0">
              <a:solidFill>
                <a:schemeClr val="tx2"/>
              </a:solidFill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372AD02-7920-9093-EA78-D8FCD8997719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85E2FDA-AB47-7180-5E7C-3847AB064473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  <a:endParaRPr lang="en-US" sz="8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3B32B8E-F84F-A39D-3547-6D929657BB82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87FDD36-8228-6E8F-4539-A3D76D455E0F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CD40095-A7CC-B64F-C267-F84BC4288932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DD3C87C-792B-342D-3481-5F7760B8DAD1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2393359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9EDF0-5078-6B7F-3E54-845EA9C6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>
            <a:extLst>
              <a:ext uri="{FF2B5EF4-FFF2-40B4-BE49-F238E27FC236}">
                <a16:creationId xmlns:a16="http://schemas.microsoft.com/office/drawing/2014/main" id="{B12ADFCC-D2FA-9CA6-76E4-EC2FE907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3386"/>
            <a:ext cx="10945216" cy="985909"/>
          </a:xfrm>
        </p:spPr>
        <p:txBody>
          <a:bodyPr/>
          <a:lstStyle/>
          <a:p>
            <a:r>
              <a:rPr lang="en-GB" dirty="0"/>
              <a:t>With Poor Initial Estimates…</a:t>
            </a:r>
          </a:p>
        </p:txBody>
      </p:sp>
      <p:sp>
        <p:nvSpPr>
          <p:cNvPr id="61" name="Shape 2">
            <a:extLst>
              <a:ext uri="{FF2B5EF4-FFF2-40B4-BE49-F238E27FC236}">
                <a16:creationId xmlns:a16="http://schemas.microsoft.com/office/drawing/2014/main" id="{DA38B165-4D11-9D9A-AF5A-84E349AAC32D}"/>
              </a:ext>
            </a:extLst>
          </p:cNvPr>
          <p:cNvSpPr/>
          <p:nvPr/>
        </p:nvSpPr>
        <p:spPr>
          <a:xfrm>
            <a:off x="729687" y="1349689"/>
            <a:ext cx="4965058" cy="4527583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/>
            </a:solidFill>
            <a:prstDash val="solid"/>
          </a:ln>
        </p:spPr>
        <p:txBody>
          <a:bodyPr/>
          <a:lstStyle/>
          <a:p>
            <a:endParaRPr lang="en-GB" sz="1200">
              <a:latin typeface="Consolas" panose="020B0609020204030204" pitchFamily="49" charset="0"/>
            </a:endParaRPr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7055AF94-7D05-8993-2955-FF845DA97542}"/>
              </a:ext>
            </a:extLst>
          </p:cNvPr>
          <p:cNvSpPr/>
          <p:nvPr/>
        </p:nvSpPr>
        <p:spPr>
          <a:xfrm>
            <a:off x="729687" y="1940843"/>
            <a:ext cx="4965057" cy="1067045"/>
          </a:xfrm>
          <a:prstGeom prst="rect">
            <a:avLst/>
          </a:prstGeom>
          <a:solidFill>
            <a:srgbClr val="2E4A6E"/>
          </a:solidFill>
          <a:ln w="12700">
            <a:solidFill>
              <a:srgbClr val="2E4A6E"/>
            </a:solidFill>
            <a:prstDash val="solid"/>
          </a:ln>
        </p:spPr>
        <p:txBody>
          <a:bodyPr/>
          <a:lstStyle/>
          <a:p>
            <a:endParaRPr lang="en-GB" sz="120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0EEFFAB1-D05D-BC32-7B88-858809D42890}"/>
              </a:ext>
            </a:extLst>
          </p:cNvPr>
          <p:cNvSpPr/>
          <p:nvPr/>
        </p:nvSpPr>
        <p:spPr>
          <a:xfrm>
            <a:off x="839416" y="1556796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one_cmt_iv &lt;- function() {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29B171AD-138F-25C4-B2FD-9E9C9F206703}"/>
              </a:ext>
            </a:extLst>
          </p:cNvPr>
          <p:cNvSpPr/>
          <p:nvPr/>
        </p:nvSpPr>
        <p:spPr>
          <a:xfrm>
            <a:off x="839416" y="1765279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ini({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D4B65D45-4CDB-3EED-8553-E20273900FC0}"/>
              </a:ext>
            </a:extLst>
          </p:cNvPr>
          <p:cNvSpPr/>
          <p:nvPr/>
        </p:nvSpPr>
        <p:spPr>
          <a:xfrm>
            <a:off x="839416" y="1973762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00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tcl  &lt;- log(1.1)  # clearance</a:t>
            </a:r>
            <a:endParaRPr lang="en-US" sz="12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D5DE90ED-A52C-FCA5-D88A-53FFE04380DC}"/>
              </a:ext>
            </a:extLst>
          </p:cNvPr>
          <p:cNvSpPr/>
          <p:nvPr/>
        </p:nvSpPr>
        <p:spPr>
          <a:xfrm>
            <a:off x="839416" y="2182246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00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tv   &lt;- log(1.1)  # volume</a:t>
            </a:r>
            <a:endParaRPr lang="en-US" sz="12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D2A42C7E-A83D-B6BD-02DF-C11F24599737}"/>
              </a:ext>
            </a:extLst>
          </p:cNvPr>
          <p:cNvSpPr/>
          <p:nvPr/>
        </p:nvSpPr>
        <p:spPr>
          <a:xfrm>
            <a:off x="839416" y="2390729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00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eta.cl ~ 0.1  # IIV on clearance</a:t>
            </a:r>
            <a:endParaRPr lang="en-US" sz="12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Text 9">
            <a:extLst>
              <a:ext uri="{FF2B5EF4-FFF2-40B4-BE49-F238E27FC236}">
                <a16:creationId xmlns:a16="http://schemas.microsoft.com/office/drawing/2014/main" id="{4871FFB6-704D-D23C-0805-15B55CD51F7F}"/>
              </a:ext>
            </a:extLst>
          </p:cNvPr>
          <p:cNvSpPr/>
          <p:nvPr/>
        </p:nvSpPr>
        <p:spPr>
          <a:xfrm>
            <a:off x="839416" y="2599212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00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eta.v  ~ 0.1  # IIV on volume</a:t>
            </a:r>
            <a:endParaRPr lang="en-US" sz="12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16671BB7-6EDE-08A4-C09C-0DB27346C6A5}"/>
              </a:ext>
            </a:extLst>
          </p:cNvPr>
          <p:cNvSpPr/>
          <p:nvPr/>
        </p:nvSpPr>
        <p:spPr>
          <a:xfrm>
            <a:off x="839416" y="280769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00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prop.err &lt;- 0.1  # residual error</a:t>
            </a:r>
            <a:endParaRPr lang="en-US" sz="12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Text 11">
            <a:extLst>
              <a:ext uri="{FF2B5EF4-FFF2-40B4-BE49-F238E27FC236}">
                <a16:creationId xmlns:a16="http://schemas.microsoft.com/office/drawing/2014/main" id="{D4AD97DD-4970-277F-2672-8FCE86BC678D}"/>
              </a:ext>
            </a:extLst>
          </p:cNvPr>
          <p:cNvSpPr/>
          <p:nvPr/>
        </p:nvSpPr>
        <p:spPr>
          <a:xfrm>
            <a:off x="839416" y="301617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93600465-DAF7-6A95-44C4-864C258FF21B}"/>
              </a:ext>
            </a:extLst>
          </p:cNvPr>
          <p:cNvSpPr/>
          <p:nvPr/>
        </p:nvSpPr>
        <p:spPr>
          <a:xfrm>
            <a:off x="839416" y="3224662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model({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90" name="Text 13">
            <a:extLst>
              <a:ext uri="{FF2B5EF4-FFF2-40B4-BE49-F238E27FC236}">
                <a16:creationId xmlns:a16="http://schemas.microsoft.com/office/drawing/2014/main" id="{2DA74ECF-D191-BCBF-726D-DA876630CB5E}"/>
              </a:ext>
            </a:extLst>
          </p:cNvPr>
          <p:cNvSpPr/>
          <p:nvPr/>
        </p:nvSpPr>
        <p:spPr>
          <a:xfrm>
            <a:off x="839416" y="343314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cl  &lt;- exp(tcl + eta.cl)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91" name="Text 14">
            <a:extLst>
              <a:ext uri="{FF2B5EF4-FFF2-40B4-BE49-F238E27FC236}">
                <a16:creationId xmlns:a16="http://schemas.microsoft.com/office/drawing/2014/main" id="{81B53679-FB48-6FD8-407C-0F6078F139A7}"/>
              </a:ext>
            </a:extLst>
          </p:cNvPr>
          <p:cNvSpPr/>
          <p:nvPr/>
        </p:nvSpPr>
        <p:spPr>
          <a:xfrm>
            <a:off x="839416" y="36416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v   &lt;- exp(tv  + eta.v)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A99D8321-9064-C496-AC91-D6C6F50B81AB}"/>
              </a:ext>
            </a:extLst>
          </p:cNvPr>
          <p:cNvSpPr/>
          <p:nvPr/>
        </p:nvSpPr>
        <p:spPr>
          <a:xfrm>
            <a:off x="839416" y="385011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ke  &lt;- cl / v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93" name="Text 16">
            <a:extLst>
              <a:ext uri="{FF2B5EF4-FFF2-40B4-BE49-F238E27FC236}">
                <a16:creationId xmlns:a16="http://schemas.microsoft.com/office/drawing/2014/main" id="{2F72415E-9D06-2F3B-1F04-1729ECE43DCF}"/>
              </a:ext>
            </a:extLst>
          </p:cNvPr>
          <p:cNvSpPr/>
          <p:nvPr/>
        </p:nvSpPr>
        <p:spPr>
          <a:xfrm>
            <a:off x="839416" y="4058594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d/dt(A1) = -ke * A1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FC94C4D7-E5C1-323F-D963-3B217A39F479}"/>
              </a:ext>
            </a:extLst>
          </p:cNvPr>
          <p:cNvSpPr/>
          <p:nvPr/>
        </p:nvSpPr>
        <p:spPr>
          <a:xfrm>
            <a:off x="839416" y="426707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cp  = A1 / v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4425DCF1-9ABC-031F-B8B7-02ECD254EFA0}"/>
              </a:ext>
            </a:extLst>
          </p:cNvPr>
          <p:cNvSpPr/>
          <p:nvPr/>
        </p:nvSpPr>
        <p:spPr>
          <a:xfrm>
            <a:off x="839416" y="447556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  cp ~ prop(prop.err)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96" name="Text 19">
            <a:extLst>
              <a:ext uri="{FF2B5EF4-FFF2-40B4-BE49-F238E27FC236}">
                <a16:creationId xmlns:a16="http://schemas.microsoft.com/office/drawing/2014/main" id="{E8C96050-8378-774D-8595-61389FB4CC80}"/>
              </a:ext>
            </a:extLst>
          </p:cNvPr>
          <p:cNvSpPr/>
          <p:nvPr/>
        </p:nvSpPr>
        <p:spPr>
          <a:xfrm>
            <a:off x="839416" y="4684044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97" name="Text 20">
            <a:extLst>
              <a:ext uri="{FF2B5EF4-FFF2-40B4-BE49-F238E27FC236}">
                <a16:creationId xmlns:a16="http://schemas.microsoft.com/office/drawing/2014/main" id="{07F3514A-BBC4-F7D0-ED53-1773A807BB6D}"/>
              </a:ext>
            </a:extLst>
          </p:cNvPr>
          <p:cNvSpPr/>
          <p:nvPr/>
        </p:nvSpPr>
        <p:spPr>
          <a:xfrm>
            <a:off x="839416" y="4892527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99" name="Text 22">
            <a:extLst>
              <a:ext uri="{FF2B5EF4-FFF2-40B4-BE49-F238E27FC236}">
                <a16:creationId xmlns:a16="http://schemas.microsoft.com/office/drawing/2014/main" id="{E628C29F-D49A-C9CE-E46F-47DF033D6253}"/>
              </a:ext>
            </a:extLst>
          </p:cNvPr>
          <p:cNvSpPr/>
          <p:nvPr/>
        </p:nvSpPr>
        <p:spPr>
          <a:xfrm>
            <a:off x="857102" y="5205237"/>
            <a:ext cx="5094881" cy="30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fit &lt;- </a:t>
            </a:r>
            <a:r>
              <a:rPr lang="en-US" sz="12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nlmixr</a:t>
            </a: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pheno</a:t>
            </a: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, </a:t>
            </a:r>
            <a:r>
              <a:rPr lang="en-US" sz="12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pheno_sd</a:t>
            </a: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, "</a:t>
            </a:r>
            <a:r>
              <a:rPr lang="en-US" sz="12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saem</a:t>
            </a: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", control = </a:t>
            </a:r>
            <a:r>
              <a:rPr lang="en-US" sz="12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saemControl</a:t>
            </a:r>
            <a:r>
              <a:rPr lang="en-US" sz="12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(seed=1234))</a:t>
            </a:r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B1AC51BC-BCB3-EFB0-445E-C839219267B8}"/>
              </a:ext>
            </a:extLst>
          </p:cNvPr>
          <p:cNvSpPr/>
          <p:nvPr/>
        </p:nvSpPr>
        <p:spPr>
          <a:xfrm>
            <a:off x="6744072" y="148433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/>
                <a:ea typeface="Calibri" pitchFamily="34" charset="-122"/>
                <a:cs typeface="Calibri" pitchFamily="34" charset="-120"/>
              </a:rPr>
              <a:t>⚠  Estimation Results</a:t>
            </a:r>
            <a:endParaRPr lang="en-US" sz="1600" dirty="0">
              <a:solidFill>
                <a:schemeClr val="tx2"/>
              </a:solidFill>
              <a:latin typeface="+mj-lt"/>
            </a:endParaRPr>
          </a:p>
        </p:txBody>
      </p:sp>
      <p:graphicFrame>
        <p:nvGraphicFramePr>
          <p:cNvPr id="102" name="Table 0">
            <a:extLst>
              <a:ext uri="{FF2B5EF4-FFF2-40B4-BE49-F238E27FC236}">
                <a16:creationId xmlns:a16="http://schemas.microsoft.com/office/drawing/2014/main" id="{659BBDF0-5729-34A8-2035-0A2D16F55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198647"/>
              </p:ext>
            </p:extLst>
          </p:nvPr>
        </p:nvGraphicFramePr>
        <p:xfrm>
          <a:off x="6744072" y="1968968"/>
          <a:ext cx="3703200" cy="2549264"/>
        </p:xfrm>
        <a:graphic>
          <a:graphicData uri="http://schemas.openxmlformats.org/drawingml/2006/table">
            <a:tbl>
              <a:tblPr/>
              <a:tblGrid>
                <a:gridCol w="1463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4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/>
                        </a:rPr>
                        <a:t>Parameter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/>
                        </a:rPr>
                        <a:t>Estimates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latin typeface="+mj-lt"/>
                          <a:ea typeface="+mn-ea"/>
                          <a:cs typeface="+mn-cs"/>
                        </a:rPr>
                        <a:t>%RSE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tcl</a:t>
                      </a:r>
                      <a:endParaRPr lang="en-US" sz="12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</a:rPr>
                        <a:t>0.000479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6.49e+06</a:t>
                      </a:r>
                      <a:endParaRPr lang="en-US" sz="12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tv</a:t>
                      </a:r>
                      <a:endParaRPr lang="en-US" sz="12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</a:rPr>
                        <a:t>17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5.33e+06 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+mj-lt"/>
                          <a:ea typeface="Courier New" charset="0"/>
                          <a:cs typeface="Courier New" charset="0"/>
                        </a:rPr>
                        <a:t>eta.cl </a:t>
                      </a:r>
                      <a:r>
                        <a:rPr lang="en-GB" sz="1200" dirty="0">
                          <a:latin typeface="+mj-lt"/>
                          <a:ea typeface="Courier New" charset="0"/>
                          <a:cs typeface="Courier New" charset="0"/>
                        </a:rPr>
                        <a:t>(CV%)</a:t>
                      </a:r>
                      <a:endParaRPr lang="en-US" sz="12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1150%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6C757D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None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493423"/>
                  </a:ext>
                </a:extLst>
              </a:tr>
              <a:tr h="442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Courier New" charset="0"/>
                          <a:cs typeface="Courier New" charset="0"/>
                        </a:rPr>
                        <a:t>eta.v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ourier New" charset="0"/>
                          <a:cs typeface="Courier New" charset="0"/>
                        </a:rPr>
                        <a:t>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Courier New" charset="0"/>
                          <a:cs typeface="Courier New" charset="0"/>
                        </a:rPr>
                        <a:t>(CV%)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1.28e+37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6C757D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None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916054"/>
                  </a:ext>
                </a:extLst>
              </a:tr>
              <a:tr h="4244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prop.err</a:t>
                      </a:r>
                      <a:endParaRPr lang="en-US" sz="12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</a:rPr>
                        <a:t>1.87e+06 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  <a:latin typeface="+mj-lt"/>
                        </a:rPr>
                        <a:t>—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" name="TextBox 119">
            <a:extLst>
              <a:ext uri="{FF2B5EF4-FFF2-40B4-BE49-F238E27FC236}">
                <a16:creationId xmlns:a16="http://schemas.microsoft.com/office/drawing/2014/main" id="{994B34AB-DD02-48DF-DB92-82BF9C5BF481}"/>
              </a:ext>
            </a:extLst>
          </p:cNvPr>
          <p:cNvSpPr txBox="1"/>
          <p:nvPr/>
        </p:nvSpPr>
        <p:spPr>
          <a:xfrm>
            <a:off x="6744072" y="4640441"/>
            <a:ext cx="58756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C00000"/>
                </a:solidFill>
                <a:latin typeface="+mj-lt"/>
                <a:ea typeface="Calibri" pitchFamily="34" charset="-122"/>
                <a:cs typeface="Calibri" pitchFamily="34" charset="-120"/>
              </a:rPr>
              <a:t>Estimation failed</a:t>
            </a:r>
          </a:p>
        </p:txBody>
      </p:sp>
      <p:sp>
        <p:nvSpPr>
          <p:cNvPr id="121" name="Slide Number Placeholder 4">
            <a:extLst>
              <a:ext uri="{FF2B5EF4-FFF2-40B4-BE49-F238E27FC236}">
                <a16:creationId xmlns:a16="http://schemas.microsoft.com/office/drawing/2014/main" id="{E1403746-EDFE-BA4C-33C6-4756D53F4F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3392" y="6564883"/>
            <a:ext cx="1056117" cy="230400"/>
          </a:xfrm>
        </p:spPr>
        <p:txBody>
          <a:bodyPr/>
          <a:lstStyle/>
          <a:p>
            <a:fld id="{133EA325-E17C-4431-8C79-1AEA4A396602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08FA16CC-8360-2363-94F9-11362477927F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496053C0-B07D-B3E7-6E75-54AFD716AD9A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  <a:endParaRPr lang="en-US" sz="85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9CFEC79A-404F-0DF1-ABC6-6B8AEA4E50C8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172DCCCA-07F0-FB7A-CBCD-C5D14A24A2D1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4AC7C990-B0B5-A20C-8ABF-FE0903142EE1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DA902308-CAA0-B7CE-CBE7-A2EE25B5EBA8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2512231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B922D-09E4-678E-845B-759D47FF2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>
            <a:extLst>
              <a:ext uri="{FF2B5EF4-FFF2-40B4-BE49-F238E27FC236}">
                <a16:creationId xmlns:a16="http://schemas.microsoft.com/office/drawing/2014/main" id="{1916D61B-478A-A5F2-7273-B08CD6AA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3386"/>
            <a:ext cx="10945216" cy="985909"/>
          </a:xfrm>
        </p:spPr>
        <p:txBody>
          <a:bodyPr/>
          <a:lstStyle/>
          <a:p>
            <a:r>
              <a:rPr lang="en-GB" dirty="0"/>
              <a:t>This is where nlmixr2autoinit comes in</a:t>
            </a:r>
          </a:p>
        </p:txBody>
      </p:sp>
      <p:sp>
        <p:nvSpPr>
          <p:cNvPr id="67" name="Text 39">
            <a:extLst>
              <a:ext uri="{FF2B5EF4-FFF2-40B4-BE49-F238E27FC236}">
                <a16:creationId xmlns:a16="http://schemas.microsoft.com/office/drawing/2014/main" id="{5A8505B8-E9F8-B356-528A-0D2189D0F73E}"/>
              </a:ext>
            </a:extLst>
          </p:cNvPr>
          <p:cNvSpPr/>
          <p:nvPr/>
        </p:nvSpPr>
        <p:spPr>
          <a:xfrm>
            <a:off x="747712" y="1136371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From data to initial estimates in one line</a:t>
            </a:r>
          </a:p>
        </p:txBody>
      </p:sp>
      <p:sp>
        <p:nvSpPr>
          <p:cNvPr id="76" name="Shape 2">
            <a:extLst>
              <a:ext uri="{FF2B5EF4-FFF2-40B4-BE49-F238E27FC236}">
                <a16:creationId xmlns:a16="http://schemas.microsoft.com/office/drawing/2014/main" id="{F8154CAC-E92B-1B42-BD70-1F45A69D48CC}"/>
              </a:ext>
            </a:extLst>
          </p:cNvPr>
          <p:cNvSpPr/>
          <p:nvPr/>
        </p:nvSpPr>
        <p:spPr>
          <a:xfrm>
            <a:off x="747712" y="1594289"/>
            <a:ext cx="6449367" cy="351627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/>
            </a:solidFill>
            <a:prstDash val="solid"/>
          </a:ln>
        </p:spPr>
        <p:txBody>
          <a:bodyPr/>
          <a:lstStyle/>
          <a:p>
            <a:endParaRPr lang="en-GB" sz="1050">
              <a:latin typeface="Consolas" panose="020B0609020204030204" pitchFamily="49" charset="0"/>
            </a:endParaRPr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38AAFB2D-443F-1149-AEC4-0112712EC739}"/>
              </a:ext>
            </a:extLst>
          </p:cNvPr>
          <p:cNvSpPr/>
          <p:nvPr/>
        </p:nvSpPr>
        <p:spPr>
          <a:xfrm>
            <a:off x="930592" y="149900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outs &lt;- getPPKinits(dat = </a:t>
            </a:r>
            <a:r>
              <a:rPr lang="en-US" altLang="zh-CN" sz="1400" b="1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pheno_sd</a:t>
            </a: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81" name="Table 0">
            <a:extLst>
              <a:ext uri="{FF2B5EF4-FFF2-40B4-BE49-F238E27FC236}">
                <a16:creationId xmlns:a16="http://schemas.microsoft.com/office/drawing/2014/main" id="{AC2E24CF-0D55-EED9-5842-21CCE2A4C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874465"/>
              </p:ext>
            </p:extLst>
          </p:nvPr>
        </p:nvGraphicFramePr>
        <p:xfrm>
          <a:off x="747712" y="2247510"/>
          <a:ext cx="5349240" cy="393954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Ka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CL</a:t>
                      </a:r>
                      <a:endParaRPr lang="en-US" sz="105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Adaptive single-point</a:t>
                      </a:r>
                      <a:endParaRPr lang="en-US" sz="105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0.0087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Vd</a:t>
                      </a:r>
                      <a:endParaRPr lang="en-US" sz="105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Adaptive single-point</a:t>
                      </a:r>
                      <a:endParaRPr lang="en-US" sz="105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1.2500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Vmax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1.0572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Km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120.0145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Vc (2CMT)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1.2500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Vp (2CMT)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0.1250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Q (2CMT)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0.0174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Vc (3CMT)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1.2500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Vp (3CMT)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0.1250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Vp2 (3CMT)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0.1250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Q (3CMT)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0.0174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Q2 (3CMT)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0.0174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Sigma additive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Fallback (fixed fraction)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5.0434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Sigma proportional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Fallback (fixed fraction)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0.2000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0" name="Shape 2">
            <a:extLst>
              <a:ext uri="{FF2B5EF4-FFF2-40B4-BE49-F238E27FC236}">
                <a16:creationId xmlns:a16="http://schemas.microsoft.com/office/drawing/2014/main" id="{24629F9C-3803-34F5-67DF-C2792D271A5C}"/>
              </a:ext>
            </a:extLst>
          </p:cNvPr>
          <p:cNvSpPr/>
          <p:nvPr/>
        </p:nvSpPr>
        <p:spPr>
          <a:xfrm>
            <a:off x="7968208" y="2276872"/>
            <a:ext cx="2729448" cy="3863867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/>
            </a:solidFill>
            <a:prstDash val="solid"/>
          </a:ln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A67BB36C-129F-EC13-B535-274568A6DBA5}"/>
              </a:ext>
            </a:extLst>
          </p:cNvPr>
          <p:cNvSpPr/>
          <p:nvPr/>
        </p:nvSpPr>
        <p:spPr>
          <a:xfrm>
            <a:off x="8105368" y="2380403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pheno2 &lt;- function() {</a:t>
            </a:r>
            <a:endParaRPr lang="en-US" sz="1050" dirty="0">
              <a:latin typeface="+mj-lt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8E6276E2-8F17-0BD9-046C-D4706F3DDD2F}"/>
              </a:ext>
            </a:extLst>
          </p:cNvPr>
          <p:cNvSpPr/>
          <p:nvPr/>
        </p:nvSpPr>
        <p:spPr>
          <a:xfrm>
            <a:off x="8105368" y="2592544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ini({</a:t>
            </a:r>
            <a:endParaRPr lang="en-US" sz="1050" dirty="0">
              <a:latin typeface="+mj-lt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5B8F5630-DC5F-41DE-BEE6-BE2B5073150B}"/>
              </a:ext>
            </a:extLst>
          </p:cNvPr>
          <p:cNvSpPr/>
          <p:nvPr/>
        </p:nvSpPr>
        <p:spPr>
          <a:xfrm>
            <a:off x="8105368" y="2804685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00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tcl &lt;- log(0.0087)  # CL</a:t>
            </a:r>
            <a:endParaRPr lang="en-US" sz="105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F1471652-BADE-5975-EAE7-58259C394989}"/>
              </a:ext>
            </a:extLst>
          </p:cNvPr>
          <p:cNvSpPr/>
          <p:nvPr/>
        </p:nvSpPr>
        <p:spPr>
          <a:xfrm>
            <a:off x="8105368" y="3016825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00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tv  &lt;- log(1.25)    # Vd</a:t>
            </a:r>
            <a:endParaRPr lang="en-US" sz="105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E1D6040-A5F1-1E4E-D2C5-7A5D935830BA}"/>
              </a:ext>
            </a:extLst>
          </p:cNvPr>
          <p:cNvSpPr/>
          <p:nvPr/>
        </p:nvSpPr>
        <p:spPr>
          <a:xfrm>
            <a:off x="8105368" y="3228966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00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eta.cl ~ 0.1</a:t>
            </a:r>
            <a:endParaRPr lang="en-US" sz="105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8111234D-9505-ADF1-C9CC-BE337EBE9168}"/>
              </a:ext>
            </a:extLst>
          </p:cNvPr>
          <p:cNvSpPr/>
          <p:nvPr/>
        </p:nvSpPr>
        <p:spPr>
          <a:xfrm>
            <a:off x="8105368" y="3441107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00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eta.v  ~ 0.1</a:t>
            </a:r>
            <a:endParaRPr lang="en-US" sz="105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9178AF7-F8E1-46AD-2AA6-6CCFB31CDA05}"/>
              </a:ext>
            </a:extLst>
          </p:cNvPr>
          <p:cNvSpPr/>
          <p:nvPr/>
        </p:nvSpPr>
        <p:spPr>
          <a:xfrm>
            <a:off x="8105368" y="3653248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00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prop.err &lt;- 0.2</a:t>
            </a:r>
            <a:endParaRPr lang="en-US" sz="105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DFCACC73-416E-F96C-F541-A8B1254F9E5C}"/>
              </a:ext>
            </a:extLst>
          </p:cNvPr>
          <p:cNvSpPr/>
          <p:nvPr/>
        </p:nvSpPr>
        <p:spPr>
          <a:xfrm>
            <a:off x="8105368" y="3865389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00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chemeClr val="bg1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})</a:t>
            </a:r>
            <a:endParaRPr lang="en-US" sz="10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586B497D-CCFA-5394-E40B-47ED4AB347A0}"/>
              </a:ext>
            </a:extLst>
          </p:cNvPr>
          <p:cNvSpPr/>
          <p:nvPr/>
        </p:nvSpPr>
        <p:spPr>
          <a:xfrm>
            <a:off x="8105368" y="4077529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model({</a:t>
            </a:r>
            <a:endParaRPr lang="en-US" sz="1050" dirty="0">
              <a:latin typeface="+mj-l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4302C3EF-84F2-FAC3-38C1-71BD32F4975C}"/>
              </a:ext>
            </a:extLst>
          </p:cNvPr>
          <p:cNvSpPr/>
          <p:nvPr/>
        </p:nvSpPr>
        <p:spPr>
          <a:xfrm>
            <a:off x="8105368" y="4289670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cl &lt;- exp(tcl + eta.cl)</a:t>
            </a:r>
            <a:endParaRPr lang="en-US" sz="1050" dirty="0">
              <a:latin typeface="+mj-lt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FC193EA2-C503-52DC-ECA5-7EA6B050C6C3}"/>
              </a:ext>
            </a:extLst>
          </p:cNvPr>
          <p:cNvSpPr/>
          <p:nvPr/>
        </p:nvSpPr>
        <p:spPr>
          <a:xfrm>
            <a:off x="8105368" y="4501811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v  &lt;- exp(tv  + eta.v)</a:t>
            </a:r>
            <a:endParaRPr lang="en-US" sz="1050" dirty="0">
              <a:latin typeface="+mj-lt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33E0A379-F84F-CBBA-BD21-4E150EAF7905}"/>
              </a:ext>
            </a:extLst>
          </p:cNvPr>
          <p:cNvSpPr/>
          <p:nvPr/>
        </p:nvSpPr>
        <p:spPr>
          <a:xfrm>
            <a:off x="8105368" y="4713952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ke &lt;- cl / v</a:t>
            </a:r>
            <a:endParaRPr lang="en-US" sz="1050" dirty="0">
              <a:latin typeface="+mj-lt"/>
            </a:endParaRPr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F974E4AF-CA20-E2A2-28D4-7B6993B11C18}"/>
              </a:ext>
            </a:extLst>
          </p:cNvPr>
          <p:cNvSpPr/>
          <p:nvPr/>
        </p:nvSpPr>
        <p:spPr>
          <a:xfrm>
            <a:off x="8105368" y="4926093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d/dt(A1) = -ke * A1</a:t>
            </a:r>
            <a:endParaRPr lang="en-US" sz="1050" dirty="0">
              <a:latin typeface="+mj-lt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D7C00503-6A8F-3DAB-7504-940370D12529}"/>
              </a:ext>
            </a:extLst>
          </p:cNvPr>
          <p:cNvSpPr/>
          <p:nvPr/>
        </p:nvSpPr>
        <p:spPr>
          <a:xfrm>
            <a:off x="8105368" y="5138233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cp = A1 / v</a:t>
            </a:r>
            <a:endParaRPr lang="en-US" sz="1050" dirty="0">
              <a:latin typeface="+mj-lt"/>
            </a:endParaRPr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DA806CE7-D7C4-FEFA-5DA3-468B0D4450FF}"/>
              </a:ext>
            </a:extLst>
          </p:cNvPr>
          <p:cNvSpPr/>
          <p:nvPr/>
        </p:nvSpPr>
        <p:spPr>
          <a:xfrm>
            <a:off x="8105368" y="5350374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  cp ~ prop(prop.err)</a:t>
            </a:r>
            <a:endParaRPr lang="en-US" sz="1050" dirty="0">
              <a:latin typeface="+mj-lt"/>
            </a:endParaRPr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4C41ADE4-6578-55F4-049B-8B540265CECD}"/>
              </a:ext>
            </a:extLst>
          </p:cNvPr>
          <p:cNvSpPr/>
          <p:nvPr/>
        </p:nvSpPr>
        <p:spPr>
          <a:xfrm>
            <a:off x="8105368" y="5562515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  })</a:t>
            </a:r>
            <a:endParaRPr lang="en-US" sz="1050" dirty="0">
              <a:latin typeface="+mj-lt"/>
            </a:endParaRPr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3993A853-DBCB-31EB-0973-F70ADE6383B2}"/>
              </a:ext>
            </a:extLst>
          </p:cNvPr>
          <p:cNvSpPr/>
          <p:nvPr/>
        </p:nvSpPr>
        <p:spPr>
          <a:xfrm>
            <a:off x="8105368" y="5774656"/>
            <a:ext cx="2967248" cy="23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>
              <a:latin typeface="+mj-lt"/>
            </a:endParaRPr>
          </a:p>
        </p:txBody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D91EEC4E-2A14-D5E0-CCDB-F4C6886FC6E8}"/>
              </a:ext>
            </a:extLst>
          </p:cNvPr>
          <p:cNvSpPr/>
          <p:nvPr/>
        </p:nvSpPr>
        <p:spPr>
          <a:xfrm>
            <a:off x="6822936" y="6015940"/>
            <a:ext cx="530352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GB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C2F52B2C-0E36-B10E-D171-56B0B95955FA}"/>
              </a:ext>
            </a:extLst>
          </p:cNvPr>
          <p:cNvSpPr/>
          <p:nvPr/>
        </p:nvSpPr>
        <p:spPr>
          <a:xfrm>
            <a:off x="6634047" y="3670477"/>
            <a:ext cx="713224" cy="259007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D9648E14-F8E3-B3EF-3A7F-B83144D3DE2B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C09D4555-4980-343D-78F4-822359D0FD24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  <a:endParaRPr lang="en-US" sz="85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8509721E-E3B1-11A2-F9F1-73094CBAC047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2E2B9AC8-DC74-D41E-E7A8-D5ABE0D64F29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C8E9683A-768A-C162-A094-29DA4501B677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A1CC3CA0-2F0E-412F-BE23-F93D5946F041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61176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86303-2090-48F9-1120-F37031CB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1CBA6-56EE-A12C-1916-FBAA76DD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is where nlmixr2autoinit comes 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6199B-26BC-1CDC-1D82-A3C45F91AD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D53EA27-E13F-DDC5-F30C-29F2F7CE1A69}"/>
              </a:ext>
            </a:extLst>
          </p:cNvPr>
          <p:cNvSpPr/>
          <p:nvPr/>
        </p:nvSpPr>
        <p:spPr>
          <a:xfrm>
            <a:off x="1075952" y="6491227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  <a:endParaRPr lang="en-US" sz="85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8F774FE-8420-6618-6F47-9C99F09E9592}"/>
              </a:ext>
            </a:extLst>
          </p:cNvPr>
          <p:cNvSpPr/>
          <p:nvPr/>
        </p:nvSpPr>
        <p:spPr>
          <a:xfrm>
            <a:off x="1145299" y="160243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+mj-lt"/>
                <a:ea typeface="Calibri" pitchFamily="34" charset="-122"/>
                <a:cs typeface="Calibri" pitchFamily="34" charset="-120"/>
              </a:rPr>
              <a:t>⚠  Initial values = 1.1</a:t>
            </a:r>
            <a:endParaRPr lang="en-US" sz="1600" dirty="0">
              <a:latin typeface="+mj-lt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12984D0-800A-1B47-43AC-EFA4C9EB4A33}"/>
              </a:ext>
            </a:extLst>
          </p:cNvPr>
          <p:cNvSpPr/>
          <p:nvPr/>
        </p:nvSpPr>
        <p:spPr>
          <a:xfrm>
            <a:off x="6524715" y="1660623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+mj-lt"/>
                <a:ea typeface="Calibri" pitchFamily="34" charset="-122"/>
                <a:cs typeface="Calibri" pitchFamily="34" charset="-120"/>
              </a:rPr>
              <a:t>✓  nlmixr2autoinit values</a:t>
            </a:r>
            <a:endParaRPr lang="en-US" sz="1600" dirty="0">
              <a:latin typeface="+mj-lt"/>
            </a:endParaRPr>
          </a:p>
        </p:txBody>
      </p:sp>
      <p:graphicFrame>
        <p:nvGraphicFramePr>
          <p:cNvPr id="35" name="Table 1">
            <a:extLst>
              <a:ext uri="{FF2B5EF4-FFF2-40B4-BE49-F238E27FC236}">
                <a16:creationId xmlns:a16="http://schemas.microsoft.com/office/drawing/2014/main" id="{7FE3C684-1737-D4BE-8FA7-A24B38C23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035076"/>
              </p:ext>
            </p:extLst>
          </p:nvPr>
        </p:nvGraphicFramePr>
        <p:xfrm>
          <a:off x="6524714" y="2051912"/>
          <a:ext cx="3963772" cy="2671185"/>
        </p:xfrm>
        <a:graphic>
          <a:graphicData uri="http://schemas.openxmlformats.org/drawingml/2006/table">
            <a:tbl>
              <a:tblPr/>
              <a:tblGrid>
                <a:gridCol w="141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/>
                        </a:rPr>
                        <a:t>Parameter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/>
                        </a:rPr>
                        <a:t>Estimates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latin typeface="+mj-lt"/>
                          <a:ea typeface="+mn-ea"/>
                          <a:cs typeface="+mn-cs"/>
                        </a:rPr>
                        <a:t>%RSE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tcl</a:t>
                      </a:r>
                      <a:endParaRPr lang="en-US" sz="1200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0.00559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1.52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8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tv</a:t>
                      </a:r>
                      <a:endParaRPr lang="en-US" sz="1200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17.1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+mj-lt"/>
                          <a:ea typeface="Courier New" charset="0"/>
                          <a:cs typeface="Courier New" charset="0"/>
                        </a:rPr>
                        <a:t>eta.cl </a:t>
                      </a:r>
                      <a:r>
                        <a:rPr lang="en-GB" sz="1200" dirty="0">
                          <a:latin typeface="+mj-lt"/>
                          <a:ea typeface="Courier New" charset="0"/>
                          <a:cs typeface="Courier New" charset="0"/>
                        </a:rPr>
                        <a:t>(CV%)</a:t>
                      </a:r>
                      <a:endParaRPr lang="en-US" sz="12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41.1%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6C757D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Courier New" charset="0"/>
                          <a:cs typeface="Courier New" charset="0"/>
                        </a:rPr>
                        <a:t>eta.v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ourier New" charset="0"/>
                          <a:cs typeface="Courier New" charset="0"/>
                        </a:rPr>
                        <a:t>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Courier New" charset="0"/>
                          <a:cs typeface="Courier New" charset="0"/>
                        </a:rPr>
                        <a:t>(CV%)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46.6%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6C757D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012147"/>
                  </a:ext>
                </a:extLst>
              </a:tr>
              <a:tr h="3999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prop.err</a:t>
                      </a:r>
                      <a:endParaRPr lang="en-US" sz="1200" dirty="0">
                        <a:solidFill>
                          <a:schemeClr val="tx1"/>
                        </a:solidFill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0.124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983938"/>
                  </a:ext>
                </a:extLst>
              </a:tr>
            </a:tbl>
          </a:graphicData>
        </a:graphic>
      </p:graphicFrame>
      <p:sp>
        <p:nvSpPr>
          <p:cNvPr id="65" name="Arrow: Right 64">
            <a:extLst>
              <a:ext uri="{FF2B5EF4-FFF2-40B4-BE49-F238E27FC236}">
                <a16:creationId xmlns:a16="http://schemas.microsoft.com/office/drawing/2014/main" id="{5D158330-E8CE-801C-A867-86C9BFA239B9}"/>
              </a:ext>
            </a:extLst>
          </p:cNvPr>
          <p:cNvSpPr/>
          <p:nvPr/>
        </p:nvSpPr>
        <p:spPr>
          <a:xfrm>
            <a:off x="5307246" y="3053533"/>
            <a:ext cx="720080" cy="27432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latin typeface="+mj-lt"/>
            </a:endParaRPr>
          </a:p>
        </p:txBody>
      </p:sp>
      <p:graphicFrame>
        <p:nvGraphicFramePr>
          <p:cNvPr id="77" name="Table 0">
            <a:extLst>
              <a:ext uri="{FF2B5EF4-FFF2-40B4-BE49-F238E27FC236}">
                <a16:creationId xmlns:a16="http://schemas.microsoft.com/office/drawing/2014/main" id="{B54D1A21-BCA7-C124-0BDB-D0D7A7699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955136"/>
              </p:ext>
            </p:extLst>
          </p:nvPr>
        </p:nvGraphicFramePr>
        <p:xfrm>
          <a:off x="1075952" y="2051912"/>
          <a:ext cx="3703200" cy="2549264"/>
        </p:xfrm>
        <a:graphic>
          <a:graphicData uri="http://schemas.openxmlformats.org/drawingml/2006/table">
            <a:tbl>
              <a:tblPr/>
              <a:tblGrid>
                <a:gridCol w="1463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4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/>
                        </a:rPr>
                        <a:t>Parameter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/>
                        </a:rPr>
                        <a:t>Estimates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latin typeface="+mj-lt"/>
                          <a:ea typeface="+mn-ea"/>
                          <a:cs typeface="+mn-cs"/>
                        </a:rPr>
                        <a:t>%RSE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tcl</a:t>
                      </a:r>
                      <a:endParaRPr lang="en-US" sz="12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</a:rPr>
                        <a:t>0.000479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6.49e+06</a:t>
                      </a:r>
                      <a:endParaRPr lang="en-US" sz="12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tv</a:t>
                      </a:r>
                      <a:endParaRPr lang="en-US" sz="12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</a:rPr>
                        <a:t>17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C00000"/>
                          </a:solidFill>
                          <a:latin typeface="+mj-lt"/>
                          <a:ea typeface="+mn-ea"/>
                          <a:cs typeface="+mn-cs"/>
                        </a:rPr>
                        <a:t>5.33e+06 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+mj-lt"/>
                          <a:ea typeface="Courier New" charset="0"/>
                          <a:cs typeface="Courier New" charset="0"/>
                        </a:rPr>
                        <a:t>eta.cl </a:t>
                      </a:r>
                      <a:r>
                        <a:rPr lang="en-GB" sz="1200" dirty="0">
                          <a:latin typeface="+mj-lt"/>
                          <a:ea typeface="Courier New" charset="0"/>
                          <a:cs typeface="Courier New" charset="0"/>
                        </a:rPr>
                        <a:t>(CV%)</a:t>
                      </a:r>
                      <a:endParaRPr lang="en-US" sz="12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+mj-lt"/>
                        </a:rPr>
                        <a:t>1150%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6C757D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None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493423"/>
                  </a:ext>
                </a:extLst>
              </a:tr>
              <a:tr h="442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Courier New" charset="0"/>
                          <a:cs typeface="Courier New" charset="0"/>
                        </a:rPr>
                        <a:t>eta.v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ourier New" charset="0"/>
                          <a:cs typeface="Courier New" charset="0"/>
                        </a:rPr>
                        <a:t>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Courier New" charset="0"/>
                          <a:cs typeface="Courier New" charset="0"/>
                        </a:rPr>
                        <a:t>(CV%)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1.28e+37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6C757D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None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916054"/>
                  </a:ext>
                </a:extLst>
              </a:tr>
              <a:tr h="4244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prop.err</a:t>
                      </a:r>
                      <a:endParaRPr lang="en-US" sz="12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j-lt"/>
                        </a:rPr>
                        <a:t>1.87e+06 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  <a:latin typeface="+mj-lt"/>
                        </a:rPr>
                        <a:t>—</a:t>
                      </a:r>
                      <a:endParaRPr lang="en-US" sz="1200" dirty="0"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5">
            <a:extLst>
              <a:ext uri="{FF2B5EF4-FFF2-40B4-BE49-F238E27FC236}">
                <a16:creationId xmlns:a16="http://schemas.microsoft.com/office/drawing/2014/main" id="{A24C8B10-EF87-5CF5-4D6F-FE66CEAD782D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FE02D0D-676F-5658-8FFA-99CC720DB3B4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  <a:endParaRPr lang="en-US" sz="85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243107BC-00D0-938D-659A-6E428CEF2468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1AFBB5C-6A72-510E-5EA8-1A9D6738BFEF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F53C8465-9961-3DDB-6F15-5FEE67F32068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06C5B1BE-792D-020A-536C-9B00D1089DA6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337193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213C-CBC3-D871-883B-BF2788268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053C-94AD-91C8-35E1-65A944BD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Data-driven methods included in nlmixr2autoinit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1A0EF-C094-D446-4E05-912A8A4CE2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</a:t>
            </a:fld>
            <a:endParaRPr lang="en-GB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7B8B178E-5823-2211-5173-D60645639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49967"/>
              </p:ext>
            </p:extLst>
          </p:nvPr>
        </p:nvGraphicFramePr>
        <p:xfrm>
          <a:off x="600402" y="1178897"/>
          <a:ext cx="7104950" cy="4328402"/>
        </p:xfrm>
        <a:graphic>
          <a:graphicData uri="http://schemas.openxmlformats.org/drawingml/2006/table">
            <a:tbl>
              <a:tblPr/>
              <a:tblGrid>
                <a:gridCol w="1565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2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3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single-point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Calculates PK parameters from single concentration points per individual under first-dose or steady-state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CL, </a:t>
                      </a:r>
                      <a:r>
                        <a:rPr lang="en-US" sz="1200" b="1" kern="1200" dirty="0" err="1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V</a:t>
                      </a:r>
                      <a:r>
                        <a:rPr lang="en-US" sz="1200" b="1" kern="1200" baseline="-25000" dirty="0" err="1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d</a:t>
                      </a: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, K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pooled NCA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Performs NCA on pooled, dose-normalised concentration-time data from single-dose occasions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CL, V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d</a:t>
                      </a: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, K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2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Graphic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log-linear regression on pooled, dose-normalised first-dose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CL, V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d</a:t>
                      </a: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, K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1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Systematically simulates candidate parameter combinations using individual-level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max</a:t>
                      </a: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, K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m</a:t>
                      </a: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, V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c</a:t>
                      </a: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, V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p</a:t>
                      </a: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, V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p2</a:t>
                      </a: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, Q, Q</a:t>
                      </a:r>
                      <a:r>
                        <a:rPr lang="en-US" sz="1200" b="1" kern="1200" baseline="-25000" dirty="0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2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RUV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residual variability via log-linear regression of terminal-phase data per subject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 err="1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σ</a:t>
                      </a:r>
                      <a:r>
                        <a:rPr lang="en-US" sz="1200" b="1" kern="1200" baseline="-25000" dirty="0" err="1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add</a:t>
                      </a: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, </a:t>
                      </a:r>
                      <a:r>
                        <a:rPr lang="en-US" sz="1200" b="1" kern="1200" dirty="0" err="1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σ</a:t>
                      </a:r>
                      <a:r>
                        <a:rPr lang="en-US" sz="1200" b="1" kern="1200" baseline="-25000" dirty="0" err="1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prop</a:t>
                      </a:r>
                      <a:endParaRPr lang="en-US" sz="1200" b="1" kern="1200" baseline="-25000" dirty="0">
                        <a:solidFill>
                          <a:srgbClr val="C0392B"/>
                        </a:solidFill>
                        <a:latin typeface="+mj-lt"/>
                        <a:ea typeface="Calibri" panose="020F0502020204030204" pitchFamily="34" charset="0"/>
                        <a:cs typeface="Courier New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2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(fixed fraction)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empirical default values when data are insufficient for data-driven estimation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 err="1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σ</a:t>
                      </a:r>
                      <a:r>
                        <a:rPr lang="en-US" sz="1200" b="1" kern="1200" baseline="-25000" dirty="0" err="1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add</a:t>
                      </a: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, </a:t>
                      </a:r>
                      <a:r>
                        <a:rPr lang="en-US" sz="1200" b="1" kern="1200" dirty="0" err="1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σ</a:t>
                      </a:r>
                      <a:r>
                        <a:rPr lang="en-US" sz="1200" b="1" kern="1200" baseline="-25000" dirty="0" err="1">
                          <a:solidFill>
                            <a:srgbClr val="C0392B"/>
                          </a:solidFill>
                          <a:latin typeface="+mj-lt"/>
                          <a:ea typeface="Calibri" panose="020F0502020204030204" pitchFamily="34" charset="0"/>
                          <a:cs typeface="Courier New" pitchFamily="34" charset="-120"/>
                        </a:rPr>
                        <a:t>prop</a:t>
                      </a:r>
                      <a:endParaRPr lang="en-US" sz="1200" b="1" kern="1200" baseline="-25000" dirty="0">
                        <a:solidFill>
                          <a:srgbClr val="C0392B"/>
                        </a:solidFill>
                        <a:latin typeface="+mj-lt"/>
                        <a:ea typeface="Calibri" panose="020F0502020204030204" pitchFamily="34" charset="0"/>
                        <a:cs typeface="Courier New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8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Pragmatic fixed value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Assigns a fixed default value across all datasets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1200" dirty="0">
                          <a:solidFill>
                            <a:srgbClr val="C0392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ω² = 0.1</a:t>
                      </a:r>
                      <a:endParaRPr lang="en-US" sz="1200" b="1" kern="1200" dirty="0">
                        <a:solidFill>
                          <a:srgbClr val="C0392B"/>
                        </a:solidFill>
                        <a:latin typeface="+mj-lt"/>
                        <a:ea typeface="Courier New" charset="0"/>
                        <a:cs typeface="Courier New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A58C16C0-52A7-45D6-7D04-D8F94D2B4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265" y="1916832"/>
            <a:ext cx="3966158" cy="27087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EF8C1F-1B78-A1F3-7816-203CCDDBBEEE}"/>
              </a:ext>
            </a:extLst>
          </p:cNvPr>
          <p:cNvSpPr txBox="1"/>
          <p:nvPr/>
        </p:nvSpPr>
        <p:spPr>
          <a:xfrm>
            <a:off x="623392" y="5580955"/>
            <a:ext cx="6096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CL clearance; </a:t>
            </a:r>
            <a:r>
              <a:rPr lang="en-GB" sz="800" dirty="0" err="1"/>
              <a:t>V</a:t>
            </a:r>
            <a:r>
              <a:rPr lang="en-GB" sz="800" baseline="-25000" dirty="0" err="1"/>
              <a:t>d</a:t>
            </a:r>
            <a:r>
              <a:rPr lang="en-GB" sz="800" dirty="0"/>
              <a:t> volume of distribution; K</a:t>
            </a:r>
            <a:r>
              <a:rPr lang="en-GB" sz="800" baseline="-25000" dirty="0"/>
              <a:t>a</a:t>
            </a:r>
            <a:r>
              <a:rPr lang="en-GB" sz="800" dirty="0"/>
              <a:t> absorption rate constant; Vmax maximum elimination rate; K</a:t>
            </a:r>
            <a:r>
              <a:rPr lang="en-GB" sz="800" baseline="-25000" dirty="0"/>
              <a:t>m</a:t>
            </a:r>
            <a:r>
              <a:rPr lang="en-GB" sz="800" dirty="0"/>
              <a:t> Michaelis constant; </a:t>
            </a:r>
            <a:r>
              <a:rPr lang="en-GB" sz="800" dirty="0" err="1"/>
              <a:t>V</a:t>
            </a:r>
            <a:r>
              <a:rPr lang="en-GB" sz="800" baseline="-25000" dirty="0" err="1"/>
              <a:t>c</a:t>
            </a:r>
            <a:r>
              <a:rPr lang="en-GB" sz="800" dirty="0"/>
              <a:t> central compartment volume; </a:t>
            </a:r>
            <a:r>
              <a:rPr lang="en-GB" sz="800" dirty="0" err="1"/>
              <a:t>V</a:t>
            </a:r>
            <a:r>
              <a:rPr lang="en-GB" sz="800" baseline="-25000" dirty="0" err="1"/>
              <a:t>p</a:t>
            </a:r>
            <a:r>
              <a:rPr lang="en-GB" sz="800" dirty="0"/>
              <a:t>/V</a:t>
            </a:r>
            <a:r>
              <a:rPr lang="en-GB" sz="800" baseline="-25000" dirty="0"/>
              <a:t>p2</a:t>
            </a:r>
            <a:r>
              <a:rPr lang="en-GB" sz="800" dirty="0"/>
              <a:t> peripheral compartment volume(s); Q/Q</a:t>
            </a:r>
            <a:r>
              <a:rPr lang="en-GB" sz="800" baseline="-25000" dirty="0"/>
              <a:t>2</a:t>
            </a:r>
            <a:r>
              <a:rPr lang="en-GB" sz="800" dirty="0"/>
              <a:t> inter-compartmental clearance(s); </a:t>
            </a:r>
            <a:r>
              <a:rPr lang="el-GR" sz="800" dirty="0"/>
              <a:t>σ</a:t>
            </a:r>
            <a:r>
              <a:rPr lang="en-GB" sz="800" dirty="0"/>
              <a:t>add additive residual error; </a:t>
            </a:r>
            <a:r>
              <a:rPr lang="el-GR" sz="800" dirty="0"/>
              <a:t>σ</a:t>
            </a:r>
            <a:r>
              <a:rPr lang="en-GB" sz="800" baseline="-25000" dirty="0"/>
              <a:t>prop</a:t>
            </a:r>
            <a:r>
              <a:rPr lang="en-GB" sz="800" dirty="0"/>
              <a:t> proportional residual error; </a:t>
            </a:r>
            <a:r>
              <a:rPr lang="el-GR" sz="800" dirty="0"/>
              <a:t>ω²</a:t>
            </a:r>
            <a:r>
              <a:rPr lang="en-GB" sz="800" dirty="0"/>
              <a:t> variance of inter-individual variability.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A53C2667-89BD-9857-4117-95ADABC27919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A0A0FF1E-3D0E-4691-FE77-FF3BCF696DAE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  <a:endParaRPr lang="en-US" sz="85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EA0A06EC-DEED-930A-95F0-BFB0358CC142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D62CC7F3-C043-E4AB-9184-57C8DEA608AF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ABADD20E-0A9E-10EF-6DF3-460C32CFB105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715D5852-FF7B-AD14-523D-738F7FEDB143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3038734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AB64F-0240-E768-EAD5-1FE4EEB0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84D7-CC03-0AA1-3324-D1A63928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Nlmixr2autoinit tutorial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51AFD-6CE5-0FCC-9B60-2DE92A1286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1730D1-AE38-187D-2851-DB3701CB7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1099295"/>
            <a:ext cx="4286250" cy="42862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324EED-4883-B7F9-3C16-F2912C3EA9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306" y="1251937"/>
            <a:ext cx="6500423" cy="3970364"/>
          </a:xfrm>
          <a:prstGeom prst="rect">
            <a:avLst/>
          </a:prstGeom>
        </p:spPr>
      </p:pic>
      <p:sp>
        <p:nvSpPr>
          <p:cNvPr id="25" name="Shape 5">
            <a:extLst>
              <a:ext uri="{FF2B5EF4-FFF2-40B4-BE49-F238E27FC236}">
                <a16:creationId xmlns:a16="http://schemas.microsoft.com/office/drawing/2014/main" id="{D7CD1CAF-D183-3106-69C3-B20C66D76B99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9E46C93C-51D2-D70C-96C7-CFE27C658755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  <a:endParaRPr lang="en-US" sz="850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432ABA7D-F7A5-BB4E-A093-02F979C3FD3F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FCC8304E-0051-1AEF-0F7A-C53AD3B57770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E2FE83FF-F78A-92D6-3C24-F8931923378B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1470C42E-522C-0187-091C-2BDEE87C740E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3276779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AD981-2EBF-8E05-C126-C156AE24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7195C9-AA47-3BDF-9C7E-98B9AE2405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54B2F-F015-A88F-1F4F-B0F83CC887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9FB8341-9636-CE4E-5756-2C62B49618F1}"/>
              </a:ext>
            </a:extLst>
          </p:cNvPr>
          <p:cNvSpPr/>
          <p:nvPr/>
        </p:nvSpPr>
        <p:spPr>
          <a:xfrm>
            <a:off x="4742736" y="1647056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C0875AA-60A8-203C-739D-C60CAC9CE056}"/>
              </a:ext>
            </a:extLst>
          </p:cNvPr>
          <p:cNvSpPr/>
          <p:nvPr/>
        </p:nvSpPr>
        <p:spPr>
          <a:xfrm>
            <a:off x="2639616" y="2652896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25AE823-5401-09D9-C9AF-38C5B8998832}"/>
              </a:ext>
            </a:extLst>
          </p:cNvPr>
          <p:cNvSpPr/>
          <p:nvPr/>
        </p:nvSpPr>
        <p:spPr>
          <a:xfrm>
            <a:off x="1343472" y="3473585"/>
            <a:ext cx="8856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session: </a:t>
            </a:r>
            <a:r>
              <a:rPr lang="en-GB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nlmixr2autoinit with nlmixr2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3E81B75-D727-5611-9F90-BF34290044E6}"/>
              </a:ext>
            </a:extLst>
          </p:cNvPr>
          <p:cNvSpPr/>
          <p:nvPr/>
        </p:nvSpPr>
        <p:spPr>
          <a:xfrm>
            <a:off x="2639616" y="3933056"/>
            <a:ext cx="6336704" cy="504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r>
              <a:rPr lang="en-GB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HandsOn_running_nlmixr2autoinit.R </a:t>
            </a:r>
            <a:r>
              <a:rPr lang="en-US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altLang="zh-CN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GB" sz="16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xamine</a:t>
            </a:r>
            <a:r>
              <a:rPr lang="en-GB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code, run the provided examples, and feel free to experiment </a:t>
            </a:r>
            <a:r>
              <a:rPr lang="en-US" altLang="zh-CN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own </a:t>
            </a:r>
            <a:r>
              <a:rPr lang="en-GB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datasets.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6" name="Graphic 15" descr="Keyboard with solid fill">
            <a:extLst>
              <a:ext uri="{FF2B5EF4-FFF2-40B4-BE49-F238E27FC236}">
                <a16:creationId xmlns:a16="http://schemas.microsoft.com/office/drawing/2014/main" id="{D9C0E2A7-CCBB-651B-316F-0EEAB7A63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2816" y="16470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219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368B1-098C-41CD-EDA1-147C02955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688B-AA5F-18F6-6BF9-FBEECFDB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BBC92-4F09-82DE-BDF0-BB3A6C2DA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E68B60BD-120E-296C-DF4C-E772EC73820D}"/>
              </a:ext>
            </a:extLst>
          </p:cNvPr>
          <p:cNvSpPr/>
          <p:nvPr/>
        </p:nvSpPr>
        <p:spPr>
          <a:xfrm>
            <a:off x="868403" y="1243769"/>
            <a:ext cx="8321040" cy="83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AC4D4069-36AA-566D-C5F0-13566D704E1E}"/>
              </a:ext>
            </a:extLst>
          </p:cNvPr>
          <p:cNvSpPr/>
          <p:nvPr/>
        </p:nvSpPr>
        <p:spPr>
          <a:xfrm>
            <a:off x="773770" y="27668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640C6A-B9A8-66ED-701F-DC6C546FE502}"/>
              </a:ext>
            </a:extLst>
          </p:cNvPr>
          <p:cNvSpPr txBox="1"/>
          <p:nvPr/>
        </p:nvSpPr>
        <p:spPr>
          <a:xfrm>
            <a:off x="642540" y="1063349"/>
            <a:ext cx="9042860" cy="1620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GB" b="1" dirty="0">
                <a:solidFill>
                  <a:schemeClr val="tx2"/>
                </a:solidFill>
              </a:rPr>
              <a:t>Explore nlmixr2autoinit using the warfarin dataset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GB" b="1" dirty="0">
                <a:solidFill>
                  <a:schemeClr val="tx2"/>
                </a:solidFill>
              </a:rPr>
              <a:t>Fit a one-compartment oral model, with initial estimates from nlmixr2autoinit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GB" b="1" dirty="0">
                <a:solidFill>
                  <a:schemeClr val="tx2"/>
                </a:solidFill>
              </a:rPr>
              <a:t>Apply the workflow to your own PK dataset (optional)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endParaRPr lang="en-GB" sz="1400" b="1" dirty="0">
              <a:solidFill>
                <a:schemeClr val="tx2"/>
              </a:solidFill>
            </a:endParaRPr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B9875E8D-D960-4A9B-9403-2882482D9A79}"/>
              </a:ext>
            </a:extLst>
          </p:cNvPr>
          <p:cNvSpPr/>
          <p:nvPr/>
        </p:nvSpPr>
        <p:spPr>
          <a:xfrm>
            <a:off x="773770" y="329183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Install from CRAN (stable release)</a:t>
            </a: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4EB18AFD-E557-3683-9744-489CBD0C7DA9}"/>
              </a:ext>
            </a:extLst>
          </p:cNvPr>
          <p:cNvSpPr/>
          <p:nvPr/>
        </p:nvSpPr>
        <p:spPr>
          <a:xfrm>
            <a:off x="838121" y="447429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Install the development version from GitHub</a:t>
            </a:r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D6BDA037-74B8-3265-2EE4-9D957C77201F}"/>
              </a:ext>
            </a:extLst>
          </p:cNvPr>
          <p:cNvSpPr/>
          <p:nvPr/>
        </p:nvSpPr>
        <p:spPr>
          <a:xfrm>
            <a:off x="773770" y="3703701"/>
            <a:ext cx="8136904" cy="625978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/>
            </a:solidFill>
            <a:prstDash val="solid"/>
          </a:ln>
        </p:spPr>
        <p:txBody>
          <a:bodyPr/>
          <a:lstStyle/>
          <a:p>
            <a:endParaRPr lang="en-GB" sz="1400">
              <a:latin typeface="Consolas" panose="020B0609020204030204" pitchFamily="49" charset="0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3E73113F-F681-6617-B258-F1D7C13F0741}"/>
              </a:ext>
            </a:extLst>
          </p:cNvPr>
          <p:cNvSpPr/>
          <p:nvPr/>
        </p:nvSpPr>
        <p:spPr>
          <a:xfrm>
            <a:off x="841869" y="368097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install.packages("nlmixr2autoinit", dependencies = TRUE)</a:t>
            </a: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629F0D6B-D82C-2C9B-B928-25F706DB80BF}"/>
              </a:ext>
            </a:extLst>
          </p:cNvPr>
          <p:cNvSpPr/>
          <p:nvPr/>
        </p:nvSpPr>
        <p:spPr>
          <a:xfrm>
            <a:off x="838121" y="3952055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install.packages</a:t>
            </a: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("nlmixr2auto", dependencies = TRUE)</a:t>
            </a:r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DB49B461-40B3-4F5A-90D3-D62F93D0DB6F}"/>
              </a:ext>
            </a:extLst>
          </p:cNvPr>
          <p:cNvSpPr/>
          <p:nvPr/>
        </p:nvSpPr>
        <p:spPr>
          <a:xfrm>
            <a:off x="756704" y="4873411"/>
            <a:ext cx="8229600" cy="688999"/>
          </a:xfrm>
          <a:prstGeom prst="rect">
            <a:avLst/>
          </a:prstGeom>
          <a:solidFill>
            <a:srgbClr val="1E2B3C"/>
          </a:solidFill>
          <a:ln w="12700">
            <a:solidFill>
              <a:srgbClr val="1E2B3C"/>
            </a:solidFill>
            <a:prstDash val="solid"/>
          </a:ln>
        </p:spPr>
        <p:txBody>
          <a:bodyPr/>
          <a:lstStyle/>
          <a:p>
            <a:endParaRPr lang="en-GB" sz="1400">
              <a:latin typeface="Consolas" panose="020B0609020204030204" pitchFamily="49" charset="0"/>
            </a:endParaRPr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46A31EBF-B122-C767-5C8E-D8CC37ABD426}"/>
              </a:ext>
            </a:extLst>
          </p:cNvPr>
          <p:cNvSpPr/>
          <p:nvPr/>
        </p:nvSpPr>
        <p:spPr>
          <a:xfrm>
            <a:off x="882013" y="4821959"/>
            <a:ext cx="7204624" cy="740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devtools</a:t>
            </a:r>
            <a:r>
              <a:rPr lang="en-GB" sz="14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::</a:t>
            </a:r>
            <a:r>
              <a:rPr lang="en-US" sz="14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install_github</a:t>
            </a: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("ucl-pharmacometrics/nlmixr2autoinit")</a:t>
            </a:r>
          </a:p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devtools</a:t>
            </a:r>
            <a:r>
              <a:rPr lang="en-GB" sz="14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::</a:t>
            </a:r>
            <a:r>
              <a:rPr lang="en-US" sz="14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install_github</a:t>
            </a: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("</a:t>
            </a:r>
            <a:r>
              <a:rPr lang="en-US" sz="1400" dirty="0" err="1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ucl</a:t>
            </a:r>
            <a:r>
              <a:rPr lang="en-US" sz="1400" dirty="0">
                <a:solidFill>
                  <a:srgbClr val="E8F0FE"/>
                </a:solidFill>
                <a:latin typeface="Consolas" panose="020B0609020204030204" pitchFamily="49" charset="0"/>
                <a:cs typeface="Courier New" pitchFamily="34" charset="-120"/>
              </a:rPr>
              <a:t>-pharmacometrics/nlmixr2auto")</a:t>
            </a: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47A48AB-5CCE-3B8C-7646-071DACC209B2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B9BB0DC-D836-BC04-0F50-2277256A388F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D39C5302-E768-D271-7FF0-AB87AAEDD35C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A7754BF9-B1F9-AA96-99FB-308D5A7AB0AC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31061408-AF0A-2F48-91D5-F74AD28658F1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6A721345-F57F-4CB4-C4BF-FAD98B37B9C6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3976604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287CE-FD09-AA0F-1E2A-BC7E922E5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71F41-D7D3-D8EE-DEE4-5AB340FF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Warfarin Individual Concentration Profiles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A0E35-3845-4379-35B1-53232ED61B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4B828A56-433C-49DE-4970-81E78BCAB17E}"/>
              </a:ext>
            </a:extLst>
          </p:cNvPr>
          <p:cNvSpPr/>
          <p:nvPr/>
        </p:nvSpPr>
        <p:spPr>
          <a:xfrm>
            <a:off x="3297944" y="6491227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 I</a:t>
            </a:r>
            <a:endParaRPr lang="en-US" sz="85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BD4CF0-10CA-EEB8-3D7D-E9B82450A3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80" y="1556792"/>
            <a:ext cx="6856164" cy="42851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28CD6B-A1EA-F989-DFC8-E591533103D6}"/>
              </a:ext>
            </a:extLst>
          </p:cNvPr>
          <p:cNvSpPr txBox="1"/>
          <p:nvPr/>
        </p:nvSpPr>
        <p:spPr>
          <a:xfrm>
            <a:off x="8472264" y="1700808"/>
            <a:ext cx="243908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32 subjects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Single-dose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16 subjects: rich PK sampling on Day 1, from 0.5 to 72 hours 16 subjects: sampling from 24 to 120 hours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BBB33-9AA5-C489-EC61-5E40C6164EBC}"/>
              </a:ext>
            </a:extLst>
          </p:cNvPr>
          <p:cNvSpPr txBox="1"/>
          <p:nvPr/>
        </p:nvSpPr>
        <p:spPr>
          <a:xfrm>
            <a:off x="2927648" y="5851030"/>
            <a:ext cx="95050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O’Reilly (1968). Studies on coumarin anticoagulant drugs. Initiation of warfarin therapy without a loading dose. Circulation 1968, 38:169-177.</a:t>
            </a:r>
          </a:p>
          <a:p>
            <a:r>
              <a:rPr lang="en-GB" sz="1000" dirty="0"/>
              <a:t>O’Reilly (1963). Studies on coumarin anticoagulant drugs. The pharmacodynamics of warfarin in man. Journal of Clinical Investigation 1963, 42:10.</a:t>
            </a:r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993CFADE-DDD0-0089-8211-AB7C6FCA5582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93B589B6-CFD0-D099-0BCF-3B00AAD99FC7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8FCBEC7C-BC13-3A08-4C80-BB76BF79CA1B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C4663E34-1EB6-12F5-25C4-CD7E806B36EE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5B2D1EE4-3264-BE55-DEAF-67AC1F18CEFE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CF4F4ADD-D118-5CEA-43E2-B2EFD6CF2C84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4063673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3497-DE6C-0671-8E68-390C995FA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2224-6160-473A-82DE-D9BB71628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Preparing the Warfarin 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2E650-D42F-3423-4158-69E5D82305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F8CCA8-3543-399E-9695-90862FE1B3EA}"/>
              </a:ext>
            </a:extLst>
          </p:cNvPr>
          <p:cNvSpPr/>
          <p:nvPr/>
        </p:nvSpPr>
        <p:spPr>
          <a:xfrm>
            <a:off x="767408" y="1423841"/>
            <a:ext cx="6333090" cy="4078878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en-GB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F6F80670-AF47-FDDB-CBB2-93C87406E400}"/>
              </a:ext>
            </a:extLst>
          </p:cNvPr>
          <p:cNvSpPr/>
          <p:nvPr/>
        </p:nvSpPr>
        <p:spPr>
          <a:xfrm>
            <a:off x="1034024" y="1355279"/>
            <a:ext cx="5992884" cy="3468734"/>
          </a:xfrm>
          <a:prstGeom prst="rect">
            <a:avLst/>
          </a:prstGeom>
          <a:noFill/>
          <a:ln/>
        </p:spPr>
        <p:txBody>
          <a:bodyPr wrap="square" lIns="101600" tIns="177800" rIns="177800" bIns="1016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library(nlmixr2)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library(nlmixr2autoinit)</a:t>
            </a:r>
          </a:p>
          <a:p>
            <a:pPr marL="0" indent="0">
              <a:buNone/>
            </a:pPr>
            <a:endParaRPr lang="en-US" sz="1400" dirty="0">
              <a:solidFill>
                <a:srgbClr val="D8EEFF"/>
              </a:solidFill>
              <a:latin typeface="Courier New" panose="02070309020205020404" pitchFamily="49" charset="0"/>
              <a:ea typeface="Courier New" pitchFamily="34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## Prepare warfarin PK data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warf_pk &lt;- warfarin[warfarin$dvid == "cp", ]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colnames(warf_pk) &lt;-</a:t>
            </a:r>
            <a:r>
              <a:rPr lang="en-US" sz="1400" dirty="0" err="1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toupper</a:t>
            </a: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(colnames(warf_pk))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## cmt column: depot=1 (dose), central=2 (obs)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warf_pk$cmt &lt;- 2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warf_pk[warf_pk$EVID == 1, ]$cmt &lt;- 1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## Run getPPKinits()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inits_warf &lt;- getPPKinits(dat = warf_pk)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## Explore outputs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inits_warf$Datainfo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D8EE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inits_warf$Recommended_initial_estimates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5D057AB4-F716-9A9A-B854-8AF575F746E9}"/>
              </a:ext>
            </a:extLst>
          </p:cNvPr>
          <p:cNvSpPr/>
          <p:nvPr/>
        </p:nvSpPr>
        <p:spPr>
          <a:xfrm>
            <a:off x="7263891" y="2490590"/>
            <a:ext cx="3986194" cy="668959"/>
          </a:xfrm>
          <a:prstGeom prst="rect">
            <a:avLst/>
          </a:prstGeom>
          <a:solidFill>
            <a:srgbClr val="EEF4FF"/>
          </a:solidFill>
          <a:ln w="2286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C5C8D5A-AB19-D083-0C9B-96E09892657A}"/>
              </a:ext>
            </a:extLst>
          </p:cNvPr>
          <p:cNvSpPr/>
          <p:nvPr/>
        </p:nvSpPr>
        <p:spPr>
          <a:xfrm>
            <a:off x="7263890" y="2490590"/>
            <a:ext cx="4520742" cy="650377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cmt column required for oral data in nlmixr2autoinit: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depot = 1 for dose rows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central = 2 for obs rows</a:t>
            </a:r>
            <a:endParaRPr lang="en-US" sz="1200" dirty="0">
              <a:latin typeface="+mj-lt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5EB3AE32-E3D9-7B13-DFFC-322EE76A97F7}"/>
              </a:ext>
            </a:extLst>
          </p:cNvPr>
          <p:cNvSpPr/>
          <p:nvPr/>
        </p:nvSpPr>
        <p:spPr>
          <a:xfrm>
            <a:off x="7273264" y="4352851"/>
            <a:ext cx="3986194" cy="373468"/>
          </a:xfrm>
          <a:prstGeom prst="rect">
            <a:avLst/>
          </a:prstGeom>
          <a:solidFill>
            <a:srgbClr val="EEF4FF"/>
          </a:solidFill>
          <a:ln w="2286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4AA6D3DD-980C-78BD-1998-FE6BAD275DFB}"/>
              </a:ext>
            </a:extLst>
          </p:cNvPr>
          <p:cNvSpPr/>
          <p:nvPr/>
        </p:nvSpPr>
        <p:spPr>
          <a:xfrm>
            <a:off x="7273264" y="4223007"/>
            <a:ext cx="3986194" cy="557466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Auto-detects dose route · sampling design</a:t>
            </a:r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4F020151-1388-E7D3-D1FF-469094C2D409}"/>
              </a:ext>
            </a:extLst>
          </p:cNvPr>
          <p:cNvSpPr/>
          <p:nvPr/>
        </p:nvSpPr>
        <p:spPr>
          <a:xfrm>
            <a:off x="7263890" y="3616031"/>
            <a:ext cx="3986194" cy="373468"/>
          </a:xfrm>
          <a:prstGeom prst="rect">
            <a:avLst/>
          </a:prstGeom>
          <a:solidFill>
            <a:srgbClr val="EEF4FF"/>
          </a:solidFill>
          <a:ln w="2286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0AA3443A-704A-81DE-B977-A2A458E92AA1}"/>
              </a:ext>
            </a:extLst>
          </p:cNvPr>
          <p:cNvSpPr/>
          <p:nvPr/>
        </p:nvSpPr>
        <p:spPr>
          <a:xfrm>
            <a:off x="7263890" y="3486187"/>
            <a:ext cx="3986194" cy="557466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ctr"/>
          <a:lstStyle/>
          <a:p>
            <a:pPr marL="0" indent="0">
              <a:buNone/>
            </a:pPr>
            <a:r>
              <a:rPr lang="en-GB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A single-line call to </a:t>
            </a:r>
            <a:r>
              <a:rPr lang="en-GB" sz="1200" dirty="0" err="1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getPPKinits</a:t>
            </a:r>
            <a:r>
              <a:rPr lang="en-GB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() is all it takes </a:t>
            </a:r>
            <a:endParaRPr lang="en-US" sz="1200" dirty="0">
              <a:solidFill>
                <a:srgbClr val="1A3A6B"/>
              </a:solidFill>
              <a:latin typeface="+mj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524163CA-DC13-80CB-689E-F63000FD4D8C}"/>
              </a:ext>
            </a:extLst>
          </p:cNvPr>
          <p:cNvSpPr/>
          <p:nvPr/>
        </p:nvSpPr>
        <p:spPr>
          <a:xfrm>
            <a:off x="7092050" y="2864252"/>
            <a:ext cx="150498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B0D8152A-4C89-5063-B047-D80D674792FE}"/>
              </a:ext>
            </a:extLst>
          </p:cNvPr>
          <p:cNvSpPr/>
          <p:nvPr/>
        </p:nvSpPr>
        <p:spPr>
          <a:xfrm>
            <a:off x="7028042" y="2800244"/>
            <a:ext cx="140464" cy="127917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8A915697-6254-089C-6065-FFA46B0706D7}"/>
              </a:ext>
            </a:extLst>
          </p:cNvPr>
          <p:cNvSpPr/>
          <p:nvPr/>
        </p:nvSpPr>
        <p:spPr>
          <a:xfrm>
            <a:off x="7104820" y="3795310"/>
            <a:ext cx="150498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5A703364-A5FC-54C4-0E36-12912DE553CC}"/>
              </a:ext>
            </a:extLst>
          </p:cNvPr>
          <p:cNvSpPr/>
          <p:nvPr/>
        </p:nvSpPr>
        <p:spPr>
          <a:xfrm>
            <a:off x="7040812" y="3731302"/>
            <a:ext cx="140464" cy="127917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C0151F61-D8DE-9166-7E5D-9B6FCAB02686}"/>
              </a:ext>
            </a:extLst>
          </p:cNvPr>
          <p:cNvSpPr/>
          <p:nvPr/>
        </p:nvSpPr>
        <p:spPr>
          <a:xfrm>
            <a:off x="7114122" y="4527954"/>
            <a:ext cx="150498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3D123FA9-8332-0523-5BCF-8BB425A46E34}"/>
              </a:ext>
            </a:extLst>
          </p:cNvPr>
          <p:cNvSpPr/>
          <p:nvPr/>
        </p:nvSpPr>
        <p:spPr>
          <a:xfrm>
            <a:off x="7050114" y="4463946"/>
            <a:ext cx="140464" cy="127917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FD69E047-52AD-146B-7409-35D4050A87A5}"/>
              </a:ext>
            </a:extLst>
          </p:cNvPr>
          <p:cNvSpPr/>
          <p:nvPr/>
        </p:nvSpPr>
        <p:spPr>
          <a:xfrm>
            <a:off x="3297944" y="6491227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 I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E2358572-A73E-B6FB-F146-FDC39660AE9B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D5717B3E-62BC-0CD5-6CD4-D8F769E8E01D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A4347EAF-CF7E-501E-F54F-5AF0CE93F9E4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8039F559-B229-D1B3-DD09-BB7854B11710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EEED15B7-77F9-B9BD-29C3-1B5C4D91AEE4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894CB372-D2EC-34B5-C779-C8AA101D5417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1635733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047B-932A-6BA9-A065-BEFE4607F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7C58-2C2A-39EF-CCC0-DABF189D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</a:t>
            </a:r>
            <a:r>
              <a:rPr lang="en-US" altLang="zh-CN" dirty="0" err="1"/>
              <a:t>xploring</a:t>
            </a:r>
            <a:r>
              <a:rPr lang="en-US" altLang="zh-CN" dirty="0"/>
              <a:t> </a:t>
            </a:r>
            <a:r>
              <a:rPr lang="en-GB" dirty="0"/>
              <a:t>nlmixr2autoinit Outputs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063B9-0499-50E6-6A24-945F034FBA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15</a:t>
            </a:fld>
            <a:endParaRPr lang="en-GB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ABE7F10-6ADE-E55E-F368-A78800D19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906062"/>
              </p:ext>
            </p:extLst>
          </p:nvPr>
        </p:nvGraphicFramePr>
        <p:xfrm>
          <a:off x="1375416" y="1794604"/>
          <a:ext cx="7744920" cy="4320480"/>
        </p:xfrm>
        <a:graphic>
          <a:graphicData uri="http://schemas.openxmlformats.org/drawingml/2006/table">
            <a:tbl>
              <a:tblPr/>
              <a:tblGrid>
                <a:gridCol w="1922216">
                  <a:extLst>
                    <a:ext uri="{9D8B030D-6E8A-4147-A177-3AD203B41FA5}">
                      <a16:colId xmlns:a16="http://schemas.microsoft.com/office/drawing/2014/main" val="3749837032"/>
                    </a:ext>
                  </a:extLst>
                </a:gridCol>
                <a:gridCol w="5822704">
                  <a:extLst>
                    <a:ext uri="{9D8B030D-6E8A-4147-A177-3AD203B41FA5}">
                      <a16:colId xmlns:a16="http://schemas.microsoft.com/office/drawing/2014/main" val="3457211777"/>
                    </a:ext>
                  </a:extLst>
                </a:gridCol>
              </a:tblGrid>
              <a:tr h="42139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Component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Description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843776"/>
                  </a:ext>
                </a:extLst>
              </a:tr>
              <a:tr h="4746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1B3A6B"/>
                          </a:solidFill>
                          <a:effectLst/>
                          <a:latin typeface="+mj-lt"/>
                        </a:rPr>
                        <a:t>$</a:t>
                      </a:r>
                      <a:r>
                        <a:rPr lang="en-GB" sz="1200" b="1" i="0" u="none" strike="noStrike" dirty="0" err="1">
                          <a:solidFill>
                            <a:srgbClr val="1B3A6B"/>
                          </a:solidFill>
                          <a:effectLst/>
                          <a:latin typeface="+mj-lt"/>
                        </a:rPr>
                        <a:t>base.out</a:t>
                      </a:r>
                      <a:endParaRPr lang="en-GB" sz="1200" b="1" i="0" u="none" strike="noStrike" dirty="0">
                        <a:solidFill>
                          <a:srgbClr val="1B3A6B"/>
                        </a:solidFill>
                        <a:effectLst/>
                        <a:latin typeface="+mj-lt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1E293B"/>
                          </a:solidFill>
                          <a:effectLst/>
                          <a:latin typeface="+mj-lt"/>
                        </a:rPr>
                        <a:t>Method combinations and performance metrics for base PK parameters (Kₐ, CL, </a:t>
                      </a:r>
                      <a:r>
                        <a:rPr lang="en-GB" sz="1200" b="0" i="0" u="none" strike="noStrike" dirty="0" err="1">
                          <a:solidFill>
                            <a:srgbClr val="1E293B"/>
                          </a:solidFill>
                          <a:effectLst/>
                          <a:latin typeface="+mj-lt"/>
                        </a:rPr>
                        <a:t>V</a:t>
                      </a:r>
                      <a:r>
                        <a:rPr lang="en-GB" sz="1200" b="0" i="0" u="none" strike="noStrike" baseline="-25000" dirty="0" err="1">
                          <a:solidFill>
                            <a:srgbClr val="1E293B"/>
                          </a:solidFill>
                          <a:effectLst/>
                          <a:latin typeface="+mj-lt"/>
                        </a:rPr>
                        <a:t>d</a:t>
                      </a:r>
                      <a:r>
                        <a:rPr lang="en-GB" sz="1200" b="0" i="0" u="none" strike="noStrike" dirty="0">
                          <a:solidFill>
                            <a:srgbClr val="1E293B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352071"/>
                  </a:ext>
                </a:extLst>
              </a:tr>
              <a:tr h="42139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1B3A6B"/>
                          </a:solidFill>
                          <a:effectLst/>
                          <a:latin typeface="+mj-lt"/>
                        </a:rPr>
                        <a:t>$sim.2cmpt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Parameter sweep simulation results for 2-compartment parameters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662991"/>
                  </a:ext>
                </a:extLst>
              </a:tr>
              <a:tr h="42139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>
                          <a:solidFill>
                            <a:srgbClr val="1B3A6B"/>
                          </a:solidFill>
                          <a:effectLst/>
                          <a:latin typeface="+mj-lt"/>
                        </a:rPr>
                        <a:t>$sim.3cmpt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Parameter sweep simulation results for 3-compartment parameters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44825"/>
                  </a:ext>
                </a:extLst>
              </a:tr>
              <a:tr h="42139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1B3A6B"/>
                          </a:solidFill>
                          <a:effectLst/>
                          <a:latin typeface="+mj-lt"/>
                        </a:rPr>
                        <a:t>$sim.vmax.km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Parameter sweep simulation results for V</a:t>
                      </a:r>
                      <a:r>
                        <a:rPr lang="en-GB" sz="1200" b="0" i="0" u="none" strike="noStrike" baseline="-2500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max</a:t>
                      </a:r>
                      <a:r>
                        <a:rPr lang="en-GB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 and K</a:t>
                      </a:r>
                      <a:r>
                        <a:rPr lang="en-GB" sz="1200" b="0" i="0" u="none" strike="noStrike" baseline="-25000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m</a:t>
                      </a:r>
                      <a:r>
                        <a:rPr lang="en-GB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315773"/>
                  </a:ext>
                </a:extLst>
              </a:tr>
              <a:tr h="42139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>
                          <a:solidFill>
                            <a:srgbClr val="1B3A6B"/>
                          </a:solidFill>
                          <a:effectLst/>
                          <a:latin typeface="+mj-lt"/>
                        </a:rPr>
                        <a:t>$single.point.out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1E293B"/>
                          </a:solidFill>
                          <a:effectLst/>
                          <a:latin typeface="+mj-lt"/>
                        </a:rPr>
                        <a:t>Results from adaptive single-point estimation methods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08319"/>
                  </a:ext>
                </a:extLst>
              </a:tr>
              <a:tr h="42139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>
                          <a:solidFill>
                            <a:srgbClr val="1B3A6B"/>
                          </a:solidFill>
                          <a:effectLst/>
                          <a:latin typeface="+mj-lt"/>
                        </a:rPr>
                        <a:t>$nca.out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Results from NCA 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823441"/>
                  </a:ext>
                </a:extLst>
              </a:tr>
              <a:tr h="4746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>
                          <a:solidFill>
                            <a:srgbClr val="1B3A6B"/>
                          </a:solidFill>
                          <a:effectLst/>
                          <a:latin typeface="+mj-lt"/>
                        </a:rPr>
                        <a:t>$ka.wanger.nelson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1E293B"/>
                          </a:solidFill>
                          <a:effectLst/>
                          <a:latin typeface="+mj-lt"/>
                        </a:rPr>
                        <a:t>Results from Wagner-Nelson method for Kₐ estimation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95443"/>
                  </a:ext>
                </a:extLst>
              </a:tr>
              <a:tr h="42139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>
                          <a:solidFill>
                            <a:srgbClr val="1B3A6B"/>
                          </a:solidFill>
                          <a:effectLst/>
                          <a:latin typeface="+mj-lt"/>
                        </a:rPr>
                        <a:t>$graph.out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Results from graphic methods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388570"/>
                  </a:ext>
                </a:extLst>
              </a:tr>
              <a:tr h="42139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1" i="0" u="none" strike="noStrike">
                          <a:solidFill>
                            <a:srgbClr val="1B3A6B"/>
                          </a:solidFill>
                          <a:effectLst/>
                          <a:latin typeface="+mj-lt"/>
                        </a:rPr>
                        <a:t>$sigma.out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1E293B"/>
                          </a:solidFill>
                          <a:effectLst/>
                          <a:latin typeface="+mj-lt"/>
                        </a:rPr>
                        <a:t>Results from residual variability calculation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681776"/>
                  </a:ext>
                </a:extLst>
              </a:tr>
            </a:tbl>
          </a:graphicData>
        </a:graphic>
      </p:graphicFrame>
      <p:sp>
        <p:nvSpPr>
          <p:cNvPr id="29" name="Text 2">
            <a:extLst>
              <a:ext uri="{FF2B5EF4-FFF2-40B4-BE49-F238E27FC236}">
                <a16:creationId xmlns:a16="http://schemas.microsoft.com/office/drawing/2014/main" id="{9EFEB82B-2C67-B445-367A-6AA06C53C8D3}"/>
              </a:ext>
            </a:extLst>
          </p:cNvPr>
          <p:cNvSpPr/>
          <p:nvPr/>
        </p:nvSpPr>
        <p:spPr>
          <a:xfrm>
            <a:off x="1231400" y="1127965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+mj-lt"/>
                <a:ea typeface="Consolas" pitchFamily="34" charset="-122"/>
                <a:cs typeface="Consolas" pitchFamily="34" charset="-120"/>
              </a:rPr>
              <a:t>$Run.history</a:t>
            </a:r>
            <a:r>
              <a:rPr lang="en-US" sz="1300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  records every method combination attempted and evaluated through the pipeline.</a:t>
            </a:r>
            <a:endParaRPr lang="en-US" sz="1300" dirty="0">
              <a:latin typeface="+mj-lt"/>
            </a:endParaRP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BCC4EC1C-A7CB-AE87-EECD-1BB47EA2484C}"/>
              </a:ext>
            </a:extLst>
          </p:cNvPr>
          <p:cNvSpPr/>
          <p:nvPr/>
        </p:nvSpPr>
        <p:spPr>
          <a:xfrm>
            <a:off x="1231400" y="1420573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lt"/>
                <a:ea typeface="Calibri" pitchFamily="34" charset="-122"/>
                <a:cs typeface="Calibri" pitchFamily="34" charset="-120"/>
              </a:rPr>
              <a:t>To access any component, use  </a:t>
            </a:r>
            <a:r>
              <a:rPr lang="en-US" sz="1200" b="1" dirty="0">
                <a:solidFill>
                  <a:srgbClr val="028090"/>
                </a:solidFill>
                <a:latin typeface="+mj-lt"/>
                <a:ea typeface="Consolas" pitchFamily="34" charset="-122"/>
                <a:cs typeface="Consolas" pitchFamily="34" charset="-120"/>
              </a:rPr>
              <a:t>&lt;outname&gt;$Run.history$&lt;component&gt;</a:t>
            </a:r>
            <a:endParaRPr lang="en-US" sz="1300" dirty="0">
              <a:latin typeface="+mj-lt"/>
            </a:endParaRPr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B6B92181-5D57-74E5-FC1F-D3C8CE676C3E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0EE74BBB-0AEC-7DEC-6A3E-5C71209F0982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E52D4E9A-DFCB-014F-D17E-D7B50070D698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1B0C85C4-F839-B8D9-01AE-31EDD87E45A9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4B1BA138-6D0A-C802-F6DA-A544DD978092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408E2CC0-A338-A414-90BE-DD2A14C85746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1960561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FA38A-1BE7-819E-902F-AD7200766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77FA-6D52-E0BE-81F2-124DCCFB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Fitting a 1-compartment oral model </a:t>
            </a:r>
            <a:r>
              <a:rPr lang="en-US" altLang="zh-CN" dirty="0"/>
              <a:t>with</a:t>
            </a:r>
            <a:r>
              <a:rPr lang="en-GB" dirty="0"/>
              <a:t> nlmir2autoinit estimates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C9798-57A1-4052-A04C-C046D6D7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0A971F9-D518-FB2E-64E7-06A9470DC498}"/>
              </a:ext>
            </a:extLst>
          </p:cNvPr>
          <p:cNvSpPr/>
          <p:nvPr/>
        </p:nvSpPr>
        <p:spPr>
          <a:xfrm>
            <a:off x="845056" y="1191238"/>
            <a:ext cx="5610984" cy="4830049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FD98E5E3-BD4F-1D36-655F-5DCCEEF56AC8}"/>
              </a:ext>
            </a:extLst>
          </p:cNvPr>
          <p:cNvSpPr/>
          <p:nvPr/>
        </p:nvSpPr>
        <p:spPr>
          <a:xfrm>
            <a:off x="911424" y="1191238"/>
            <a:ext cx="5880728" cy="4686033"/>
          </a:xfrm>
          <a:prstGeom prst="rect">
            <a:avLst/>
          </a:prstGeom>
          <a:noFill/>
          <a:ln/>
        </p:spPr>
        <p:txBody>
          <a:bodyPr wrap="square" lIns="101600" tIns="177800" rIns="177800" bIns="1016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B.1  Extract initial estimates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 &lt;- inits_warf$Recommended_initial_estimates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  &lt;- as.numeric(est$Values[est$Parameters == "Ka"])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  &lt;- as.numeric(est$Values[est$Parameters == "CL"])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Vd  &lt;- as.numeric(est$Values[est$Parameters == "Vd"])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B.2  Define 1-cmt oral model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warf_1cmt &lt;- function()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ini({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lka &lt;- log(Ka); lcl &lt;- log(CL); lv &lt;- log(Vd)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eta.ka ~ 0.1;  eta.cl ~ 0.1;  eta.v ~ 0.1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prop.err &lt;- prop_err;  add.err &lt;- add_err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model({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 &lt;- exp(lka + eta.ka)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d/dt(depot)   = -ka * depot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d/dt(central) =  ka*depot - (cl/v)*central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B.3  Fit with SAEM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run001 &lt;- nlmixr2(warf_1cmt, warf_pk, est = "saem",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control = saemControl(nBurn=200, nEm=300, logLik=TRUE),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   = tableControl(cwres = TRUE))</a:t>
            </a:r>
            <a:endParaRPr lang="en-US" sz="12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A0CB5F89-8C16-934E-EA99-64189613803D}"/>
              </a:ext>
            </a:extLst>
          </p:cNvPr>
          <p:cNvSpPr/>
          <p:nvPr/>
        </p:nvSpPr>
        <p:spPr>
          <a:xfrm>
            <a:off x="6490029" y="2000940"/>
            <a:ext cx="150498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A9702C96-6CB2-2989-B1C9-976A03A5B0A3}"/>
              </a:ext>
            </a:extLst>
          </p:cNvPr>
          <p:cNvSpPr/>
          <p:nvPr/>
        </p:nvSpPr>
        <p:spPr>
          <a:xfrm>
            <a:off x="6426021" y="1936932"/>
            <a:ext cx="140464" cy="127917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CC6E9F6D-CF01-61CF-1CDA-0C81DB17AFB3}"/>
              </a:ext>
            </a:extLst>
          </p:cNvPr>
          <p:cNvSpPr/>
          <p:nvPr/>
        </p:nvSpPr>
        <p:spPr>
          <a:xfrm>
            <a:off x="6635714" y="1620103"/>
            <a:ext cx="3708757" cy="609040"/>
          </a:xfrm>
          <a:prstGeom prst="rect">
            <a:avLst/>
          </a:prstGeom>
          <a:solidFill>
            <a:srgbClr val="EEF4FF"/>
          </a:solidFill>
          <a:ln w="2286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EF97FD87-44D3-A20F-F00B-9F7A2F1A3232}"/>
              </a:ext>
            </a:extLst>
          </p:cNvPr>
          <p:cNvSpPr/>
          <p:nvPr/>
        </p:nvSpPr>
        <p:spPr>
          <a:xfrm>
            <a:off x="6635714" y="1620102"/>
            <a:ext cx="3708758" cy="58476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Initial values pulled directly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from nlmixr2autoinit - no manual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guessing required</a:t>
            </a:r>
            <a:endParaRPr lang="en-US" sz="1200" dirty="0">
              <a:latin typeface="+mj-lt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ED3155B1-7336-91BD-C481-898820E76305}"/>
              </a:ext>
            </a:extLst>
          </p:cNvPr>
          <p:cNvSpPr/>
          <p:nvPr/>
        </p:nvSpPr>
        <p:spPr>
          <a:xfrm>
            <a:off x="6455030" y="3342528"/>
            <a:ext cx="150498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1F826783-C947-1599-46B3-E028B0A28021}"/>
              </a:ext>
            </a:extLst>
          </p:cNvPr>
          <p:cNvSpPr/>
          <p:nvPr/>
        </p:nvSpPr>
        <p:spPr>
          <a:xfrm>
            <a:off x="6391022" y="3278520"/>
            <a:ext cx="140464" cy="127917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E9026B22-3F11-680D-450F-4E5DE2E9D697}"/>
              </a:ext>
            </a:extLst>
          </p:cNvPr>
          <p:cNvSpPr/>
          <p:nvPr/>
        </p:nvSpPr>
        <p:spPr>
          <a:xfrm>
            <a:off x="6620421" y="3031572"/>
            <a:ext cx="3708757" cy="749730"/>
          </a:xfrm>
          <a:prstGeom prst="rect">
            <a:avLst/>
          </a:prstGeom>
          <a:solidFill>
            <a:srgbClr val="EEF4FF"/>
          </a:solidFill>
          <a:ln w="2286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036A6F43-7B76-2BA1-E54B-8F7E18FB1F5B}"/>
              </a:ext>
            </a:extLst>
          </p:cNvPr>
          <p:cNvSpPr/>
          <p:nvPr/>
        </p:nvSpPr>
        <p:spPr>
          <a:xfrm>
            <a:off x="6738221" y="3062368"/>
            <a:ext cx="3511611" cy="657859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IIV variances fixed at 0.1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as starting values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nlmixr2autoinit supplies lka, lcl, lv, </a:t>
            </a:r>
            <a:r>
              <a:rPr lang="en-US" sz="1200" dirty="0" err="1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prop_err</a:t>
            </a:r>
            <a:endParaRPr lang="en-US" sz="1200" dirty="0">
              <a:latin typeface="+mj-lt"/>
            </a:endParaRP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2BCFEF13-D200-F001-3EBA-FC9A340F3B26}"/>
              </a:ext>
            </a:extLst>
          </p:cNvPr>
          <p:cNvSpPr/>
          <p:nvPr/>
        </p:nvSpPr>
        <p:spPr>
          <a:xfrm>
            <a:off x="6509644" y="5468169"/>
            <a:ext cx="150498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698B5991-93DE-4D2F-32C5-27E13E86968F}"/>
              </a:ext>
            </a:extLst>
          </p:cNvPr>
          <p:cNvSpPr/>
          <p:nvPr/>
        </p:nvSpPr>
        <p:spPr>
          <a:xfrm>
            <a:off x="6412806" y="5404161"/>
            <a:ext cx="140464" cy="127917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1A91E468-6267-566A-4325-C816399A0699}"/>
              </a:ext>
            </a:extLst>
          </p:cNvPr>
          <p:cNvSpPr/>
          <p:nvPr/>
        </p:nvSpPr>
        <p:spPr>
          <a:xfrm>
            <a:off x="6630661" y="5079720"/>
            <a:ext cx="3708757" cy="627262"/>
          </a:xfrm>
          <a:prstGeom prst="rect">
            <a:avLst/>
          </a:prstGeom>
          <a:solidFill>
            <a:srgbClr val="EEF4FF"/>
          </a:solidFill>
          <a:ln w="2286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GB" sz="1200">
              <a:latin typeface="+mj-lt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14AFC056-6482-EA4F-BD0F-F306F104672C}"/>
              </a:ext>
            </a:extLst>
          </p:cNvPr>
          <p:cNvSpPr/>
          <p:nvPr/>
        </p:nvSpPr>
        <p:spPr>
          <a:xfrm>
            <a:off x="6753872" y="5070314"/>
            <a:ext cx="3474805" cy="62726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Default settings: </a:t>
            </a:r>
            <a:r>
              <a:rPr lang="en-US" sz="1200" dirty="0" err="1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nBurn</a:t>
            </a: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 = 200 · nEm = 300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3A6B"/>
                </a:solidFill>
                <a:latin typeface="+mj-lt"/>
                <a:ea typeface="Arial" pitchFamily="34" charset="-122"/>
                <a:cs typeface="Arial" pitchFamily="34" charset="-120"/>
              </a:rPr>
              <a:t>logLik = TRUE for AIC/BIC/OFV</a:t>
            </a:r>
            <a:endParaRPr lang="en-US" sz="1200" dirty="0">
              <a:latin typeface="+mj-lt"/>
            </a:endParaRPr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036184A1-8979-BD0F-B9AE-341D989C9EE1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B57BCF2F-6A93-CD8B-42EC-F02CED0103E2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68DE8C26-1984-B34E-DBF5-6C1DE7F5D2DF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8F2FE5B2-E432-3196-13AF-E3541D0DB682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F94470EE-27D7-AC31-8983-21EE884B4093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F2396FDD-1A28-264F-5DB3-C3083EBBF432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1054182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0F2E1-B22B-55A9-1A63-A4F47BA9F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Table 0">
            <a:extLst>
              <a:ext uri="{FF2B5EF4-FFF2-40B4-BE49-F238E27FC236}">
                <a16:creationId xmlns:a16="http://schemas.microsoft.com/office/drawing/2014/main" id="{A2BDDAE3-461C-B4E9-4DE7-7BB78D665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17032"/>
              </p:ext>
            </p:extLst>
          </p:nvPr>
        </p:nvGraphicFramePr>
        <p:xfrm>
          <a:off x="721415" y="1340768"/>
          <a:ext cx="4917191" cy="4026792"/>
        </p:xfrm>
        <a:graphic>
          <a:graphicData uri="http://schemas.openxmlformats.org/drawingml/2006/table">
            <a:tbl>
              <a:tblPr/>
              <a:tblGrid>
                <a:gridCol w="33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7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7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Ka</a:t>
                      </a:r>
                      <a:endParaRPr lang="en-US" sz="1050" b="1" kern="1200" dirty="0">
                        <a:solidFill>
                          <a:srgbClr val="1B3A6B"/>
                        </a:solidFill>
                        <a:latin typeface="+mj-lt"/>
                        <a:ea typeface="Courier New" charset="0"/>
                        <a:cs typeface="Courier New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charset="0"/>
                          <a:cs typeface="Courier New" pitchFamily="34" charset="-120"/>
                        </a:rPr>
                        <a:t>Naive pooled NCA (FD)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ourier New" pitchFamily="34" charset="-120"/>
                        </a:rPr>
                        <a:t>0.7280</a:t>
                      </a:r>
                      <a:endParaRPr lang="en-US" sz="1050" b="1" kern="1200" dirty="0">
                        <a:solidFill>
                          <a:srgbClr val="1B3A6B"/>
                        </a:solidFill>
                        <a:latin typeface="+mj-lt"/>
                        <a:ea typeface="Calibri" charset="0"/>
                        <a:cs typeface="Courier New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CL</a:t>
                      </a:r>
                      <a:endParaRPr lang="en-US" sz="105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Naive pooled NCA (FD)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0.1350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Vd</a:t>
                      </a:r>
                      <a:endParaRPr lang="en-US" sz="105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Naive pooled NCA (FD)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7.4100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Vmax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5.5536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Km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42.5200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Vc (2CMT)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7.0991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Vp (2CMT)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1.4198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Q (2CMT)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0.2700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Vc (3CMT)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7.0991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Vp (3CMT)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0.7099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Vp2 (3CMT)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1200" dirty="0">
                          <a:solidFill>
                            <a:srgbClr val="3333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0.7099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8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Q (3CMT)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0.1350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8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ourier New" pitchFamily="34" charset="-122"/>
                          <a:cs typeface="Courier New" pitchFamily="34" charset="-120"/>
                        </a:rPr>
                        <a:t>Q2 (3CMT)</a:t>
                      </a:r>
                      <a:endParaRPr lang="en-US" sz="1000" dirty="0">
                        <a:latin typeface="+mj-lt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4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Parameter sweeping</a:t>
                      </a:r>
                      <a:endParaRPr lang="en-US" sz="10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+mj-lt"/>
                          <a:ea typeface="Calibri" charset="0"/>
                          <a:cs typeface="Calibri" charset="0"/>
                        </a:rPr>
                        <a:t>0.1350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Sigma additive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r>
                        <a:rPr lang="en-US" altLang="zh-CN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odel-based</a:t>
                      </a:r>
                      <a:endParaRPr lang="en-US" sz="1050" b="1" kern="1200" dirty="0">
                        <a:solidFill>
                          <a:srgbClr val="1B3A6B"/>
                        </a:solidFill>
                        <a:latin typeface="+mj-lt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0.1525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9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Sigma proportional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r>
                        <a:rPr lang="en-US" altLang="zh-CN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odel-based</a:t>
                      </a:r>
                      <a:endParaRPr lang="en-US" sz="1050" b="1" kern="1200" dirty="0">
                        <a:solidFill>
                          <a:srgbClr val="1B3A6B"/>
                        </a:solidFill>
                        <a:latin typeface="+mj-lt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 kern="1200" dirty="0">
                          <a:solidFill>
                            <a:srgbClr val="1B3A6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0.0549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9" name="Arrow: Right 38">
            <a:extLst>
              <a:ext uri="{FF2B5EF4-FFF2-40B4-BE49-F238E27FC236}">
                <a16:creationId xmlns:a16="http://schemas.microsoft.com/office/drawing/2014/main" id="{02525AD5-D8E9-00AA-A24F-72F8976C92E9}"/>
              </a:ext>
            </a:extLst>
          </p:cNvPr>
          <p:cNvSpPr/>
          <p:nvPr/>
        </p:nvSpPr>
        <p:spPr>
          <a:xfrm>
            <a:off x="5638606" y="2585595"/>
            <a:ext cx="457393" cy="27432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C93A0F-81C6-E923-5008-4ED26B34BB44}"/>
              </a:ext>
            </a:extLst>
          </p:cNvPr>
          <p:cNvSpPr txBox="1">
            <a:spLocks/>
          </p:cNvSpPr>
          <p:nvPr/>
        </p:nvSpPr>
        <p:spPr>
          <a:xfrm>
            <a:off x="623392" y="237601"/>
            <a:ext cx="10945216" cy="98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dirty="0"/>
              <a:t>Using nlmixr2autoinit Initial Estimates in nlmixr2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B6CAA-FC2B-D65A-4E51-B8B5F9DB6E98}"/>
              </a:ext>
            </a:extLst>
          </p:cNvPr>
          <p:cNvSpPr txBox="1"/>
          <p:nvPr/>
        </p:nvSpPr>
        <p:spPr>
          <a:xfrm>
            <a:off x="5867302" y="2194064"/>
            <a:ext cx="3399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Ru</a:t>
            </a:r>
            <a:r>
              <a:rPr lang="en-US" altLang="zh-CN" sz="1400" dirty="0"/>
              <a:t>n nlmixr2 for parameter estimation</a:t>
            </a:r>
            <a:endParaRPr lang="en-GB" sz="14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48B48D7D-42C2-81D9-FB12-77199FF0AACC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E9EE934D-CEB8-E731-5257-09D805AC128C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2484CB22-B5F8-A4B5-33C3-3B4D24B2E7FA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98BF102A-9319-8A5D-5511-AEE42AD4CA66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nlmixr2autoinit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C7921F79-8ECF-7DE2-8DB9-9A6AD72AD721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BF2B942A-7B23-56D0-5519-72D7728CB2AC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1A0DF6-38DE-5B74-FF4B-A1D169C8D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098" y="2585595"/>
            <a:ext cx="5662151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7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4F307-93AA-F881-6D0F-08222CA0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DB5372E-8219-E652-4E24-E750847A2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1584" y="4509120"/>
            <a:ext cx="7056784" cy="792088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chemeClr val="tx2"/>
                </a:solidFill>
                <a:latin typeface="+mj-lt"/>
              </a:rPr>
              <a:t>Zh</a:t>
            </a:r>
            <a:r>
              <a:rPr lang="en-US" altLang="zh-CN" b="1" dirty="0">
                <a:solidFill>
                  <a:schemeClr val="tx2"/>
                </a:solidFill>
                <a:latin typeface="+mj-lt"/>
              </a:rPr>
              <a:t>on</a:t>
            </a:r>
            <a:r>
              <a:rPr lang="en-GB" b="1" dirty="0" err="1">
                <a:solidFill>
                  <a:schemeClr val="tx2"/>
                </a:solidFill>
                <a:latin typeface="+mj-lt"/>
              </a:rPr>
              <a:t>ghui</a:t>
            </a:r>
            <a:r>
              <a:rPr lang="en-GB" b="1" dirty="0">
                <a:solidFill>
                  <a:schemeClr val="tx2"/>
                </a:solidFill>
                <a:latin typeface="+mj-lt"/>
              </a:rPr>
              <a:t> Huang</a:t>
            </a:r>
            <a:endParaRPr kumimoji="0" lang="en-GB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6CDC33-7E2A-7FB8-2B86-65A355F45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2" y="1556792"/>
            <a:ext cx="9289032" cy="1368152"/>
          </a:xfrm>
        </p:spPr>
        <p:txBody>
          <a:bodyPr>
            <a:normAutofit/>
          </a:bodyPr>
          <a:lstStyle/>
          <a:p>
            <a:r>
              <a:rPr lang="en-GB" dirty="0"/>
              <a:t>Automated Model building and selection with </a:t>
            </a:r>
            <a:r>
              <a:rPr lang="en-GB" sz="3600" dirty="0">
                <a:solidFill>
                  <a:schemeClr val="tx2"/>
                </a:solidFill>
              </a:rPr>
              <a:t>nlmixr2auto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2B878-6E5C-700B-C998-D36F88806BB4}"/>
              </a:ext>
            </a:extLst>
          </p:cNvPr>
          <p:cNvSpPr txBox="1"/>
          <p:nvPr/>
        </p:nvSpPr>
        <p:spPr>
          <a:xfrm>
            <a:off x="2832563" y="3286726"/>
            <a:ext cx="6094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nlmixr2 Course 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PAGE 2026, Dubrovnik, Croatia </a:t>
            </a:r>
          </a:p>
        </p:txBody>
      </p:sp>
    </p:spTree>
    <p:extLst>
      <p:ext uri="{BB962C8B-B14F-4D97-AF65-F5344CB8AC3E}">
        <p14:creationId xmlns:p14="http://schemas.microsoft.com/office/powerpoint/2010/main" val="2198910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6F349-8367-2B6F-AAE1-E7533B24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AB1B-D493-0398-54A0-28AC88F6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nlmixr2auto: automated </a:t>
            </a:r>
            <a:r>
              <a:rPr lang="en-GB" dirty="0" err="1"/>
              <a:t>PopPK</a:t>
            </a:r>
            <a:r>
              <a:rPr lang="en-GB" dirty="0"/>
              <a:t> modelling for nlmixr2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22F65-1851-D77A-5D02-A7373FBE4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239801"/>
            <a:ext cx="9505056" cy="518457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chemeClr val="tx2"/>
                </a:solidFill>
                <a:latin typeface="+mn-lt"/>
              </a:rPr>
              <a:t>nlmixr2auto is an open-source R package for automated population pharmacokinetic model (</a:t>
            </a:r>
            <a:r>
              <a:rPr lang="en-GB" sz="1800" b="1" dirty="0" err="1">
                <a:solidFill>
                  <a:schemeClr val="tx2"/>
                </a:solidFill>
                <a:latin typeface="+mn-lt"/>
              </a:rPr>
              <a:t>PopPK</a:t>
            </a:r>
            <a:r>
              <a:rPr lang="en-GB" sz="1800" b="1" dirty="0">
                <a:solidFill>
                  <a:schemeClr val="tx2"/>
                </a:solidFill>
                <a:latin typeface="+mn-lt"/>
              </a:rPr>
              <a:t>) development within the nlmixr2 ecosystem</a:t>
            </a:r>
          </a:p>
          <a:p>
            <a:pPr marL="685800" lvl="1"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Released on CRAN in February 2026 (v1.0.0)</a:t>
            </a:r>
          </a:p>
          <a:p>
            <a:pPr marL="685800" lvl="1"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Enables end-to-end </a:t>
            </a:r>
            <a:r>
              <a:rPr lang="en-GB" sz="1600" dirty="0" err="1">
                <a:solidFill>
                  <a:schemeClr val="tx1"/>
                </a:solidFill>
                <a:latin typeface="+mn-lt"/>
              </a:rPr>
              <a:t>PopPK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model development with minimal user intervention</a:t>
            </a:r>
          </a:p>
          <a:p>
            <a:pPr marL="685800" lvl="1"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Integrates data-driven initialisation, model fitting, evaluation, and automated model selection</a:t>
            </a:r>
          </a:p>
          <a:p>
            <a:pPr marL="685800" lvl="1">
              <a:lnSpc>
                <a:spcPct val="15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Supports multiple optimisation strategies, including genetic algorithms, ant colony optimisation, tabu search, and stepwise 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BA4E0-B399-E0C7-61FC-46EA42CA57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7D9F132-13CD-843A-AC77-D607FC1F9FD6}"/>
              </a:ext>
            </a:extLst>
          </p:cNvPr>
          <p:cNvSpPr/>
          <p:nvPr/>
        </p:nvSpPr>
        <p:spPr>
          <a:xfrm>
            <a:off x="839416" y="4924200"/>
            <a:ext cx="8412480" cy="953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CRAN: </a:t>
            </a:r>
            <a:r>
              <a:rPr lang="nn-NO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https://CRAN.R-project.org/package=nlmixr2auto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 GitHub: https://github.com/ucl-pharmacometrics/nlmixr2auto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[c] PAGE 32 (2024) </a:t>
            </a:r>
            <a:r>
              <a:rPr lang="en-US" sz="14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11272 [www.page-meeting.org/?abstract=11272]</a:t>
            </a:r>
          </a:p>
          <a:p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PAGE 34 (2026) </a:t>
            </a:r>
            <a:r>
              <a:rPr lang="en-US" sz="14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12080 [www.page-meeting.org/?abstract=12080]</a:t>
            </a:r>
            <a:endParaRPr lang="en-US" sz="1400" dirty="0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18113EB7-EC13-B575-76F9-87227017E4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59563" y="6564883"/>
            <a:ext cx="7392821" cy="230400"/>
          </a:xfrm>
        </p:spPr>
        <p:txBody>
          <a:bodyPr/>
          <a:lstStyle/>
          <a:p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</a:t>
            </a:r>
            <a:r>
              <a:rPr lang="en-GB" baseline="30000" dirty="0">
                <a:solidFill>
                  <a:srgbClr val="B40000"/>
                </a:solidFill>
              </a:rPr>
              <a:t>2</a:t>
            </a:r>
            <a:r>
              <a:rPr lang="en-GB" dirty="0"/>
              <a:t> development team</a:t>
            </a: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EA5EEA1-2086-0B68-0637-86A4D82F3C7F}"/>
              </a:ext>
            </a:extLst>
          </p:cNvPr>
          <p:cNvSpPr/>
          <p:nvPr/>
        </p:nvSpPr>
        <p:spPr>
          <a:xfrm>
            <a:off x="3297944" y="6491227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 I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AF0186FB-1491-FDDB-538A-0EFFDCEE6095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48548FD-E418-26F6-E9F8-92A5DD376D33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772D258B-BA26-20A9-92FE-C3AA62C0F268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5F6E3BA4-3ED2-5EB5-9012-4B14075B80FC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altLang="zh-CN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ands-on</a:t>
            </a:r>
            <a:endParaRPr lang="en-US" sz="850" dirty="0">
              <a:solidFill>
                <a:srgbClr val="8FAF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F4F21F73-6157-F05B-9D87-C79E7A2D36F0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BAE6AFAD-CCFA-70BB-E07F-A0528FDEAE04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3162379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16355-D92D-BFA6-0468-590C7ACD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E250-C374-E672-9230-89FA8EC0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example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DA8646B-CDC5-8E71-DDBE-0314DA6DF3A8}"/>
              </a:ext>
            </a:extLst>
          </p:cNvPr>
          <p:cNvSpPr/>
          <p:nvPr/>
        </p:nvSpPr>
        <p:spPr>
          <a:xfrm>
            <a:off x="3661181" y="1446960"/>
            <a:ext cx="4900398" cy="4576487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lstStyle/>
          <a:p>
            <a:endParaRPr lang="en-GB" sz="1400" b="1">
              <a:solidFill>
                <a:srgbClr val="FFFFFF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1A3BEE-4072-A32D-2E88-67C9F72913FC}"/>
              </a:ext>
            </a:extLst>
          </p:cNvPr>
          <p:cNvSpPr/>
          <p:nvPr/>
        </p:nvSpPr>
        <p:spPr>
          <a:xfrm>
            <a:off x="3813537" y="1600381"/>
            <a:ext cx="4205571" cy="358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outs &lt;- sf.operator(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AF52622-09CF-2585-2396-D279B71434A2}"/>
              </a:ext>
            </a:extLst>
          </p:cNvPr>
          <p:cNvSpPr/>
          <p:nvPr/>
        </p:nvSpPr>
        <p:spPr>
          <a:xfrm>
            <a:off x="3645078" y="1713934"/>
            <a:ext cx="5571756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FB73EE3-1FCB-388F-BEA2-A8C2E12306FB}"/>
              </a:ext>
            </a:extLst>
          </p:cNvPr>
          <p:cNvSpPr/>
          <p:nvPr/>
        </p:nvSpPr>
        <p:spPr>
          <a:xfrm>
            <a:off x="3650810" y="1935807"/>
            <a:ext cx="3890405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dat          = 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pheno_sd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3925E95-0B57-A39F-271F-CFD0A70B3873}"/>
              </a:ext>
            </a:extLst>
          </p:cNvPr>
          <p:cNvSpPr/>
          <p:nvPr/>
        </p:nvSpPr>
        <p:spPr>
          <a:xfrm>
            <a:off x="3666359" y="2252330"/>
            <a:ext cx="4231463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param_table  = NULL,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0761C0-5208-8950-2A5A-65137DBCD3F9}"/>
              </a:ext>
            </a:extLst>
          </p:cNvPr>
          <p:cNvSpPr/>
          <p:nvPr/>
        </p:nvSpPr>
        <p:spPr>
          <a:xfrm>
            <a:off x="3667132" y="2558558"/>
            <a:ext cx="4681788" cy="289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search.space = "ivbase",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712D849-512F-BA7E-7729-8A4C8FE97D04}"/>
              </a:ext>
            </a:extLst>
          </p:cNvPr>
          <p:cNvSpPr/>
          <p:nvPr/>
        </p:nvSpPr>
        <p:spPr>
          <a:xfrm>
            <a:off x="3653016" y="2934318"/>
            <a:ext cx="5285762" cy="4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filename     = "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pheno_sd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foldername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"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pheno_sd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9C3F559-71AB-A43F-67DB-A1821EC19825}"/>
              </a:ext>
            </a:extLst>
          </p:cNvPr>
          <p:cNvSpPr/>
          <p:nvPr/>
        </p:nvSpPr>
        <p:spPr>
          <a:xfrm>
            <a:off x="3645078" y="3308433"/>
            <a:ext cx="5571756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F4326FF2-CE85-BC50-F32E-2E71B11FBBC4}"/>
              </a:ext>
            </a:extLst>
          </p:cNvPr>
          <p:cNvSpPr/>
          <p:nvPr/>
        </p:nvSpPr>
        <p:spPr>
          <a:xfrm>
            <a:off x="3652343" y="3473227"/>
            <a:ext cx="4885160" cy="3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steps         = 1234567,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329C9962-3D5B-0405-5142-30A8E292C85A}"/>
              </a:ext>
            </a:extLst>
          </p:cNvPr>
          <p:cNvSpPr/>
          <p:nvPr/>
        </p:nvSpPr>
        <p:spPr>
          <a:xfrm>
            <a:off x="3655483" y="3826015"/>
            <a:ext cx="4882021" cy="312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penalty.control = penaltyControl(),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0E5AC83F-C7A4-0C13-3B5E-AA5E72409A5A}"/>
              </a:ext>
            </a:extLst>
          </p:cNvPr>
          <p:cNvSpPr/>
          <p:nvPr/>
        </p:nvSpPr>
        <p:spPr>
          <a:xfrm>
            <a:off x="3645078" y="4371438"/>
            <a:ext cx="5571756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7E63F692-58FA-3567-EB65-BE2AB7FEE2C0}"/>
              </a:ext>
            </a:extLst>
          </p:cNvPr>
          <p:cNvSpPr/>
          <p:nvPr/>
        </p:nvSpPr>
        <p:spPr>
          <a:xfrm>
            <a:off x="3975973" y="4126145"/>
            <a:ext cx="4561530" cy="825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saem.control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saemControl(nBurn = 200, nEm = 300, 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rxControl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(cores = 4), 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logLik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TRUE),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56359E5C-F203-35D4-EA3E-6B215CC2064A}"/>
              </a:ext>
            </a:extLst>
          </p:cNvPr>
          <p:cNvSpPr/>
          <p:nvPr/>
        </p:nvSpPr>
        <p:spPr>
          <a:xfrm>
            <a:off x="3645078" y="5434438"/>
            <a:ext cx="5571756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E9A432E4-032B-E2D2-FACB-E2310982C6A0}"/>
              </a:ext>
            </a:extLst>
          </p:cNvPr>
          <p:cNvSpPr/>
          <p:nvPr/>
        </p:nvSpPr>
        <p:spPr>
          <a:xfrm>
            <a:off x="3653016" y="4988557"/>
            <a:ext cx="5102425" cy="342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table.control = tableControl(cwres = TRUE),</a:t>
            </a:r>
          </a:p>
          <a:p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B445B98B-FCD4-482C-5BFA-5A74CB12D5D5}"/>
              </a:ext>
            </a:extLst>
          </p:cNvPr>
          <p:cNvSpPr/>
          <p:nvPr/>
        </p:nvSpPr>
        <p:spPr>
          <a:xfrm>
            <a:off x="3719731" y="5186750"/>
            <a:ext cx="4695905" cy="45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max_wall_time = 2 * 60 * 60 )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ED377EEE-6274-E3DE-49C2-49F572F41506}"/>
              </a:ext>
            </a:extLst>
          </p:cNvPr>
          <p:cNvSpPr/>
          <p:nvPr/>
        </p:nvSpPr>
        <p:spPr>
          <a:xfrm>
            <a:off x="3842408" y="5604561"/>
            <a:ext cx="3890405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2F4ED8C3-851D-D104-DA03-7D4001283746}"/>
              </a:ext>
            </a:extLst>
          </p:cNvPr>
          <p:cNvSpPr/>
          <p:nvPr/>
        </p:nvSpPr>
        <p:spPr>
          <a:xfrm>
            <a:off x="3661181" y="1446960"/>
            <a:ext cx="4900398" cy="4576487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lstStyle/>
          <a:p>
            <a:endParaRPr lang="en-GB" sz="1400" b="1">
              <a:solidFill>
                <a:srgbClr val="FFFFFF"/>
              </a:solidFill>
            </a:endParaRPr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6F9857FF-CBE5-A48E-F5BD-9A54C7932547}"/>
              </a:ext>
            </a:extLst>
          </p:cNvPr>
          <p:cNvSpPr/>
          <p:nvPr/>
        </p:nvSpPr>
        <p:spPr>
          <a:xfrm>
            <a:off x="3813537" y="1600381"/>
            <a:ext cx="4205571" cy="358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outs &lt;- sf.operator(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159DCE85-AE4B-6094-659F-79D9BE8E8258}"/>
              </a:ext>
            </a:extLst>
          </p:cNvPr>
          <p:cNvSpPr/>
          <p:nvPr/>
        </p:nvSpPr>
        <p:spPr>
          <a:xfrm>
            <a:off x="3645078" y="1713934"/>
            <a:ext cx="5571756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97A9EFBA-1426-0633-5452-661027BBC2CD}"/>
              </a:ext>
            </a:extLst>
          </p:cNvPr>
          <p:cNvSpPr/>
          <p:nvPr/>
        </p:nvSpPr>
        <p:spPr>
          <a:xfrm>
            <a:off x="3650810" y="1935807"/>
            <a:ext cx="3890405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dat          = 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pheno_sd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9A26F1C1-B108-3FB7-277D-50E0062B302E}"/>
              </a:ext>
            </a:extLst>
          </p:cNvPr>
          <p:cNvSpPr/>
          <p:nvPr/>
        </p:nvSpPr>
        <p:spPr>
          <a:xfrm>
            <a:off x="3666359" y="2252330"/>
            <a:ext cx="4231463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param_table  = NULL,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A425C496-6D26-D9F9-8874-917038AFAAD7}"/>
              </a:ext>
            </a:extLst>
          </p:cNvPr>
          <p:cNvSpPr/>
          <p:nvPr/>
        </p:nvSpPr>
        <p:spPr>
          <a:xfrm>
            <a:off x="3667132" y="2558558"/>
            <a:ext cx="4681788" cy="289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search.space = "ivbase",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F07444F3-098E-89CA-8B16-7CD1A038A9C6}"/>
              </a:ext>
            </a:extLst>
          </p:cNvPr>
          <p:cNvSpPr/>
          <p:nvPr/>
        </p:nvSpPr>
        <p:spPr>
          <a:xfrm>
            <a:off x="3653016" y="2934318"/>
            <a:ext cx="5285762" cy="45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filename     = "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pheno_sd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foldername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"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pheno_sd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ECCED2C4-F1B3-5F8E-BEEE-FD411D6FBA44}"/>
              </a:ext>
            </a:extLst>
          </p:cNvPr>
          <p:cNvSpPr/>
          <p:nvPr/>
        </p:nvSpPr>
        <p:spPr>
          <a:xfrm>
            <a:off x="3645078" y="3308433"/>
            <a:ext cx="5571756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D93C6F69-1D26-AE6A-1F74-FA201804BFC0}"/>
              </a:ext>
            </a:extLst>
          </p:cNvPr>
          <p:cNvSpPr/>
          <p:nvPr/>
        </p:nvSpPr>
        <p:spPr>
          <a:xfrm>
            <a:off x="3652343" y="3473227"/>
            <a:ext cx="4885160" cy="3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steps         = 1234567,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4DA1D0C7-DB19-2F19-2899-6CEB4BB84112}"/>
              </a:ext>
            </a:extLst>
          </p:cNvPr>
          <p:cNvSpPr/>
          <p:nvPr/>
        </p:nvSpPr>
        <p:spPr>
          <a:xfrm>
            <a:off x="3655483" y="3826015"/>
            <a:ext cx="4882021" cy="312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penalty.control = penaltyControl(),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FB833A16-1BBD-72A6-4832-78B2AB4E7C1F}"/>
              </a:ext>
            </a:extLst>
          </p:cNvPr>
          <p:cNvSpPr/>
          <p:nvPr/>
        </p:nvSpPr>
        <p:spPr>
          <a:xfrm>
            <a:off x="3645078" y="4371438"/>
            <a:ext cx="5571756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2" name="Text 17">
            <a:extLst>
              <a:ext uri="{FF2B5EF4-FFF2-40B4-BE49-F238E27FC236}">
                <a16:creationId xmlns:a16="http://schemas.microsoft.com/office/drawing/2014/main" id="{118FA822-614C-A44F-DEE7-3F3DC8951C90}"/>
              </a:ext>
            </a:extLst>
          </p:cNvPr>
          <p:cNvSpPr/>
          <p:nvPr/>
        </p:nvSpPr>
        <p:spPr>
          <a:xfrm>
            <a:off x="3975973" y="4126145"/>
            <a:ext cx="4561530" cy="825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saem.control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saemControl(nBurn = 200, nEm = 300, 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rxControl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(cores = 4), </a:t>
            </a: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logLik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TRUE),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7A7E5D5D-65CE-D4B8-9ED4-D4640C06A81E}"/>
              </a:ext>
            </a:extLst>
          </p:cNvPr>
          <p:cNvSpPr/>
          <p:nvPr/>
        </p:nvSpPr>
        <p:spPr>
          <a:xfrm>
            <a:off x="3645078" y="5434438"/>
            <a:ext cx="5571756" cy="2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FA51218C-19C8-68E2-2F5F-951EE547B010}"/>
              </a:ext>
            </a:extLst>
          </p:cNvPr>
          <p:cNvSpPr/>
          <p:nvPr/>
        </p:nvSpPr>
        <p:spPr>
          <a:xfrm>
            <a:off x="3653016" y="4988557"/>
            <a:ext cx="5102425" cy="342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table.control = tableControl(cwres = TRUE),</a:t>
            </a:r>
          </a:p>
          <a:p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1A3B609E-7028-5A79-6DB7-996409CB8C46}"/>
              </a:ext>
            </a:extLst>
          </p:cNvPr>
          <p:cNvSpPr/>
          <p:nvPr/>
        </p:nvSpPr>
        <p:spPr>
          <a:xfrm>
            <a:off x="3719731" y="5186750"/>
            <a:ext cx="4695905" cy="45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max_wall_time = 2 * 60 * 60 )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66" name="Shape 26">
            <a:extLst>
              <a:ext uri="{FF2B5EF4-FFF2-40B4-BE49-F238E27FC236}">
                <a16:creationId xmlns:a16="http://schemas.microsoft.com/office/drawing/2014/main" id="{CA0BB056-C402-D6E8-DD61-17FBE7130A94}"/>
              </a:ext>
            </a:extLst>
          </p:cNvPr>
          <p:cNvSpPr/>
          <p:nvPr/>
        </p:nvSpPr>
        <p:spPr>
          <a:xfrm>
            <a:off x="653420" y="1267763"/>
            <a:ext cx="2841597" cy="1121725"/>
          </a:xfrm>
          <a:prstGeom prst="rect">
            <a:avLst/>
          </a:prstGeom>
          <a:solidFill>
            <a:srgbClr val="F1EAEF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GB" sz="3200">
              <a:solidFill>
                <a:srgbClr val="F1EAEF"/>
              </a:solidFill>
            </a:endParaRPr>
          </a:p>
        </p:txBody>
      </p:sp>
      <p:sp>
        <p:nvSpPr>
          <p:cNvPr id="67" name="Text 27">
            <a:extLst>
              <a:ext uri="{FF2B5EF4-FFF2-40B4-BE49-F238E27FC236}">
                <a16:creationId xmlns:a16="http://schemas.microsoft.com/office/drawing/2014/main" id="{07638402-1368-3009-2891-268558A4DD41}"/>
              </a:ext>
            </a:extLst>
          </p:cNvPr>
          <p:cNvSpPr/>
          <p:nvPr/>
        </p:nvSpPr>
        <p:spPr>
          <a:xfrm>
            <a:off x="757627" y="1335064"/>
            <a:ext cx="2693588" cy="1067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search algorithm</a:t>
            </a:r>
            <a:r>
              <a:rPr lang="en-US" sz="11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</a:t>
            </a:r>
            <a:r>
              <a:rPr lang="en-GB" sz="110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sf.operator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to </a:t>
            </a:r>
            <a:r>
              <a:rPr lang="en-GB" sz="110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ga.operator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(), </a:t>
            </a:r>
            <a:r>
              <a:rPr lang="en-GB" sz="110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aco.operator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(), or </a:t>
            </a:r>
            <a:r>
              <a:rPr lang="en-GB" sz="110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tabu.operator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to switch between stepwise, GA, ACO, and tabu search strategies.</a:t>
            </a:r>
            <a:endParaRPr lang="en-US" sz="1050" dirty="0">
              <a:solidFill>
                <a:srgbClr val="2621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8" name="Shape 28">
            <a:extLst>
              <a:ext uri="{FF2B5EF4-FFF2-40B4-BE49-F238E27FC236}">
                <a16:creationId xmlns:a16="http://schemas.microsoft.com/office/drawing/2014/main" id="{D8C8A095-744D-20AD-559C-B1B9DC3EE9BB}"/>
              </a:ext>
            </a:extLst>
          </p:cNvPr>
          <p:cNvSpPr/>
          <p:nvPr/>
        </p:nvSpPr>
        <p:spPr>
          <a:xfrm>
            <a:off x="3511449" y="1558995"/>
            <a:ext cx="177283" cy="193776"/>
          </a:xfrm>
          <a:prstGeom prst="ellipse">
            <a:avLst/>
          </a:prstGeom>
          <a:solidFill>
            <a:srgbClr val="1A2A3A"/>
          </a:solidFill>
          <a:ln w="444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69" name="Shape 29">
            <a:extLst>
              <a:ext uri="{FF2B5EF4-FFF2-40B4-BE49-F238E27FC236}">
                <a16:creationId xmlns:a16="http://schemas.microsoft.com/office/drawing/2014/main" id="{FEA5523B-645C-AC93-7D0D-07E7F23B60C1}"/>
              </a:ext>
            </a:extLst>
          </p:cNvPr>
          <p:cNvSpPr/>
          <p:nvPr/>
        </p:nvSpPr>
        <p:spPr>
          <a:xfrm>
            <a:off x="3639673" y="1638269"/>
            <a:ext cx="1193747" cy="90066"/>
          </a:xfrm>
          <a:prstGeom prst="line">
            <a:avLst/>
          </a:prstGeom>
          <a:noFill/>
          <a:ln w="444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0E4D57EE-964A-B94F-2832-D3DE64331943}"/>
              </a:ext>
            </a:extLst>
          </p:cNvPr>
          <p:cNvSpPr/>
          <p:nvPr/>
        </p:nvSpPr>
        <p:spPr>
          <a:xfrm>
            <a:off x="649959" y="2917219"/>
            <a:ext cx="2869247" cy="1755371"/>
          </a:xfrm>
          <a:prstGeom prst="rect">
            <a:avLst/>
          </a:prstGeom>
          <a:solidFill>
            <a:srgbClr val="F1EAEF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GB" sz="3200">
              <a:solidFill>
                <a:srgbClr val="F1EAEF"/>
              </a:solidFill>
            </a:endParaRPr>
          </a:p>
        </p:txBody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0C542DE9-86E9-1021-7915-3C416B1437D4}"/>
              </a:ext>
            </a:extLst>
          </p:cNvPr>
          <p:cNvSpPr/>
          <p:nvPr/>
        </p:nvSpPr>
        <p:spPr>
          <a:xfrm>
            <a:off x="777298" y="3030947"/>
            <a:ext cx="2621674" cy="1556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search algorithms</a:t>
            </a: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customise which model components are searched and the order in which they are tested via </a:t>
            </a:r>
            <a:r>
              <a:rPr lang="en-GB" sz="1100" i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where each digit maps to a component: 1 = compartments, 2 = elimination type, 3 = IIV on K</a:t>
            </a:r>
            <a:r>
              <a:rPr lang="en-GB" sz="1100" baseline="-250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4 = IIV on K</a:t>
            </a:r>
            <a:r>
              <a:rPr lang="en-GB" sz="1100" baseline="-250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5 = structural IIV, 6 = correlations, 7 = error model.</a:t>
            </a:r>
            <a:endParaRPr lang="en-US" sz="1100" dirty="0"/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19293548-E61B-ACB3-541F-90BD0236DE9F}"/>
              </a:ext>
            </a:extLst>
          </p:cNvPr>
          <p:cNvSpPr/>
          <p:nvPr/>
        </p:nvSpPr>
        <p:spPr>
          <a:xfrm>
            <a:off x="649959" y="5063429"/>
            <a:ext cx="2838080" cy="1141948"/>
          </a:xfrm>
          <a:prstGeom prst="rect">
            <a:avLst/>
          </a:prstGeom>
          <a:solidFill>
            <a:srgbClr val="F1EAEF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GB" sz="3200">
              <a:solidFill>
                <a:srgbClr val="F1EAEF"/>
              </a:solidFill>
            </a:endParaRPr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96D21B18-E267-F332-4DA3-41D80ED7F77E}"/>
              </a:ext>
            </a:extLst>
          </p:cNvPr>
          <p:cNvSpPr/>
          <p:nvPr/>
        </p:nvSpPr>
        <p:spPr>
          <a:xfrm>
            <a:off x="802321" y="5197515"/>
            <a:ext cx="2609480" cy="916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SAEM estimation</a:t>
            </a:r>
            <a:r>
              <a:rPr lang="en-US" sz="1100" b="1" dirty="0">
                <a:solidFill>
                  <a:srgbClr val="4A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saemControl() allows users to tune burn-in, EM phases of nlmixr2 and other </a:t>
            </a:r>
            <a:r>
              <a:rPr lang="en-US" altLang="zh-CN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available.</a:t>
            </a:r>
            <a:endParaRPr lang="en-US" sz="1050" dirty="0">
              <a:solidFill>
                <a:srgbClr val="2621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4" name="Shape 38">
            <a:extLst>
              <a:ext uri="{FF2B5EF4-FFF2-40B4-BE49-F238E27FC236}">
                <a16:creationId xmlns:a16="http://schemas.microsoft.com/office/drawing/2014/main" id="{E5F85882-199D-813E-69D6-326B86165F87}"/>
              </a:ext>
            </a:extLst>
          </p:cNvPr>
          <p:cNvSpPr/>
          <p:nvPr/>
        </p:nvSpPr>
        <p:spPr>
          <a:xfrm>
            <a:off x="8694716" y="1267054"/>
            <a:ext cx="2927680" cy="1085267"/>
          </a:xfrm>
          <a:prstGeom prst="rect">
            <a:avLst/>
          </a:prstGeom>
          <a:solidFill>
            <a:srgbClr val="F1EAEF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GB" sz="3200">
              <a:solidFill>
                <a:srgbClr val="F1EAEF"/>
              </a:solidFill>
            </a:endParaRPr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D8B9A120-3EDE-EA4D-A816-0AEEB33A1890}"/>
              </a:ext>
            </a:extLst>
          </p:cNvPr>
          <p:cNvSpPr/>
          <p:nvPr/>
        </p:nvSpPr>
        <p:spPr>
          <a:xfrm>
            <a:off x="8817066" y="1325994"/>
            <a:ext cx="2703471" cy="98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Customised initial estimates</a:t>
            </a: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param_table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supply their own starting values for any parameter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When set to NULL, nlmixr2autoinit generates data-driven estimates.</a:t>
            </a:r>
            <a:endParaRPr lang="en-US" sz="1050" dirty="0">
              <a:solidFill>
                <a:srgbClr val="2621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6" name="Shape 42">
            <a:extLst>
              <a:ext uri="{FF2B5EF4-FFF2-40B4-BE49-F238E27FC236}">
                <a16:creationId xmlns:a16="http://schemas.microsoft.com/office/drawing/2014/main" id="{ECDBB077-0F1A-D6E2-5E09-24F600BEFDAE}"/>
              </a:ext>
            </a:extLst>
          </p:cNvPr>
          <p:cNvSpPr/>
          <p:nvPr/>
        </p:nvSpPr>
        <p:spPr>
          <a:xfrm>
            <a:off x="8711310" y="4118791"/>
            <a:ext cx="2879246" cy="1212573"/>
          </a:xfrm>
          <a:prstGeom prst="rect">
            <a:avLst/>
          </a:prstGeom>
          <a:solidFill>
            <a:srgbClr val="F1EAEF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GB" sz="3200">
              <a:solidFill>
                <a:srgbClr val="F1EAEF"/>
              </a:solidFill>
            </a:endParaRPr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70D58062-D7AB-154B-1374-5FA3F923DDD4}"/>
              </a:ext>
            </a:extLst>
          </p:cNvPr>
          <p:cNvSpPr/>
          <p:nvPr/>
        </p:nvSpPr>
        <p:spPr>
          <a:xfrm>
            <a:off x="8809742" y="4156739"/>
            <a:ext cx="2737567" cy="132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 fitness function</a:t>
            </a:r>
            <a:r>
              <a:rPr lang="en-US" sz="1100" b="1" dirty="0">
                <a:solidFill>
                  <a:srgbClr val="0D2E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penalty terms are available, including 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elative standard error (RSE), shrinkage, inter-individual variability (omega), residual error (sigma), correlation, and covariance penalties.</a:t>
            </a:r>
            <a:endParaRPr lang="en-US" sz="1050" dirty="0">
              <a:solidFill>
                <a:srgbClr val="2621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8" name="Shape 46">
            <a:extLst>
              <a:ext uri="{FF2B5EF4-FFF2-40B4-BE49-F238E27FC236}">
                <a16:creationId xmlns:a16="http://schemas.microsoft.com/office/drawing/2014/main" id="{C185E313-4FCC-BE10-8573-D63D8C3136E9}"/>
              </a:ext>
            </a:extLst>
          </p:cNvPr>
          <p:cNvSpPr/>
          <p:nvPr/>
        </p:nvSpPr>
        <p:spPr>
          <a:xfrm>
            <a:off x="8726556" y="5507343"/>
            <a:ext cx="2864000" cy="843482"/>
          </a:xfrm>
          <a:prstGeom prst="rect">
            <a:avLst/>
          </a:prstGeom>
          <a:solidFill>
            <a:srgbClr val="F1EAEF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GB" sz="3200">
              <a:solidFill>
                <a:srgbClr val="F1EAEF"/>
              </a:solidFill>
            </a:endParaRPr>
          </a:p>
        </p:txBody>
      </p:sp>
      <p:sp>
        <p:nvSpPr>
          <p:cNvPr id="79" name="Text 47">
            <a:extLst>
              <a:ext uri="{FF2B5EF4-FFF2-40B4-BE49-F238E27FC236}">
                <a16:creationId xmlns:a16="http://schemas.microsoft.com/office/drawing/2014/main" id="{3F325381-2829-ABB0-3B00-0CEE60ABF61C}"/>
              </a:ext>
            </a:extLst>
          </p:cNvPr>
          <p:cNvSpPr/>
          <p:nvPr/>
        </p:nvSpPr>
        <p:spPr>
          <a:xfrm>
            <a:off x="8808251" y="5595061"/>
            <a:ext cx="2696678" cy="80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scalable automation</a:t>
            </a:r>
            <a:r>
              <a:rPr lang="en-US" sz="1100" b="1" dirty="0">
                <a:solidFill>
                  <a:srgbClr val="3A1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GB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per-model time budget prevents any single model from blocking the search. </a:t>
            </a:r>
            <a:endParaRPr lang="en-US" sz="1050" dirty="0">
              <a:solidFill>
                <a:srgbClr val="2621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0" name="Shape 28">
            <a:extLst>
              <a:ext uri="{FF2B5EF4-FFF2-40B4-BE49-F238E27FC236}">
                <a16:creationId xmlns:a16="http://schemas.microsoft.com/office/drawing/2014/main" id="{64ED12E0-4B89-4255-FF12-5319CC0F95ED}"/>
              </a:ext>
            </a:extLst>
          </p:cNvPr>
          <p:cNvSpPr/>
          <p:nvPr/>
        </p:nvSpPr>
        <p:spPr>
          <a:xfrm>
            <a:off x="3486459" y="3481891"/>
            <a:ext cx="177283" cy="193776"/>
          </a:xfrm>
          <a:prstGeom prst="ellipse">
            <a:avLst/>
          </a:prstGeom>
          <a:solidFill>
            <a:srgbClr val="1A2A3A"/>
          </a:solidFill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1" name="Shape 28">
            <a:extLst>
              <a:ext uri="{FF2B5EF4-FFF2-40B4-BE49-F238E27FC236}">
                <a16:creationId xmlns:a16="http://schemas.microsoft.com/office/drawing/2014/main" id="{C27DAFAA-9080-586E-0A01-60F0ACC25064}"/>
              </a:ext>
            </a:extLst>
          </p:cNvPr>
          <p:cNvSpPr/>
          <p:nvPr/>
        </p:nvSpPr>
        <p:spPr>
          <a:xfrm>
            <a:off x="3476919" y="5268320"/>
            <a:ext cx="177283" cy="193776"/>
          </a:xfrm>
          <a:prstGeom prst="ellipse">
            <a:avLst/>
          </a:prstGeom>
          <a:solidFill>
            <a:srgbClr val="1A2A3A"/>
          </a:solidFill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2" name="Shape 33">
            <a:extLst>
              <a:ext uri="{FF2B5EF4-FFF2-40B4-BE49-F238E27FC236}">
                <a16:creationId xmlns:a16="http://schemas.microsoft.com/office/drawing/2014/main" id="{4B764CC4-14FA-8A03-818C-C45122B8EF79}"/>
              </a:ext>
            </a:extLst>
          </p:cNvPr>
          <p:cNvSpPr/>
          <p:nvPr/>
        </p:nvSpPr>
        <p:spPr>
          <a:xfrm>
            <a:off x="3556270" y="3571525"/>
            <a:ext cx="419703" cy="59739"/>
          </a:xfrm>
          <a:prstGeom prst="line">
            <a:avLst/>
          </a:prstGeom>
          <a:noFill/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3" name="Shape 37">
            <a:extLst>
              <a:ext uri="{FF2B5EF4-FFF2-40B4-BE49-F238E27FC236}">
                <a16:creationId xmlns:a16="http://schemas.microsoft.com/office/drawing/2014/main" id="{86AE6425-E3C2-9CC5-976E-E0423101635D}"/>
              </a:ext>
            </a:extLst>
          </p:cNvPr>
          <p:cNvSpPr/>
          <p:nvPr/>
        </p:nvSpPr>
        <p:spPr>
          <a:xfrm flipV="1">
            <a:off x="3573506" y="4371432"/>
            <a:ext cx="373549" cy="959930"/>
          </a:xfrm>
          <a:prstGeom prst="line">
            <a:avLst/>
          </a:prstGeom>
          <a:noFill/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914BD73C-6D03-1398-328F-AB0830565583}"/>
              </a:ext>
            </a:extLst>
          </p:cNvPr>
          <p:cNvSpPr/>
          <p:nvPr/>
        </p:nvSpPr>
        <p:spPr>
          <a:xfrm>
            <a:off x="8533247" y="1585866"/>
            <a:ext cx="177283" cy="193776"/>
          </a:xfrm>
          <a:prstGeom prst="ellipse">
            <a:avLst/>
          </a:prstGeom>
          <a:solidFill>
            <a:srgbClr val="1A2A3A"/>
          </a:solidFill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5" name="Shape 41">
            <a:extLst>
              <a:ext uri="{FF2B5EF4-FFF2-40B4-BE49-F238E27FC236}">
                <a16:creationId xmlns:a16="http://schemas.microsoft.com/office/drawing/2014/main" id="{583EE9D7-D326-27A8-2A5E-1C9EC3197A67}"/>
              </a:ext>
            </a:extLst>
          </p:cNvPr>
          <p:cNvSpPr/>
          <p:nvPr/>
        </p:nvSpPr>
        <p:spPr>
          <a:xfrm flipH="1">
            <a:off x="6168535" y="1682713"/>
            <a:ext cx="2454930" cy="686006"/>
          </a:xfrm>
          <a:prstGeom prst="line">
            <a:avLst/>
          </a:prstGeom>
          <a:noFill/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6" name="Shape 28">
            <a:extLst>
              <a:ext uri="{FF2B5EF4-FFF2-40B4-BE49-F238E27FC236}">
                <a16:creationId xmlns:a16="http://schemas.microsoft.com/office/drawing/2014/main" id="{23E5BD5F-79A8-7DAF-5924-B1476A56095C}"/>
              </a:ext>
            </a:extLst>
          </p:cNvPr>
          <p:cNvSpPr/>
          <p:nvPr/>
        </p:nvSpPr>
        <p:spPr>
          <a:xfrm>
            <a:off x="8547803" y="4419554"/>
            <a:ext cx="177283" cy="193776"/>
          </a:xfrm>
          <a:prstGeom prst="ellipse">
            <a:avLst/>
          </a:prstGeom>
          <a:solidFill>
            <a:srgbClr val="1A2A3A"/>
          </a:solidFill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7" name="Shape 45">
            <a:extLst>
              <a:ext uri="{FF2B5EF4-FFF2-40B4-BE49-F238E27FC236}">
                <a16:creationId xmlns:a16="http://schemas.microsoft.com/office/drawing/2014/main" id="{EC85B42B-022C-023D-3043-0866CD2A04D6}"/>
              </a:ext>
            </a:extLst>
          </p:cNvPr>
          <p:cNvSpPr/>
          <p:nvPr/>
        </p:nvSpPr>
        <p:spPr>
          <a:xfrm>
            <a:off x="7657980" y="3957649"/>
            <a:ext cx="967383" cy="544149"/>
          </a:xfrm>
          <a:prstGeom prst="line">
            <a:avLst/>
          </a:prstGeom>
          <a:noFill/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8" name="Shape 28">
            <a:extLst>
              <a:ext uri="{FF2B5EF4-FFF2-40B4-BE49-F238E27FC236}">
                <a16:creationId xmlns:a16="http://schemas.microsoft.com/office/drawing/2014/main" id="{B4BB4133-F516-6119-8FA5-37017F077CD7}"/>
              </a:ext>
            </a:extLst>
          </p:cNvPr>
          <p:cNvSpPr/>
          <p:nvPr/>
        </p:nvSpPr>
        <p:spPr>
          <a:xfrm>
            <a:off x="8555539" y="5682193"/>
            <a:ext cx="177283" cy="193776"/>
          </a:xfrm>
          <a:prstGeom prst="ellipse">
            <a:avLst/>
          </a:prstGeom>
          <a:solidFill>
            <a:srgbClr val="1A2A3A"/>
          </a:solidFill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9" name="Shape 49">
            <a:extLst>
              <a:ext uri="{FF2B5EF4-FFF2-40B4-BE49-F238E27FC236}">
                <a16:creationId xmlns:a16="http://schemas.microsoft.com/office/drawing/2014/main" id="{1FF59B31-6467-0AC2-27C1-131D9B3747AF}"/>
              </a:ext>
            </a:extLst>
          </p:cNvPr>
          <p:cNvSpPr/>
          <p:nvPr/>
        </p:nvSpPr>
        <p:spPr>
          <a:xfrm flipH="1" flipV="1">
            <a:off x="7281446" y="5434437"/>
            <a:ext cx="1382353" cy="357410"/>
          </a:xfrm>
          <a:prstGeom prst="line">
            <a:avLst/>
          </a:prstGeom>
          <a:noFill/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A8CB9718-7587-8D20-4414-81081430053C}"/>
              </a:ext>
            </a:extLst>
          </p:cNvPr>
          <p:cNvSpPr/>
          <p:nvPr/>
        </p:nvSpPr>
        <p:spPr>
          <a:xfrm>
            <a:off x="3842408" y="5604561"/>
            <a:ext cx="3890405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1" name="Shape 38">
            <a:extLst>
              <a:ext uri="{FF2B5EF4-FFF2-40B4-BE49-F238E27FC236}">
                <a16:creationId xmlns:a16="http://schemas.microsoft.com/office/drawing/2014/main" id="{E481DB3D-8E8F-AADC-407A-0E23F7EC9B35}"/>
              </a:ext>
            </a:extLst>
          </p:cNvPr>
          <p:cNvSpPr/>
          <p:nvPr/>
        </p:nvSpPr>
        <p:spPr>
          <a:xfrm>
            <a:off x="8703667" y="2515586"/>
            <a:ext cx="2903710" cy="1426720"/>
          </a:xfrm>
          <a:prstGeom prst="rect">
            <a:avLst/>
          </a:prstGeom>
          <a:solidFill>
            <a:srgbClr val="F1EAEF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GB" sz="3200">
              <a:solidFill>
                <a:srgbClr val="F1EAEF"/>
              </a:solidFill>
            </a:endParaRPr>
          </a:p>
        </p:txBody>
      </p:sp>
      <p:sp>
        <p:nvSpPr>
          <p:cNvPr id="92" name="Text 39">
            <a:extLst>
              <a:ext uri="{FF2B5EF4-FFF2-40B4-BE49-F238E27FC236}">
                <a16:creationId xmlns:a16="http://schemas.microsoft.com/office/drawing/2014/main" id="{3FEA27F4-62E0-20F4-9F1D-B22A5E2BAB1B}"/>
              </a:ext>
            </a:extLst>
          </p:cNvPr>
          <p:cNvSpPr/>
          <p:nvPr/>
        </p:nvSpPr>
        <p:spPr>
          <a:xfrm>
            <a:off x="8838451" y="2597829"/>
            <a:ext cx="2737567" cy="1279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search </a:t>
            </a:r>
            <a:r>
              <a:rPr lang="en-US" altLang="zh-CN" sz="1400" b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400" b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</a:t>
            </a:r>
            <a:endParaRPr lang="en-US" sz="1400" b="1" dirty="0">
              <a:solidFill>
                <a:srgbClr val="2621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search.space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defines the scope of model components to be searched: </a:t>
            </a:r>
            <a:r>
              <a:rPr lang="en-US" sz="1100" i="1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ivbase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(compartments, elimination type, IIV on Km/</a:t>
            </a:r>
            <a:r>
              <a:rPr lang="en-US" sz="110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100" baseline="-2500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100" baseline="-2500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</a:t>
            </a:r>
            <a:r>
              <a:rPr lang="en-US" sz="1100" baseline="-250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/Q/Q</a:t>
            </a:r>
            <a:r>
              <a:rPr lang="en-US" sz="1100" baseline="-250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correlations, error model) or </a:t>
            </a:r>
            <a:r>
              <a:rPr lang="en-US" sz="1100" i="1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oralbase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further adds IIV on K</a:t>
            </a:r>
            <a:r>
              <a:rPr lang="en-US" sz="1100" baseline="-250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</a:p>
        </p:txBody>
      </p:sp>
      <p:sp>
        <p:nvSpPr>
          <p:cNvPr id="93" name="Shape 28">
            <a:extLst>
              <a:ext uri="{FF2B5EF4-FFF2-40B4-BE49-F238E27FC236}">
                <a16:creationId xmlns:a16="http://schemas.microsoft.com/office/drawing/2014/main" id="{3A9086AB-F21A-B152-E133-2A0B154DA238}"/>
              </a:ext>
            </a:extLst>
          </p:cNvPr>
          <p:cNvSpPr/>
          <p:nvPr/>
        </p:nvSpPr>
        <p:spPr>
          <a:xfrm>
            <a:off x="8517433" y="2785065"/>
            <a:ext cx="177283" cy="193024"/>
          </a:xfrm>
          <a:prstGeom prst="ellipse">
            <a:avLst/>
          </a:prstGeom>
          <a:solidFill>
            <a:srgbClr val="1A2A3A"/>
          </a:solidFill>
          <a:ln w="381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94" name="Shape 29">
            <a:extLst>
              <a:ext uri="{FF2B5EF4-FFF2-40B4-BE49-F238E27FC236}">
                <a16:creationId xmlns:a16="http://schemas.microsoft.com/office/drawing/2014/main" id="{7FF1A680-3828-D14A-BB1F-12396E4AAE4A}"/>
              </a:ext>
            </a:extLst>
          </p:cNvPr>
          <p:cNvSpPr/>
          <p:nvPr/>
        </p:nvSpPr>
        <p:spPr>
          <a:xfrm>
            <a:off x="6644242" y="2711344"/>
            <a:ext cx="1979224" cy="158105"/>
          </a:xfrm>
          <a:prstGeom prst="line">
            <a:avLst/>
          </a:prstGeom>
          <a:noFill/>
          <a:ln w="444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39" name="Footer Placeholder 2">
            <a:extLst>
              <a:ext uri="{FF2B5EF4-FFF2-40B4-BE49-F238E27FC236}">
                <a16:creationId xmlns:a16="http://schemas.microsoft.com/office/drawing/2014/main" id="{00C48099-89BD-7DBB-2347-F2C063250D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59563" y="6564883"/>
            <a:ext cx="7392821" cy="230400"/>
          </a:xfrm>
        </p:spPr>
        <p:txBody>
          <a:bodyPr/>
          <a:lstStyle/>
          <a:p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</a:t>
            </a:r>
            <a:r>
              <a:rPr lang="en-GB" baseline="30000" dirty="0">
                <a:solidFill>
                  <a:srgbClr val="B40000"/>
                </a:solidFill>
              </a:rPr>
              <a:t>2</a:t>
            </a:r>
            <a:r>
              <a:rPr lang="en-GB" dirty="0"/>
              <a:t> development team</a:t>
            </a: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67107115-6C34-03F2-28B4-9A2D4B49E57A}"/>
              </a:ext>
            </a:extLst>
          </p:cNvPr>
          <p:cNvSpPr/>
          <p:nvPr/>
        </p:nvSpPr>
        <p:spPr>
          <a:xfrm>
            <a:off x="3297944" y="6491227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 I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50B30AB1-FC1C-C1A9-83C5-FC092510896F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78E098B8-5CDF-C230-47B3-424D4FA136A9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60A18B2D-DA14-FD9D-0236-382BC2C26451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FD8EC3D-6CB5-CA23-6E51-7C4AB6D0927B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altLang="zh-CN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ands-on</a:t>
            </a:r>
            <a:endParaRPr lang="en-US" sz="850" dirty="0">
              <a:solidFill>
                <a:srgbClr val="8FAF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7F047738-A2AE-27EC-3990-A25CEC26F5B3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DE58331D-DF98-2B0D-9CA2-5D42C538EA54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14785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1" grpId="0" animBg="1"/>
      <p:bldP spid="92" grpId="0" animBg="1"/>
      <p:bldP spid="93" grpId="0" animBg="1"/>
      <p:bldP spid="9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12372-B5A5-A3A1-F644-62B6913B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59DFA-B94E-151B-7631-84E6588FE5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</a:t>
            </a:r>
            <a:r>
              <a:rPr lang="en-GB" baseline="30000" dirty="0">
                <a:solidFill>
                  <a:srgbClr val="B40000"/>
                </a:solidFill>
              </a:rPr>
              <a:t>2</a:t>
            </a:r>
            <a:r>
              <a:rPr lang="en-GB" dirty="0"/>
              <a:t> development team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48D5C-8744-9244-C62D-C59E3DDA16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" t="851" r="6144" b="50475"/>
          <a:stretch>
            <a:fillRect/>
          </a:stretch>
        </p:blipFill>
        <p:spPr>
          <a:xfrm>
            <a:off x="20180" y="1752671"/>
            <a:ext cx="6139390" cy="3698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2C78B8-B000-74A6-9727-9FAB0032BC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t="53507" r="12329" b="5085"/>
          <a:stretch>
            <a:fillRect/>
          </a:stretch>
        </p:blipFill>
        <p:spPr>
          <a:xfrm>
            <a:off x="6302297" y="1752671"/>
            <a:ext cx="5889703" cy="3574015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E4F5E6-7E9F-6E6D-C5E7-693FA9AF4BF7}"/>
              </a:ext>
            </a:extLst>
          </p:cNvPr>
          <p:cNvSpPr txBox="1">
            <a:spLocks/>
          </p:cNvSpPr>
          <p:nvPr/>
        </p:nvSpPr>
        <p:spPr>
          <a:xfrm>
            <a:off x="2159563" y="6564883"/>
            <a:ext cx="7392821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2">
                    <a:lumMod val="75000"/>
                  </a:schemeClr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DA8B40E-06B2-95B1-EBD2-248314B93261}"/>
              </a:ext>
            </a:extLst>
          </p:cNvPr>
          <p:cNvSpPr/>
          <p:nvPr/>
        </p:nvSpPr>
        <p:spPr>
          <a:xfrm>
            <a:off x="3297944" y="6491227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 I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898F235-5CDF-7367-47B0-177B679F95B2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43F0CE4-6273-5FF1-734E-3B94EEA8238B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7AFC76D-A4E3-FC23-328A-E481208875EE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FC600C5-DCB3-FF16-D2C6-331A093045D8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altLang="zh-CN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ands-on</a:t>
            </a:r>
            <a:endParaRPr lang="en-US" sz="850" dirty="0">
              <a:solidFill>
                <a:srgbClr val="8FAF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1399009-4D2D-DBD6-91C7-AD78E3B14F67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244250A-13A1-CBCE-06D5-9D2049A4858F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392C13-63CB-5F2A-793D-4E28CB0E0769}"/>
              </a:ext>
            </a:extLst>
          </p:cNvPr>
          <p:cNvSpPr txBox="1"/>
          <p:nvPr/>
        </p:nvSpPr>
        <p:spPr>
          <a:xfrm>
            <a:off x="5303912" y="5727577"/>
            <a:ext cx="66794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PAGE 34 (2026) </a:t>
            </a:r>
            <a:r>
              <a:rPr lang="en-GB" sz="1400" dirty="0" err="1"/>
              <a:t>Abstr</a:t>
            </a:r>
            <a:r>
              <a:rPr lang="en-GB" sz="1400" dirty="0"/>
              <a:t> 12080 [www.page-meeting.org/?abstract=12080]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76E2DBA4-18B1-9E8B-3B61-A07EC36A3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outputs</a:t>
            </a:r>
          </a:p>
        </p:txBody>
      </p:sp>
    </p:spTree>
    <p:extLst>
      <p:ext uri="{BB962C8B-B14F-4D97-AF65-F5344CB8AC3E}">
        <p14:creationId xmlns:p14="http://schemas.microsoft.com/office/powerpoint/2010/main" val="1636765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EF3BD-20FB-1C95-ED79-795A7388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46A37-D8FE-FCAD-0B4A-B48F5768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</a:t>
            </a:r>
            <a:r>
              <a:rPr lang="en-US" altLang="zh-CN" dirty="0" err="1"/>
              <a:t>ithub</a:t>
            </a:r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FA8468-E12F-9967-FBE1-F60C49B11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2" y="1196752"/>
            <a:ext cx="4286250" cy="4286250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2F9E6D3-528B-7B53-6C3B-87F673344F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59563" y="6564883"/>
            <a:ext cx="7392821" cy="230400"/>
          </a:xfrm>
        </p:spPr>
        <p:txBody>
          <a:bodyPr/>
          <a:lstStyle/>
          <a:p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</a:t>
            </a:r>
            <a:r>
              <a:rPr lang="en-GB" baseline="30000" dirty="0">
                <a:solidFill>
                  <a:srgbClr val="B40000"/>
                </a:solidFill>
              </a:rPr>
              <a:t>2</a:t>
            </a:r>
            <a:r>
              <a:rPr lang="en-GB" dirty="0"/>
              <a:t> development team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822E950-8E42-A354-FE57-C0F894CFB767}"/>
              </a:ext>
            </a:extLst>
          </p:cNvPr>
          <p:cNvSpPr txBox="1">
            <a:spLocks/>
          </p:cNvSpPr>
          <p:nvPr/>
        </p:nvSpPr>
        <p:spPr>
          <a:xfrm>
            <a:off x="2159563" y="6564883"/>
            <a:ext cx="7392821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2">
                    <a:lumMod val="75000"/>
                  </a:schemeClr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D2C3C54-33B4-044D-0FB6-1FE209C58F84}"/>
              </a:ext>
            </a:extLst>
          </p:cNvPr>
          <p:cNvSpPr/>
          <p:nvPr/>
        </p:nvSpPr>
        <p:spPr>
          <a:xfrm>
            <a:off x="3297944" y="6491227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 I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889AFB1-8232-6CB9-F22A-2B56F18F2013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143A42F-7905-F43A-6366-0C8E931ADA5B}"/>
              </a:ext>
            </a:extLst>
          </p:cNvPr>
          <p:cNvSpPr/>
          <p:nvPr/>
        </p:nvSpPr>
        <p:spPr>
          <a:xfrm>
            <a:off x="2516112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nlmixr2autoinit</a:t>
            </a: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EBBBF98D-B39A-105A-4618-32863E7EAEF2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ED8A6BD-49FC-26CA-0899-0A82899A67C3}"/>
              </a:ext>
            </a:extLst>
          </p:cNvPr>
          <p:cNvSpPr/>
          <p:nvPr/>
        </p:nvSpPr>
        <p:spPr>
          <a:xfrm>
            <a:off x="4738104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altLang="zh-CN" sz="850" dirty="0">
                <a:solidFill>
                  <a:srgbClr val="8F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ands-on</a:t>
            </a:r>
            <a:endParaRPr lang="en-US" sz="850" dirty="0">
              <a:solidFill>
                <a:srgbClr val="8FAF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57FCEB2E-D491-6183-3739-5112D07AC526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solidFill>
            <a:schemeClr val="tx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E2976FCC-9BDB-2374-1666-E1ED5C393525}"/>
              </a:ext>
            </a:extLst>
          </p:cNvPr>
          <p:cNvSpPr/>
          <p:nvPr/>
        </p:nvSpPr>
        <p:spPr>
          <a:xfrm>
            <a:off x="6960096" y="6448689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nlmixr2auto</a:t>
            </a:r>
          </a:p>
        </p:txBody>
      </p:sp>
    </p:spTree>
    <p:extLst>
      <p:ext uri="{BB962C8B-B14F-4D97-AF65-F5344CB8AC3E}">
        <p14:creationId xmlns:p14="http://schemas.microsoft.com/office/powerpoint/2010/main" val="1586950009"/>
      </p:ext>
    </p:extLst>
  </p:cSld>
  <p:clrMapOvr>
    <a:masterClrMapping/>
  </p:clrMapOvr>
</p:sld>
</file>

<file path=ppt/theme/theme1.xml><?xml version="1.0" encoding="utf-8"?>
<a:theme xmlns:a="http://schemas.openxmlformats.org/drawingml/2006/main" name="OccamsPresentation">
  <a:themeElements>
    <a:clrScheme name="Custom 3">
      <a:dk1>
        <a:srgbClr val="3B3B3B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902C10"/>
      </a:accent2>
      <a:accent3>
        <a:srgbClr val="9BBB59"/>
      </a:accent3>
      <a:accent4>
        <a:srgbClr val="8064A2"/>
      </a:accent4>
      <a:accent5>
        <a:srgbClr val="4BACC6"/>
      </a:accent5>
      <a:accent6>
        <a:srgbClr val="E08836"/>
      </a:accent6>
      <a:hlink>
        <a:srgbClr val="902C10"/>
      </a:hlink>
      <a:folHlink>
        <a:srgbClr val="902C1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672098E-E704-41C2-B233-A5DE79514A81}" vid="{05D70944-1DEC-4194-BA18-DA1D17F1F2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2357</TotalTime>
  <Words>2924</Words>
  <Application>Microsoft Office PowerPoint</Application>
  <PresentationFormat>Widescreen</PresentationFormat>
  <Paragraphs>563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Century Gothic</vt:lpstr>
      <vt:lpstr>Consolas</vt:lpstr>
      <vt:lpstr>Courier New</vt:lpstr>
      <vt:lpstr>OccamsPresentation</vt:lpstr>
      <vt:lpstr>Automated Model Parameter Initialisation with nlmixr2autoinit</vt:lpstr>
      <vt:lpstr>Outline</vt:lpstr>
      <vt:lpstr>nlmixr2autoinit: initial estimate generation for nlmixr2</vt:lpstr>
      <vt:lpstr>Two main parts in a nlmixr model</vt:lpstr>
      <vt:lpstr>Imagine You Have Data Like This…</vt:lpstr>
      <vt:lpstr>With Poor Initial Estimates…</vt:lpstr>
      <vt:lpstr>This is where nlmixr2autoinit comes in</vt:lpstr>
      <vt:lpstr>This is where nlmixr2autoinit comes in</vt:lpstr>
      <vt:lpstr>Data-driven methods included in nlmixr2autoinit</vt:lpstr>
      <vt:lpstr>Nlmixr2autoinit tutorial</vt:lpstr>
      <vt:lpstr>PowerPoint Presentation</vt:lpstr>
      <vt:lpstr>Session Objectives</vt:lpstr>
      <vt:lpstr>Warfarin Individual Concentration Profiles</vt:lpstr>
      <vt:lpstr>Preparing the Warfarin Dataset</vt:lpstr>
      <vt:lpstr>Exploring nlmixr2autoinit Outputs</vt:lpstr>
      <vt:lpstr>Fitting a 1-compartment oral model with nlmir2autoinit estimates</vt:lpstr>
      <vt:lpstr>PowerPoint Presentation</vt:lpstr>
      <vt:lpstr>Automated Model building and selection with nlmixr2auto</vt:lpstr>
      <vt:lpstr>nlmixr2auto: automated PopPK modelling for nlmixr2</vt:lpstr>
      <vt:lpstr>Basic example</vt:lpstr>
      <vt:lpstr>Example outputs</vt:lpstr>
      <vt:lpstr>Github</vt:lpstr>
    </vt:vector>
  </TitlesOfParts>
  <Manager/>
  <Company>Occams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Rik Schoemaker</dc:creator>
  <cp:keywords/>
  <dc:description/>
  <cp:lastModifiedBy>Huang, Zhonghui</cp:lastModifiedBy>
  <cp:revision>596</cp:revision>
  <dcterms:created xsi:type="dcterms:W3CDTF">2016-11-23T19:12:10Z</dcterms:created>
  <dcterms:modified xsi:type="dcterms:W3CDTF">2026-05-31T17:19:05Z</dcterms:modified>
  <cp:category/>
</cp:coreProperties>
</file>