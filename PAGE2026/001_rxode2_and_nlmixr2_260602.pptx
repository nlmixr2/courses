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3"/>
  </p:notesMasterIdLst>
  <p:handoutMasterIdLst>
    <p:handoutMasterId r:id="rId114"/>
  </p:handoutMasterIdLst>
  <p:sldIdLst>
    <p:sldId id="530" r:id="rId2"/>
    <p:sldId id="397" r:id="rId3"/>
    <p:sldId id="544" r:id="rId4"/>
    <p:sldId id="542" r:id="rId5"/>
    <p:sldId id="539" r:id="rId6"/>
    <p:sldId id="540" r:id="rId7"/>
    <p:sldId id="299" r:id="rId8"/>
    <p:sldId id="357" r:id="rId9"/>
    <p:sldId id="398" r:id="rId10"/>
    <p:sldId id="400" r:id="rId11"/>
    <p:sldId id="399" r:id="rId12"/>
    <p:sldId id="358" r:id="rId13"/>
    <p:sldId id="405" r:id="rId14"/>
    <p:sldId id="406" r:id="rId15"/>
    <p:sldId id="403" r:id="rId16"/>
    <p:sldId id="404" r:id="rId17"/>
    <p:sldId id="431" r:id="rId18"/>
    <p:sldId id="432" r:id="rId19"/>
    <p:sldId id="524" r:id="rId20"/>
    <p:sldId id="479" r:id="rId21"/>
    <p:sldId id="493" r:id="rId22"/>
    <p:sldId id="489" r:id="rId23"/>
    <p:sldId id="511" r:id="rId24"/>
    <p:sldId id="505" r:id="rId25"/>
    <p:sldId id="506" r:id="rId26"/>
    <p:sldId id="507" r:id="rId27"/>
    <p:sldId id="508" r:id="rId28"/>
    <p:sldId id="269" r:id="rId29"/>
    <p:sldId id="510" r:id="rId30"/>
    <p:sldId id="512" r:id="rId31"/>
    <p:sldId id="355" r:id="rId32"/>
    <p:sldId id="364" r:id="rId33"/>
    <p:sldId id="516" r:id="rId34"/>
    <p:sldId id="517" r:id="rId35"/>
    <p:sldId id="531" r:id="rId36"/>
    <p:sldId id="487" r:id="rId37"/>
    <p:sldId id="381" r:id="rId38"/>
    <p:sldId id="501" r:id="rId39"/>
    <p:sldId id="278" r:id="rId40"/>
    <p:sldId id="545" r:id="rId41"/>
    <p:sldId id="408" r:id="rId42"/>
    <p:sldId id="340" r:id="rId43"/>
    <p:sldId id="341" r:id="rId44"/>
    <p:sldId id="410" r:id="rId45"/>
    <p:sldId id="434" r:id="rId46"/>
    <p:sldId id="486" r:id="rId47"/>
    <p:sldId id="435" r:id="rId48"/>
    <p:sldId id="360" r:id="rId49"/>
    <p:sldId id="525" r:id="rId50"/>
    <p:sldId id="436" r:id="rId51"/>
    <p:sldId id="262" r:id="rId52"/>
    <p:sldId id="417" r:id="rId53"/>
    <p:sldId id="498" r:id="rId54"/>
    <p:sldId id="494" r:id="rId55"/>
    <p:sldId id="497" r:id="rId56"/>
    <p:sldId id="496" r:id="rId57"/>
    <p:sldId id="488" r:id="rId58"/>
    <p:sldId id="513" r:id="rId59"/>
    <p:sldId id="441" r:id="rId60"/>
    <p:sldId id="444" r:id="rId61"/>
    <p:sldId id="268" r:id="rId62"/>
    <p:sldId id="445" r:id="rId63"/>
    <p:sldId id="502" r:id="rId64"/>
    <p:sldId id="526" r:id="rId65"/>
    <p:sldId id="514" r:id="rId66"/>
    <p:sldId id="515" r:id="rId67"/>
    <p:sldId id="447" r:id="rId68"/>
    <p:sldId id="272" r:id="rId69"/>
    <p:sldId id="414" r:id="rId70"/>
    <p:sldId id="413" r:id="rId71"/>
    <p:sldId id="415" r:id="rId72"/>
    <p:sldId id="480" r:id="rId73"/>
    <p:sldId id="473" r:id="rId74"/>
    <p:sldId id="474" r:id="rId75"/>
    <p:sldId id="257" r:id="rId76"/>
    <p:sldId id="472" r:id="rId77"/>
    <p:sldId id="426" r:id="rId78"/>
    <p:sldId id="276" r:id="rId79"/>
    <p:sldId id="291" r:id="rId80"/>
    <p:sldId id="523" r:id="rId81"/>
    <p:sldId id="529" r:id="rId82"/>
    <p:sldId id="519" r:id="rId83"/>
    <p:sldId id="295" r:id="rId84"/>
    <p:sldId id="363" r:id="rId85"/>
    <p:sldId id="451" r:id="rId86"/>
    <p:sldId id="546" r:id="rId87"/>
    <p:sldId id="452" r:id="rId88"/>
    <p:sldId id="412" r:id="rId89"/>
    <p:sldId id="449" r:id="rId90"/>
    <p:sldId id="450" r:id="rId91"/>
    <p:sldId id="482" r:id="rId92"/>
    <p:sldId id="429" r:id="rId93"/>
    <p:sldId id="453" r:id="rId94"/>
    <p:sldId id="454" r:id="rId95"/>
    <p:sldId id="282" r:id="rId96"/>
    <p:sldId id="455" r:id="rId97"/>
    <p:sldId id="456" r:id="rId98"/>
    <p:sldId id="458" r:id="rId99"/>
    <p:sldId id="457" r:id="rId100"/>
    <p:sldId id="463" r:id="rId101"/>
    <p:sldId id="284" r:id="rId102"/>
    <p:sldId id="459" r:id="rId103"/>
    <p:sldId id="460" r:id="rId104"/>
    <p:sldId id="464" r:id="rId105"/>
    <p:sldId id="287" r:id="rId106"/>
    <p:sldId id="461" r:id="rId107"/>
    <p:sldId id="462" r:id="rId108"/>
    <p:sldId id="465" r:id="rId109"/>
    <p:sldId id="290" r:id="rId110"/>
    <p:sldId id="293" r:id="rId111"/>
    <p:sldId id="483" r:id="rId1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0000"/>
    <a:srgbClr val="57A83A"/>
    <a:srgbClr val="76C65A"/>
    <a:srgbClr val="FF8000"/>
    <a:srgbClr val="808080"/>
    <a:srgbClr val="305480"/>
    <a:srgbClr val="E08836"/>
    <a:srgbClr val="DE8400"/>
    <a:srgbClr val="902C10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0481" autoAdjust="0"/>
    <p:restoredTop sz="96405"/>
  </p:normalViewPr>
  <p:slideViewPr>
    <p:cSldViewPr>
      <p:cViewPr>
        <p:scale>
          <a:sx n="66" d="100"/>
          <a:sy n="66" d="100"/>
        </p:scale>
        <p:origin x="6" y="9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101" d="100"/>
          <a:sy n="101" d="100"/>
        </p:scale>
        <p:origin x="5154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theme" Target="theme/theme1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notesMaster" Target="notesMasters/notesMaster1.xml"/><Relationship Id="rId118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5B5575-5396-4903-B001-2952BE6B9F1B}" type="datetimeFigureOut">
              <a:rPr lang="en-GB" smtClean="0"/>
              <a:t>28/05/2026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42CCE1-13AB-4907-8C53-954A4412C1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96156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E547EB-7C1B-40A0-9C00-7392B48D9156}" type="datetimeFigureOut">
              <a:rPr lang="en-GB" smtClean="0"/>
              <a:t>28/05/2026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3989F4-5BC7-45C8-8C9A-BD9134427095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3248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019400"/>
            <a:ext cx="8534400" cy="170574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Rectangle 3"/>
          <p:cNvSpPr/>
          <p:nvPr userDrawn="1"/>
        </p:nvSpPr>
        <p:spPr>
          <a:xfrm>
            <a:off x="0" y="-204936"/>
            <a:ext cx="12192000" cy="1556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8" name="Rectangle 7"/>
          <p:cNvSpPr/>
          <p:nvPr userDrawn="1"/>
        </p:nvSpPr>
        <p:spPr>
          <a:xfrm>
            <a:off x="0" y="6237312"/>
            <a:ext cx="12192000" cy="628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3392" y="476672"/>
            <a:ext cx="10945216" cy="2448272"/>
          </a:xfrm>
        </p:spPr>
        <p:txBody>
          <a:bodyPr anchor="b">
            <a:normAutofit/>
          </a:bodyPr>
          <a:lstStyle>
            <a:lvl1pPr algn="ctr">
              <a:defRPr sz="3200">
                <a:solidFill>
                  <a:srgbClr val="B4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9D51947-24F4-C4DC-5885-9F67B2093E4F}"/>
              </a:ext>
            </a:extLst>
          </p:cNvPr>
          <p:cNvGrpSpPr/>
          <p:nvPr userDrawn="1"/>
        </p:nvGrpSpPr>
        <p:grpSpPr>
          <a:xfrm>
            <a:off x="4339232" y="4819600"/>
            <a:ext cx="3589360" cy="1763448"/>
            <a:chOff x="4339232" y="4819600"/>
            <a:chExt cx="3589360" cy="1763448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3E4E562-3F63-307A-0740-45B3E73A091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9232" y="4819600"/>
              <a:ext cx="3513536" cy="1763448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2C4A0EA-E478-7F0A-1EEC-46DA78AFE7EE}"/>
                </a:ext>
              </a:extLst>
            </p:cNvPr>
            <p:cNvSpPr txBox="1"/>
            <p:nvPr userDrawn="1"/>
          </p:nvSpPr>
          <p:spPr>
            <a:xfrm>
              <a:off x="7568552" y="5538903"/>
              <a:ext cx="360040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900" b="1">
                  <a:solidFill>
                    <a:srgbClr val="C00000"/>
                  </a:solidFill>
                </a:rPr>
                <a:t>2</a:t>
              </a:r>
              <a:endParaRPr lang="en-NL" sz="1900" b="1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46382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800"/>
            </a:lvl1pPr>
          </a:lstStyle>
          <a:p>
            <a:fld id="{133EA325-E17C-4431-8C79-1AEA4A396602}" type="slidenum">
              <a:rPr lang="en-GB" smtClean="0"/>
              <a:pPr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5310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B40000"/>
                </a:solidFill>
              </a:defRPr>
            </a:lvl1pPr>
          </a:lstStyle>
          <a:p>
            <a:fld id="{133EA325-E17C-4431-8C79-1AEA4A396602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>
          <a:xfrm>
            <a:off x="623392" y="1196752"/>
            <a:ext cx="10945216" cy="518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2159563" y="6564883"/>
            <a:ext cx="7392821" cy="230400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</p:spTree>
    <p:extLst>
      <p:ext uri="{BB962C8B-B14F-4D97-AF65-F5344CB8AC3E}">
        <p14:creationId xmlns:p14="http://schemas.microsoft.com/office/powerpoint/2010/main" val="1208292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6884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2207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3392" y="113386"/>
            <a:ext cx="10945216" cy="985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392" y="1196752"/>
            <a:ext cx="10945216" cy="518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59563" y="6564883"/>
            <a:ext cx="7392821" cy="230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2">
                    <a:lumMod val="75000"/>
                  </a:schemeClr>
                </a:solidFill>
                <a:latin typeface="+mn-lt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3392" y="6564883"/>
            <a:ext cx="1056117" cy="230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B40000"/>
                </a:solidFill>
                <a:latin typeface="+mn-lt"/>
                <a:ea typeface="Tahoma" pitchFamily="34" charset="0"/>
                <a:cs typeface="Tahoma" pitchFamily="34" charset="0"/>
              </a:defRPr>
            </a:lvl1pPr>
          </a:lstStyle>
          <a:p>
            <a:fld id="{133EA325-E17C-4431-8C79-1AEA4A396602}" type="slidenum">
              <a:rPr lang="en-GB" smtClean="0"/>
              <a:pPr/>
              <a:t>‹nr.›</a:t>
            </a:fld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73B2648-2988-DDF5-3B00-2C50D9961258}"/>
              </a:ext>
            </a:extLst>
          </p:cNvPr>
          <p:cNvGrpSpPr/>
          <p:nvPr userDrawn="1"/>
        </p:nvGrpSpPr>
        <p:grpSpPr>
          <a:xfrm>
            <a:off x="10598596" y="6318101"/>
            <a:ext cx="1066119" cy="524043"/>
            <a:chOff x="10598596" y="6318101"/>
            <a:chExt cx="1066119" cy="52404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C7B45EA-DF08-9BD8-0E65-7B7CF845E10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98596" y="6318101"/>
              <a:ext cx="1044116" cy="524043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15425DF-E504-86F9-34AC-3D4EE1BA0992}"/>
                </a:ext>
              </a:extLst>
            </p:cNvPr>
            <p:cNvSpPr txBox="1"/>
            <p:nvPr userDrawn="1"/>
          </p:nvSpPr>
          <p:spPr>
            <a:xfrm>
              <a:off x="11557722" y="6435742"/>
              <a:ext cx="10699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b="1">
                  <a:solidFill>
                    <a:srgbClr val="C00000"/>
                  </a:solidFill>
                </a:rPr>
                <a:t>2</a:t>
              </a:r>
              <a:endParaRPr lang="en-NL" sz="1200" b="1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5295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  <p:sldLayoutId id="2147483653" r:id="rId5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B40000"/>
          </a:solidFill>
          <a:latin typeface="+mn-lt"/>
          <a:ea typeface="Tahoma" pitchFamily="34" charset="0"/>
          <a:cs typeface="Tahoma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B40000"/>
        </a:buClr>
        <a:buFont typeface="Arial" pitchFamily="34" charset="0"/>
        <a:buChar char="•"/>
        <a:defRPr sz="2400" kern="1200">
          <a:solidFill>
            <a:schemeClr val="tx2">
              <a:lumMod val="50000"/>
            </a:schemeClr>
          </a:solidFill>
          <a:latin typeface="Calibri" panose="020F0502020204030204" pitchFamily="34" charset="0"/>
          <a:ea typeface="Tahoma" pitchFamily="34" charset="0"/>
          <a:cs typeface="Tahoma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B40000"/>
        </a:buClr>
        <a:buFont typeface="Arial" pitchFamily="34" charset="0"/>
        <a:buChar char="•"/>
        <a:defRPr sz="2200" kern="1200">
          <a:solidFill>
            <a:schemeClr val="tx2">
              <a:lumMod val="50000"/>
            </a:schemeClr>
          </a:solidFill>
          <a:latin typeface="Calibri" panose="020F0502020204030204" pitchFamily="34" charset="0"/>
          <a:ea typeface="Tahoma" pitchFamily="34" charset="0"/>
          <a:cs typeface="Tahoma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B40000"/>
        </a:buClr>
        <a:buFont typeface="Arial" pitchFamily="34" charset="0"/>
        <a:buChar char="•"/>
        <a:defRPr sz="2000" kern="1200">
          <a:solidFill>
            <a:schemeClr val="tx2">
              <a:lumMod val="50000"/>
            </a:schemeClr>
          </a:solidFill>
          <a:latin typeface="Calibri" panose="020F0502020204030204" pitchFamily="34" charset="0"/>
          <a:ea typeface="Tahoma" pitchFamily="34" charset="0"/>
          <a:cs typeface="Tahoma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B40000"/>
        </a:buClr>
        <a:buFont typeface="Arial" pitchFamily="34" charset="0"/>
        <a:buChar char="•"/>
        <a:defRPr sz="1800" kern="1200">
          <a:solidFill>
            <a:schemeClr val="tx2">
              <a:lumMod val="50000"/>
            </a:schemeClr>
          </a:solidFill>
          <a:latin typeface="Calibri" panose="020F0502020204030204" pitchFamily="34" charset="0"/>
          <a:ea typeface="Tahoma" pitchFamily="34" charset="0"/>
          <a:cs typeface="Tahoma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B40000"/>
        </a:buClr>
        <a:buFont typeface="Arial" pitchFamily="34" charset="0"/>
        <a:buChar char="•"/>
        <a:defRPr sz="1600" kern="1200">
          <a:solidFill>
            <a:schemeClr val="tx2">
              <a:lumMod val="50000"/>
            </a:schemeClr>
          </a:solidFill>
          <a:latin typeface="Calibri" panose="020F0502020204030204" pitchFamily="34" charset="0"/>
          <a:ea typeface="Tahoma" pitchFamily="34" charset="0"/>
          <a:cs typeface="Tahom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13" Type="http://schemas.openxmlformats.org/officeDocument/2006/relationships/image" Target="../media/image17.jpeg"/><Relationship Id="rId18" Type="http://schemas.openxmlformats.org/officeDocument/2006/relationships/image" Target="../media/image22.png"/><Relationship Id="rId3" Type="http://schemas.openxmlformats.org/officeDocument/2006/relationships/image" Target="../media/image7.jpe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jpeg"/><Relationship Id="rId17" Type="http://schemas.openxmlformats.org/officeDocument/2006/relationships/image" Target="../media/image21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11" Type="http://schemas.openxmlformats.org/officeDocument/2006/relationships/image" Target="../media/image15.jpeg"/><Relationship Id="rId24" Type="http://schemas.openxmlformats.org/officeDocument/2006/relationships/image" Target="../media/image5.png"/><Relationship Id="rId5" Type="http://schemas.openxmlformats.org/officeDocument/2006/relationships/image" Target="../media/image9.jpeg"/><Relationship Id="rId15" Type="http://schemas.openxmlformats.org/officeDocument/2006/relationships/image" Target="../media/image19.jpeg"/><Relationship Id="rId23" Type="http://schemas.openxmlformats.org/officeDocument/2006/relationships/image" Target="../media/image27.png"/><Relationship Id="rId10" Type="http://schemas.openxmlformats.org/officeDocument/2006/relationships/image" Target="../media/image14.jpeg"/><Relationship Id="rId19" Type="http://schemas.openxmlformats.org/officeDocument/2006/relationships/image" Target="../media/image23.png"/><Relationship Id="rId4" Type="http://schemas.openxmlformats.org/officeDocument/2006/relationships/image" Target="../media/image8.svg"/><Relationship Id="rId9" Type="http://schemas.openxmlformats.org/officeDocument/2006/relationships/image" Target="../media/image13.jpeg"/><Relationship Id="rId14" Type="http://schemas.openxmlformats.org/officeDocument/2006/relationships/image" Target="../media/image18.jpeg"/><Relationship Id="rId22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lmixr2/rxode2" TargetMode="External"/><Relationship Id="rId2" Type="http://schemas.openxmlformats.org/officeDocument/2006/relationships/hyperlink" Target="https://cran.r-project.org/web/packages/rxode2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nlmixr2.github.io/rxode2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lmixr2/nlmixr2" TargetMode="External"/><Relationship Id="rId2" Type="http://schemas.openxmlformats.org/officeDocument/2006/relationships/hyperlink" Target="https://cran.r-project.org/web/packages/nlmixr2" TargetMode="Externa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hyperlink" Target="https://cran.r-project.org/packages/xpose" TargetMode="External"/><Relationship Id="rId13" Type="http://schemas.openxmlformats.org/officeDocument/2006/relationships/hyperlink" Target="https://nlmixr2.github.io/nlmixr2" TargetMode="External"/><Relationship Id="rId3" Type="http://schemas.openxmlformats.org/officeDocument/2006/relationships/hyperlink" Target="https://blog.nlmixr2.org/" TargetMode="External"/><Relationship Id="rId7" Type="http://schemas.openxmlformats.org/officeDocument/2006/relationships/hyperlink" Target="https://cran.r-project.org/packages/xpose.nlmixr2" TargetMode="External"/><Relationship Id="rId12" Type="http://schemas.openxmlformats.org/officeDocument/2006/relationships/hyperlink" Target="https://cran.r-project.org/bin/windows/Rtools/rtools42/rtools.html" TargetMode="External"/><Relationship Id="rId2" Type="http://schemas.openxmlformats.org/officeDocument/2006/relationships/hyperlink" Target="https://nlmixr2.org/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github.com/nlmixr2/xpose.nlmixr2" TargetMode="External"/><Relationship Id="rId11" Type="http://schemas.openxmlformats.org/officeDocument/2006/relationships/hyperlink" Target="https://richardhooijmaijers.github.io/shinyMixR/articles/shinyMixR-vignette.html" TargetMode="External"/><Relationship Id="rId5" Type="http://schemas.openxmlformats.org/officeDocument/2006/relationships/hyperlink" Target="https://github.com/ggPMXdevelopment/ggPMX" TargetMode="External"/><Relationship Id="rId10" Type="http://schemas.openxmlformats.org/officeDocument/2006/relationships/hyperlink" Target="https://github.com/RichardHooijmaijers/shinyMixR" TargetMode="External"/><Relationship Id="rId4" Type="http://schemas.openxmlformats.org/officeDocument/2006/relationships/hyperlink" Target="https://cran.r-project.org/web/packages/ggPMX/" TargetMode="External"/><Relationship Id="rId9" Type="http://schemas.openxmlformats.org/officeDocument/2006/relationships/hyperlink" Target="https://uupharmacometrics.github.io/xpose/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cran.r-project.org/web/packages/nonmem2rx/index.html" TargetMode="External"/><Relationship Id="rId2" Type="http://schemas.openxmlformats.org/officeDocument/2006/relationships/hyperlink" Target="https://cran.r-project.org/web/packages/babelmixr2/index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cran.r-project.org/web/packages/monolix2rx/index.html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estrel99/nlmixr2boot" TargetMode="External"/><Relationship Id="rId2" Type="http://schemas.openxmlformats.org/officeDocument/2006/relationships/hyperlink" Target="https://github.com/kestrel99/nlmixr2scm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github.com/kestrel99/nlmixr2sir" TargetMode="External"/><Relationship Id="rId5" Type="http://schemas.openxmlformats.org/officeDocument/2006/relationships/hyperlink" Target="https://github.com/kestrel99/nlmixr2sse" TargetMode="External"/><Relationship Id="rId4" Type="http://schemas.openxmlformats.org/officeDocument/2006/relationships/hyperlink" Target="https://github.com/kestrel99/nlmixr2llp" TargetMode="Externa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ascpt.onlinelibrary.wiley.com/doi/10.1002/psp4.12471" TargetMode="Externa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hyperlink" Target="https://uupharmacometrics.github.io/xpose/" TargetMode="External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hyperlink" Target="https://uupharmacometrics.github.io/xpose/" TargetMode="External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5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5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5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2967608" y="2204864"/>
            <a:ext cx="6400800" cy="2664296"/>
          </a:xfrm>
        </p:spPr>
        <p:txBody>
          <a:bodyPr>
            <a:normAutofit fontScale="70000" lnSpcReduction="20000"/>
          </a:bodyPr>
          <a:lstStyle/>
          <a:p>
            <a:r>
              <a:rPr lang="en-GB" dirty="0"/>
              <a:t>rxode2/nlmixr2 Course </a:t>
            </a:r>
            <a:br>
              <a:rPr lang="en-GB" dirty="0"/>
            </a:br>
            <a:r>
              <a:rPr lang="en-GB" dirty="0"/>
              <a:t>PAGE 2026, Dubrovnik, Croatia 
Anne Keunecke, PhD</a:t>
            </a:r>
            <a:br>
              <a:rPr lang="en-GB" dirty="0"/>
            </a:br>
            <a:r>
              <a:rPr lang="en-GB" dirty="0"/>
              <a:t>Justin Wilkins, PhD 
</a:t>
            </a:r>
          </a:p>
          <a:p>
            <a:pPr lvl="0"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Tahoma" pitchFamily="34" charset="0"/>
                <a:cs typeface="Tahoma" pitchFamily="34" charset="0"/>
              </a:rPr>
              <a:t>On behalf of the 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B40000"/>
                </a:solidFill>
                <a:effectLst/>
                <a:uLnTx/>
                <a:uFillTx/>
                <a:latin typeface="Calibri" panose="020F0502020204030204" pitchFamily="34" charset="0"/>
                <a:ea typeface="Tahoma" pitchFamily="34" charset="0"/>
                <a:cs typeface="Tahoma" pitchFamily="34" charset="0"/>
              </a:rPr>
              <a:t>nlmixr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Tahoma" pitchFamily="34" charset="0"/>
                <a:cs typeface="Tahoma" pitchFamily="34" charset="0"/>
              </a:rPr>
              <a:t> development team: </a:t>
            </a:r>
          </a:p>
          <a:p>
            <a:pPr lvl="0">
              <a:defRPr/>
            </a:pPr>
            <a:r>
              <a:rPr lang="en-GB" sz="2400" dirty="0">
                <a:solidFill>
                  <a:srgbClr val="1F497D">
                    <a:lumMod val="50000"/>
                  </a:srgbClr>
                </a:solidFill>
              </a:rPr>
              <a:t>Matt Fidler, Bill Denney, </a:t>
            </a:r>
            <a:r>
              <a:rPr lang="en-GB" dirty="0">
                <a:solidFill>
                  <a:srgbClr val="1F497D">
                    <a:lumMod val="50000"/>
                  </a:srgbClr>
                </a:solidFill>
              </a:rPr>
              <a:t>John Harrold, </a:t>
            </a:r>
            <a:r>
              <a:rPr lang="en-GB" sz="2400" dirty="0">
                <a:solidFill>
                  <a:srgbClr val="1F497D">
                    <a:lumMod val="50000"/>
                  </a:srgbClr>
                </a:solidFill>
              </a:rPr>
              <a:t>Richard Hooijmaijers, Mutaz Jaber, Anne Keunecke</a:t>
            </a:r>
            <a:r>
              <a:rPr lang="en-GB" dirty="0">
                <a:solidFill>
                  <a:srgbClr val="1F497D">
                    <a:lumMod val="50000"/>
                  </a:srgbClr>
                </a:solidFill>
              </a:rPr>
              <a:t>, Theo Papathanasiou, </a:t>
            </a:r>
            <a:r>
              <a:rPr lang="en-GB" sz="2400" dirty="0">
                <a:solidFill>
                  <a:srgbClr val="1F497D">
                    <a:lumMod val="50000"/>
                  </a:srgbClr>
                </a:solidFill>
              </a:rPr>
              <a:t>Rik Schoemaker, </a:t>
            </a:r>
            <a:r>
              <a:rPr lang="en-GB" dirty="0">
                <a:solidFill>
                  <a:srgbClr val="1F497D">
                    <a:lumMod val="50000"/>
                  </a:srgbClr>
                </a:solidFill>
              </a:rPr>
              <a:t>Max Taubert, </a:t>
            </a:r>
            <a:r>
              <a:rPr lang="en-GB" sz="2400" dirty="0">
                <a:solidFill>
                  <a:srgbClr val="1F497D">
                    <a:lumMod val="50000"/>
                  </a:srgbClr>
                </a:solidFill>
              </a:rPr>
              <a:t>Mirjam Trame, Justin Wilkins, Brendan Bender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2063552" y="620688"/>
            <a:ext cx="8208912" cy="1296144"/>
          </a:xfrm>
        </p:spPr>
        <p:txBody>
          <a:bodyPr>
            <a:normAutofit/>
          </a:bodyPr>
          <a:lstStyle/>
          <a:p>
            <a:r>
              <a:rPr lang="en-GB" dirty="0"/>
              <a:t>Simulation and parameter estimation with rxode2 and</a:t>
            </a:r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GB" dirty="0"/>
              <a:t>nlmix</a:t>
            </a:r>
            <a:r>
              <a:rPr lang="en-GB" dirty="0">
                <a:solidFill>
                  <a:srgbClr val="B40000"/>
                </a:solidFill>
              </a:rPr>
              <a:t>r2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40310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4525C-4327-40C9-8039-BA88868DF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Course outline: Part 1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4ED073-061A-4971-9742-610B2E87E7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 bit of history</a:t>
            </a:r>
          </a:p>
          <a:p>
            <a:r>
              <a:rPr lang="en-GB" dirty="0"/>
              <a:t>Introduction to </a:t>
            </a:r>
            <a:r>
              <a:rPr lang="en-GB" dirty="0">
                <a:solidFill>
                  <a:srgbClr val="B40000"/>
                </a:solidFill>
              </a:rPr>
              <a:t>rxode2</a:t>
            </a:r>
            <a:r>
              <a:rPr lang="en-GB" dirty="0"/>
              <a:t> simulation</a:t>
            </a:r>
          </a:p>
          <a:p>
            <a:r>
              <a:rPr lang="en-GB" dirty="0"/>
              <a:t>Introduction to </a:t>
            </a:r>
            <a:r>
              <a:rPr lang="en-GB" dirty="0">
                <a:solidFill>
                  <a:srgbClr val="B40000"/>
                </a:solidFill>
              </a:rPr>
              <a:t>nlmixr2</a:t>
            </a:r>
            <a:r>
              <a:rPr lang="en-GB" dirty="0"/>
              <a:t> and parameter estimation</a:t>
            </a:r>
          </a:p>
          <a:p>
            <a:r>
              <a:rPr lang="en-GB" dirty="0"/>
              <a:t>Hands on with the warfarin PK models (part 1)</a:t>
            </a:r>
          </a:p>
          <a:p>
            <a:r>
              <a:rPr lang="en-GB" dirty="0"/>
              <a:t>Advanced capabilities </a:t>
            </a:r>
            <a:r>
              <a:rPr lang="en-GB" dirty="0">
                <a:solidFill>
                  <a:srgbClr val="B40000"/>
                </a:solidFill>
              </a:rPr>
              <a:t>nlmixr2</a:t>
            </a:r>
            <a:endParaRPr lang="en-GB" dirty="0"/>
          </a:p>
          <a:p>
            <a:r>
              <a:rPr lang="en-GB" dirty="0"/>
              <a:t>Hands on with the warfarin PK and PKPD models (part 2)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1A0086-1FF5-4298-89A4-74784DB833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BAA760-C95D-4673-A233-50E6A5ABB1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4913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BE741-C071-578E-E198-D1D22C435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849F6272-1E35-8D57-353F-F576AF16CF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67608" y="2204864"/>
            <a:ext cx="6400800" cy="2664296"/>
          </a:xfrm>
        </p:spPr>
        <p:txBody>
          <a:bodyPr>
            <a:normAutofit fontScale="70000" lnSpcReduction="20000"/>
          </a:bodyPr>
          <a:lstStyle/>
          <a:p>
            <a:r>
              <a:rPr lang="en-GB" dirty="0"/>
              <a:t>rxode2/nlmixr2 Course </a:t>
            </a:r>
            <a:br>
              <a:rPr lang="en-GB" dirty="0"/>
            </a:br>
            <a:r>
              <a:rPr lang="en-GB" dirty="0"/>
              <a:t>PAGE 2026, Dubrovnik, Croatia 
Anne Keunecke, PhD 
</a:t>
            </a:r>
          </a:p>
          <a:p>
            <a:pPr lvl="0"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Tahoma" pitchFamily="34" charset="0"/>
                <a:cs typeface="Tahoma" pitchFamily="34" charset="0"/>
              </a:rPr>
              <a:t>On behalf of the 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B40000"/>
                </a:solidFill>
                <a:effectLst/>
                <a:uLnTx/>
                <a:uFillTx/>
                <a:latin typeface="Calibri" panose="020F0502020204030204" pitchFamily="34" charset="0"/>
                <a:ea typeface="Tahoma" pitchFamily="34" charset="0"/>
                <a:cs typeface="Tahoma" pitchFamily="34" charset="0"/>
              </a:rPr>
              <a:t>nlmixr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Tahoma" pitchFamily="34" charset="0"/>
                <a:cs typeface="Tahoma" pitchFamily="34" charset="0"/>
              </a:rPr>
              <a:t> development team: </a:t>
            </a:r>
          </a:p>
          <a:p>
            <a:pPr lvl="0">
              <a:defRPr/>
            </a:pPr>
            <a:r>
              <a:rPr lang="en-GB" sz="2400" dirty="0">
                <a:solidFill>
                  <a:srgbClr val="1F497D">
                    <a:lumMod val="50000"/>
                  </a:srgbClr>
                </a:solidFill>
              </a:rPr>
              <a:t>Matt Fidler, Bill Denney, </a:t>
            </a:r>
            <a:r>
              <a:rPr lang="en-GB" dirty="0">
                <a:solidFill>
                  <a:srgbClr val="1F497D">
                    <a:lumMod val="50000"/>
                  </a:srgbClr>
                </a:solidFill>
              </a:rPr>
              <a:t>John Harrold, </a:t>
            </a:r>
            <a:r>
              <a:rPr lang="en-GB" sz="2400" dirty="0">
                <a:solidFill>
                  <a:srgbClr val="1F497D">
                    <a:lumMod val="50000"/>
                  </a:srgbClr>
                </a:solidFill>
              </a:rPr>
              <a:t>Richard Hooijmaijers, Mutaz Jaber, Anne Keunecke</a:t>
            </a:r>
            <a:r>
              <a:rPr lang="en-GB" dirty="0">
                <a:solidFill>
                  <a:srgbClr val="1F497D">
                    <a:lumMod val="50000"/>
                  </a:srgbClr>
                </a:solidFill>
              </a:rPr>
              <a:t>, Theo Papathanasiou, </a:t>
            </a:r>
            <a:r>
              <a:rPr lang="en-GB" sz="2400" dirty="0">
                <a:solidFill>
                  <a:srgbClr val="1F497D">
                    <a:lumMod val="50000"/>
                  </a:srgbClr>
                </a:solidFill>
              </a:rPr>
              <a:t>Rik Schoemaker, </a:t>
            </a:r>
            <a:r>
              <a:rPr lang="en-GB" dirty="0">
                <a:solidFill>
                  <a:srgbClr val="1F497D">
                    <a:lumMod val="50000"/>
                  </a:srgbClr>
                </a:solidFill>
              </a:rPr>
              <a:t>Max Taubert, </a:t>
            </a:r>
            <a:r>
              <a:rPr lang="en-GB" sz="2400" dirty="0">
                <a:solidFill>
                  <a:srgbClr val="1F497D">
                    <a:lumMod val="50000"/>
                  </a:srgbClr>
                </a:solidFill>
              </a:rPr>
              <a:t>Mirjam Trame, Justin Wilkins, Brendan Bender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99E54DD-3E47-EC18-5C5C-F9C9F129B2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3552" y="620688"/>
            <a:ext cx="8208912" cy="1296144"/>
          </a:xfrm>
        </p:spPr>
        <p:txBody>
          <a:bodyPr>
            <a:normAutofit/>
          </a:bodyPr>
          <a:lstStyle/>
          <a:p>
            <a:r>
              <a:rPr lang="en-US" dirty="0"/>
              <a:t>S</a:t>
            </a:r>
            <a:r>
              <a:rPr lang="en-GB" dirty="0" err="1"/>
              <a:t>etting</a:t>
            </a:r>
            <a:r>
              <a:rPr lang="en-GB" dirty="0"/>
              <a:t> the stage: some background, and rxode2</a:t>
            </a:r>
          </a:p>
        </p:txBody>
      </p:sp>
    </p:spTree>
    <p:extLst>
      <p:ext uri="{BB962C8B-B14F-4D97-AF65-F5344CB8AC3E}">
        <p14:creationId xmlns:p14="http://schemas.microsoft.com/office/powerpoint/2010/main" val="2839843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long line of colorful rectangular signs&#10;&#10;Description automatically generated">
            <a:extLst>
              <a:ext uri="{FF2B5EF4-FFF2-40B4-BE49-F238E27FC236}">
                <a16:creationId xmlns:a16="http://schemas.microsoft.com/office/drawing/2014/main" id="{74BD4F41-8832-F575-F9B5-5C1DEB1D58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91" t="25643" r="12791" b="23323"/>
          <a:stretch/>
        </p:blipFill>
        <p:spPr>
          <a:xfrm>
            <a:off x="191343" y="1145023"/>
            <a:ext cx="11604729" cy="405244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7EB3110-BE64-BE7F-48BC-79FE4A1F8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                  evolution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81771A-CC91-84AD-0965-2DCCA1D325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9F72E6-72B9-7266-10E0-9D0D98967E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42F39C0-3EB0-78EE-6E05-C32DB61D00CA}"/>
              </a:ext>
            </a:extLst>
          </p:cNvPr>
          <p:cNvSpPr/>
          <p:nvPr/>
        </p:nvSpPr>
        <p:spPr>
          <a:xfrm>
            <a:off x="1343472" y="4527804"/>
            <a:ext cx="1440160" cy="108012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Wenping</a:t>
            </a:r>
            <a:r>
              <a:rPr lang="en-US" sz="1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Wang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Richard </a:t>
            </a:r>
            <a:r>
              <a:rPr lang="en-US" sz="10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Hooijmaaijers</a:t>
            </a:r>
            <a:endParaRPr lang="en-US" sz="1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Teun Post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Rik </a:t>
            </a:r>
            <a:r>
              <a:rPr lang="en-US" sz="10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Schoemaker</a:t>
            </a:r>
            <a:endParaRPr lang="en-US" sz="1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Yuan Xiong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Justin Wilkins</a:t>
            </a:r>
            <a:endParaRPr lang="de-DE" sz="1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FFEC8AB-5EEC-1758-7A50-C9947E890784}"/>
              </a:ext>
            </a:extLst>
          </p:cNvPr>
          <p:cNvCxnSpPr>
            <a:stCxn id="9" idx="0"/>
          </p:cNvCxnSpPr>
          <p:nvPr/>
        </p:nvCxnSpPr>
        <p:spPr>
          <a:xfrm flipV="1">
            <a:off x="2063552" y="4284196"/>
            <a:ext cx="0" cy="2436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44450B6-513C-C24C-29D5-4F6D294B4078}"/>
              </a:ext>
            </a:extLst>
          </p:cNvPr>
          <p:cNvSpPr/>
          <p:nvPr/>
        </p:nvSpPr>
        <p:spPr>
          <a:xfrm>
            <a:off x="6384032" y="4962178"/>
            <a:ext cx="1512170" cy="150159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Matt Fidler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Bill Denney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John Harrold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Richard </a:t>
            </a:r>
            <a:r>
              <a:rPr lang="en-US" sz="10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Hooijmaaijers</a:t>
            </a:r>
            <a:endParaRPr lang="en-US" sz="1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Theo Papathanasiou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Rik </a:t>
            </a:r>
            <a:r>
              <a:rPr lang="en-US" sz="10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Schoemaker</a:t>
            </a:r>
            <a:endParaRPr lang="en-US" sz="1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Max Taubert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Mirjam Trame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Justin Wilkins</a:t>
            </a:r>
            <a:endParaRPr lang="de-DE" sz="1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CCE3D9D-7134-5C9B-715B-5DD9D76C3DE6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7140117" y="3645024"/>
            <a:ext cx="0" cy="13171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4B2F641-9A38-8AD8-F6F1-096960628C3C}"/>
              </a:ext>
            </a:extLst>
          </p:cNvPr>
          <p:cNvSpPr txBox="1"/>
          <p:nvPr/>
        </p:nvSpPr>
        <p:spPr>
          <a:xfrm>
            <a:off x="3878320" y="136980"/>
            <a:ext cx="81429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nlmixr2 evolved over 20 years, from code first written by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Wenping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Wang in 2005 to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RxODE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which became the foundation for nlmixr in 2016. Renamed nlmixr2 in 2021, it now has a broad package ecosystem and a strong user base in academia and industry.</a:t>
            </a:r>
            <a:endParaRPr lang="de-DE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41023F3-F5A2-E7AD-A727-ECB0147E0037}"/>
              </a:ext>
            </a:extLst>
          </p:cNvPr>
          <p:cNvGrpSpPr/>
          <p:nvPr/>
        </p:nvGrpSpPr>
        <p:grpSpPr>
          <a:xfrm>
            <a:off x="623392" y="136980"/>
            <a:ext cx="1672314" cy="725487"/>
            <a:chOff x="2279576" y="133341"/>
            <a:chExt cx="1672314" cy="72548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A0C6A30-ED7A-41F5-A97B-773F90CB06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79576" y="133341"/>
              <a:ext cx="1444877" cy="725487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F44FBB2-5F99-DC08-739A-BD7DA4557E01}"/>
                </a:ext>
              </a:extLst>
            </p:cNvPr>
            <p:cNvSpPr txBox="1"/>
            <p:nvPr/>
          </p:nvSpPr>
          <p:spPr>
            <a:xfrm>
              <a:off x="3573517" y="314691"/>
              <a:ext cx="37837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rgbClr val="B40000"/>
                  </a:solidFill>
                </a:rPr>
                <a:t>2</a:t>
              </a:r>
            </a:p>
          </p:txBody>
        </p:sp>
      </p:grpSp>
      <p:pic>
        <p:nvPicPr>
          <p:cNvPr id="10" name="Picture 10">
            <a:extLst>
              <a:ext uri="{FF2B5EF4-FFF2-40B4-BE49-F238E27FC236}">
                <a16:creationId xmlns:a16="http://schemas.microsoft.com/office/drawing/2014/main" id="{05B2C23F-D503-11C0-179C-AF5CCFBBEC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" r="53782"/>
          <a:stretch>
            <a:fillRect/>
          </a:stretch>
        </p:blipFill>
        <p:spPr bwMode="auto">
          <a:xfrm>
            <a:off x="10835257" y="4794224"/>
            <a:ext cx="132269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9422D94-2785-7160-2545-70176338281E}"/>
              </a:ext>
            </a:extLst>
          </p:cNvPr>
          <p:cNvCxnSpPr/>
          <p:nvPr/>
        </p:nvCxnSpPr>
        <p:spPr>
          <a:xfrm>
            <a:off x="11673711" y="2921876"/>
            <a:ext cx="0" cy="1944414"/>
          </a:xfrm>
          <a:prstGeom prst="line">
            <a:avLst/>
          </a:prstGeom>
          <a:ln w="28575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2188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20D64A1-C627-933A-8A31-31024DFD1DF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51"/>
          <a:stretch/>
        </p:blipFill>
        <p:spPr>
          <a:xfrm>
            <a:off x="623392" y="116632"/>
            <a:ext cx="9144000" cy="638132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8636A4B-7CFF-1D5A-1376-A3AA608707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57" t="17775" r="20539" b="28593"/>
          <a:stretch>
            <a:fillRect/>
          </a:stretch>
        </p:blipFill>
        <p:spPr>
          <a:xfrm>
            <a:off x="4897665" y="1406093"/>
            <a:ext cx="569724" cy="780211"/>
          </a:xfrm>
          <a:prstGeom prst="rect">
            <a:avLst/>
          </a:prstGeom>
          <a:ln w="28575">
            <a:noFill/>
          </a:ln>
        </p:spPr>
      </p:pic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76F70E88-8B48-5E38-23DB-10C10158AAC8}"/>
              </a:ext>
            </a:extLst>
          </p:cNvPr>
          <p:cNvCxnSpPr>
            <a:cxnSpLocks/>
            <a:stCxn id="13" idx="1"/>
            <a:endCxn id="62" idx="0"/>
          </p:cNvCxnSpPr>
          <p:nvPr/>
        </p:nvCxnSpPr>
        <p:spPr>
          <a:xfrm flipH="1" flipV="1">
            <a:off x="2938892" y="3052340"/>
            <a:ext cx="289645" cy="418810"/>
          </a:xfrm>
          <a:prstGeom prst="line">
            <a:avLst/>
          </a:prstGeom>
          <a:ln w="19050">
            <a:solidFill>
              <a:srgbClr val="FF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9A714E8-9917-D293-1788-4D5D72CCC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                                   team</a:t>
            </a:r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7863B3-602F-3BF8-C7CD-C067DA5D6C0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B66059-4CC4-8D1B-6CB8-C2ABF3AA6E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5</a:t>
            </a:fld>
            <a:endParaRPr lang="en-GB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0FA0F8D-9E68-DADD-AD64-799C477D7945}"/>
              </a:ext>
            </a:extLst>
          </p:cNvPr>
          <p:cNvGrpSpPr/>
          <p:nvPr/>
        </p:nvGrpSpPr>
        <p:grpSpPr>
          <a:xfrm>
            <a:off x="2531096" y="3804705"/>
            <a:ext cx="144016" cy="144016"/>
            <a:chOff x="3431704" y="3688073"/>
            <a:chExt cx="144016" cy="144016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3331294-94E1-A352-4821-5589C47FE00B}"/>
                </a:ext>
              </a:extLst>
            </p:cNvPr>
            <p:cNvSpPr/>
            <p:nvPr/>
          </p:nvSpPr>
          <p:spPr>
            <a:xfrm>
              <a:off x="3431704" y="3688073"/>
              <a:ext cx="144016" cy="144016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BC43BFE-A291-D79B-C51A-5989EC8F2E8C}"/>
                </a:ext>
              </a:extLst>
            </p:cNvPr>
            <p:cNvSpPr/>
            <p:nvPr/>
          </p:nvSpPr>
          <p:spPr>
            <a:xfrm>
              <a:off x="3467712" y="3724081"/>
              <a:ext cx="72000" cy="72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78D7A2C-640A-0DE5-5940-6C97FBE00F3B}"/>
              </a:ext>
            </a:extLst>
          </p:cNvPr>
          <p:cNvGrpSpPr/>
          <p:nvPr/>
        </p:nvGrpSpPr>
        <p:grpSpPr>
          <a:xfrm>
            <a:off x="3207446" y="3450059"/>
            <a:ext cx="144016" cy="144016"/>
            <a:chOff x="3431704" y="3688073"/>
            <a:chExt cx="144016" cy="144016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E95B31E-1E7F-3E8D-7482-5C3F7D0ADD8A}"/>
                </a:ext>
              </a:extLst>
            </p:cNvPr>
            <p:cNvSpPr/>
            <p:nvPr/>
          </p:nvSpPr>
          <p:spPr>
            <a:xfrm>
              <a:off x="3431704" y="3688073"/>
              <a:ext cx="144016" cy="144016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2D17C34-62FE-EAB1-043A-5D55EB20045C}"/>
                </a:ext>
              </a:extLst>
            </p:cNvPr>
            <p:cNvSpPr/>
            <p:nvPr/>
          </p:nvSpPr>
          <p:spPr>
            <a:xfrm>
              <a:off x="3467712" y="3724081"/>
              <a:ext cx="72000" cy="72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A4ED1BC-7003-9946-77C0-00DB4F2160F3}"/>
              </a:ext>
            </a:extLst>
          </p:cNvPr>
          <p:cNvGrpSpPr/>
          <p:nvPr/>
        </p:nvGrpSpPr>
        <p:grpSpPr>
          <a:xfrm>
            <a:off x="4984507" y="3113584"/>
            <a:ext cx="144016" cy="144016"/>
            <a:chOff x="3431704" y="3688073"/>
            <a:chExt cx="144016" cy="144016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ACAA1008-86FE-B8E2-4DFD-7FA3E24B7201}"/>
                </a:ext>
              </a:extLst>
            </p:cNvPr>
            <p:cNvSpPr/>
            <p:nvPr/>
          </p:nvSpPr>
          <p:spPr>
            <a:xfrm>
              <a:off x="3431704" y="3688073"/>
              <a:ext cx="144016" cy="144016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DF1CA20-B995-B5E2-2ACB-14E678C98EFF}"/>
                </a:ext>
              </a:extLst>
            </p:cNvPr>
            <p:cNvSpPr/>
            <p:nvPr/>
          </p:nvSpPr>
          <p:spPr>
            <a:xfrm>
              <a:off x="3467712" y="3724081"/>
              <a:ext cx="72000" cy="72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AB04276-AC9D-253E-7DF2-9E6F5F268C01}"/>
              </a:ext>
            </a:extLst>
          </p:cNvPr>
          <p:cNvGrpSpPr/>
          <p:nvPr/>
        </p:nvGrpSpPr>
        <p:grpSpPr>
          <a:xfrm>
            <a:off x="5074519" y="3149592"/>
            <a:ext cx="144016" cy="144016"/>
            <a:chOff x="3431704" y="3688073"/>
            <a:chExt cx="144016" cy="144016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469C04A-A2DF-C5C0-3FD6-00BF9F8656A4}"/>
                </a:ext>
              </a:extLst>
            </p:cNvPr>
            <p:cNvSpPr/>
            <p:nvPr/>
          </p:nvSpPr>
          <p:spPr>
            <a:xfrm>
              <a:off x="3431704" y="3688073"/>
              <a:ext cx="144016" cy="144016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D55F864-DC61-B095-52E4-3E677DA66A7D}"/>
                </a:ext>
              </a:extLst>
            </p:cNvPr>
            <p:cNvSpPr/>
            <p:nvPr/>
          </p:nvSpPr>
          <p:spPr>
            <a:xfrm>
              <a:off x="3467712" y="3724081"/>
              <a:ext cx="72000" cy="72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7144743-A524-C80F-8CDB-8498D1BAF7CD}"/>
              </a:ext>
            </a:extLst>
          </p:cNvPr>
          <p:cNvGrpSpPr/>
          <p:nvPr/>
        </p:nvGrpSpPr>
        <p:grpSpPr>
          <a:xfrm>
            <a:off x="5051376" y="3307296"/>
            <a:ext cx="144016" cy="144016"/>
            <a:chOff x="3431704" y="3688073"/>
            <a:chExt cx="144016" cy="144016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722FC19-7B83-4F6A-3121-EF1466B5131F}"/>
                </a:ext>
              </a:extLst>
            </p:cNvPr>
            <p:cNvSpPr/>
            <p:nvPr/>
          </p:nvSpPr>
          <p:spPr>
            <a:xfrm>
              <a:off x="3431704" y="3688073"/>
              <a:ext cx="144016" cy="144016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868C178-202C-7143-4384-291AEB13A01B}"/>
                </a:ext>
              </a:extLst>
            </p:cNvPr>
            <p:cNvSpPr/>
            <p:nvPr/>
          </p:nvSpPr>
          <p:spPr>
            <a:xfrm>
              <a:off x="3467712" y="3724081"/>
              <a:ext cx="72000" cy="72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4B250D5-EC88-9239-4B0E-5BF65BA6581D}"/>
              </a:ext>
            </a:extLst>
          </p:cNvPr>
          <p:cNvGrpSpPr/>
          <p:nvPr/>
        </p:nvGrpSpPr>
        <p:grpSpPr>
          <a:xfrm>
            <a:off x="1991544" y="3429000"/>
            <a:ext cx="144016" cy="144016"/>
            <a:chOff x="3431704" y="3688073"/>
            <a:chExt cx="144016" cy="144016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CC7670CF-424E-0003-ED55-B99AE36D9071}"/>
                </a:ext>
              </a:extLst>
            </p:cNvPr>
            <p:cNvSpPr/>
            <p:nvPr/>
          </p:nvSpPr>
          <p:spPr>
            <a:xfrm>
              <a:off x="3431704" y="3688073"/>
              <a:ext cx="144016" cy="144016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3D37738-39E7-E787-0344-AFF4DE039C69}"/>
                </a:ext>
              </a:extLst>
            </p:cNvPr>
            <p:cNvSpPr/>
            <p:nvPr/>
          </p:nvSpPr>
          <p:spPr>
            <a:xfrm>
              <a:off x="3467712" y="3724081"/>
              <a:ext cx="72000" cy="72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pic>
        <p:nvPicPr>
          <p:cNvPr id="44" name="Graphic 43">
            <a:extLst>
              <a:ext uri="{FF2B5EF4-FFF2-40B4-BE49-F238E27FC236}">
                <a16:creationId xmlns:a16="http://schemas.microsoft.com/office/drawing/2014/main" id="{6790F2EF-6DD7-2647-BF26-C0C93310E2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24179" y="5625456"/>
            <a:ext cx="1340680" cy="552831"/>
          </a:xfrm>
          <a:prstGeom prst="rect">
            <a:avLst/>
          </a:prstGeom>
        </p:spPr>
      </p:pic>
      <p:pic>
        <p:nvPicPr>
          <p:cNvPr id="53" name="Picture 52" descr="A red text on a white background&#10;&#10;Description automatically generated">
            <a:extLst>
              <a:ext uri="{FF2B5EF4-FFF2-40B4-BE49-F238E27FC236}">
                <a16:creationId xmlns:a16="http://schemas.microsoft.com/office/drawing/2014/main" id="{F6251BD8-5A67-A25E-2CA9-88EE1D719F8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4119" y="1674949"/>
            <a:ext cx="1720800" cy="466499"/>
          </a:xfrm>
          <a:prstGeom prst="rect">
            <a:avLst/>
          </a:prstGeom>
        </p:spPr>
      </p:pic>
      <p:pic>
        <p:nvPicPr>
          <p:cNvPr id="56" name="Picture 55" descr="Blue letters on a black background&#10;&#10;Description automatically generated">
            <a:extLst>
              <a:ext uri="{FF2B5EF4-FFF2-40B4-BE49-F238E27FC236}">
                <a16:creationId xmlns:a16="http://schemas.microsoft.com/office/drawing/2014/main" id="{29872098-8059-B862-A9D9-F1FB10DA173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4859" y="1290112"/>
            <a:ext cx="1719321" cy="281405"/>
          </a:xfrm>
          <a:prstGeom prst="rect">
            <a:avLst/>
          </a:prstGeom>
        </p:spPr>
      </p:pic>
      <p:pic>
        <p:nvPicPr>
          <p:cNvPr id="58" name="Picture 57" descr="A blue and orange text on a black background&#10;&#10;Description automatically generated">
            <a:extLst>
              <a:ext uri="{FF2B5EF4-FFF2-40B4-BE49-F238E27FC236}">
                <a16:creationId xmlns:a16="http://schemas.microsoft.com/office/drawing/2014/main" id="{2CD3930E-2398-1803-2D21-EC7E8A845CA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699" y="3861551"/>
            <a:ext cx="1493641" cy="552647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224CF164-F617-C3F9-9372-7615D00D5A6D}"/>
              </a:ext>
            </a:extLst>
          </p:cNvPr>
          <p:cNvGrpSpPr/>
          <p:nvPr/>
        </p:nvGrpSpPr>
        <p:grpSpPr>
          <a:xfrm>
            <a:off x="1116099" y="3033275"/>
            <a:ext cx="901209" cy="973996"/>
            <a:chOff x="1116099" y="3033275"/>
            <a:chExt cx="901209" cy="973996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C702DF5A-8BEB-6AC4-CE20-7E22F653EA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431" r="22521"/>
            <a:stretch/>
          </p:blipFill>
          <p:spPr>
            <a:xfrm>
              <a:off x="1310541" y="3033275"/>
              <a:ext cx="512325" cy="710857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6EB4E47-FE91-8BD8-4AB6-2FAA070B1CA0}"/>
                </a:ext>
              </a:extLst>
            </p:cNvPr>
            <p:cNvSpPr txBox="1"/>
            <p:nvPr/>
          </p:nvSpPr>
          <p:spPr>
            <a:xfrm>
              <a:off x="1116099" y="3753355"/>
              <a:ext cx="901209" cy="253916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US" sz="105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John Harrold</a:t>
              </a:r>
              <a:endParaRPr lang="de-DE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069F6370-E5C4-91A5-E10A-91139DBF6A3B}"/>
              </a:ext>
            </a:extLst>
          </p:cNvPr>
          <p:cNvGrpSpPr/>
          <p:nvPr/>
        </p:nvGrpSpPr>
        <p:grpSpPr>
          <a:xfrm>
            <a:off x="3266260" y="3154369"/>
            <a:ext cx="979755" cy="991131"/>
            <a:chOff x="4180062" y="3047201"/>
            <a:chExt cx="979755" cy="991131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6E9E0842-4981-9648-41A6-4B6D03BA1D1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10431" y="3047201"/>
              <a:ext cx="519016" cy="73200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F58861F-EDD7-C2DB-304C-AD8D14204A6D}"/>
                </a:ext>
              </a:extLst>
            </p:cNvPr>
            <p:cNvSpPr txBox="1"/>
            <p:nvPr/>
          </p:nvSpPr>
          <p:spPr>
            <a:xfrm>
              <a:off x="4180062" y="3784416"/>
              <a:ext cx="979755" cy="253916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US" sz="105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Mirjam Trame</a:t>
              </a:r>
              <a:endParaRPr lang="de-DE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EEFAC007-CE41-20FC-1B38-ED318DBC66F3}"/>
              </a:ext>
            </a:extLst>
          </p:cNvPr>
          <p:cNvGrpSpPr/>
          <p:nvPr/>
        </p:nvGrpSpPr>
        <p:grpSpPr>
          <a:xfrm>
            <a:off x="5639597" y="2840946"/>
            <a:ext cx="952505" cy="1009009"/>
            <a:chOff x="6059992" y="2696153"/>
            <a:chExt cx="952505" cy="1009009"/>
          </a:xfrm>
        </p:grpSpPr>
        <p:pic>
          <p:nvPicPr>
            <p:cNvPr id="64" name="Picture 63" descr="A person wearing glasses and a black jacket&#10;&#10;Description automatically generated">
              <a:extLst>
                <a:ext uri="{FF2B5EF4-FFF2-40B4-BE49-F238E27FC236}">
                  <a16:creationId xmlns:a16="http://schemas.microsoft.com/office/drawing/2014/main" id="{09DDAC7F-50DE-EDC5-EBA0-389A297304A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682" r="15682"/>
            <a:stretch/>
          </p:blipFill>
          <p:spPr>
            <a:xfrm>
              <a:off x="6276736" y="2696153"/>
              <a:ext cx="519017" cy="75956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C241593-62DA-4EE4-CA17-CAFABC209ABD}"/>
                </a:ext>
              </a:extLst>
            </p:cNvPr>
            <p:cNvSpPr txBox="1"/>
            <p:nvPr/>
          </p:nvSpPr>
          <p:spPr>
            <a:xfrm>
              <a:off x="6059992" y="3451246"/>
              <a:ext cx="952505" cy="253916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US" sz="105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Justin Wilkins</a:t>
              </a:r>
              <a:endParaRPr lang="de-DE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0BCAEF0A-5949-722F-ED08-D2C6EC9D195E}"/>
              </a:ext>
            </a:extLst>
          </p:cNvPr>
          <p:cNvSpPr txBox="1"/>
          <p:nvPr/>
        </p:nvSpPr>
        <p:spPr>
          <a:xfrm>
            <a:off x="4652966" y="1985541"/>
            <a:ext cx="1074333" cy="25391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Rik </a:t>
            </a:r>
            <a:r>
              <a:rPr lang="en-US" sz="105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Schoemaker</a:t>
            </a:r>
            <a:endParaRPr lang="de-DE" sz="105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E571E3A4-8857-48D2-4EC7-D8AA1C9BF54F}"/>
              </a:ext>
            </a:extLst>
          </p:cNvPr>
          <p:cNvGrpSpPr/>
          <p:nvPr/>
        </p:nvGrpSpPr>
        <p:grpSpPr>
          <a:xfrm>
            <a:off x="5296012" y="4005328"/>
            <a:ext cx="899605" cy="994598"/>
            <a:chOff x="7191151" y="2696153"/>
            <a:chExt cx="899605" cy="994598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0E13B2ED-2C53-124C-8903-46F720854BD1}"/>
                </a:ext>
              </a:extLst>
            </p:cNvPr>
            <p:cNvSpPr txBox="1"/>
            <p:nvPr/>
          </p:nvSpPr>
          <p:spPr>
            <a:xfrm>
              <a:off x="7191151" y="3436835"/>
              <a:ext cx="899605" cy="253916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US" sz="105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Max Taubert</a:t>
              </a:r>
              <a:endParaRPr lang="de-DE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70" name="Picture 69" descr="A person smiling at the camera&#10;&#10;Description automatically generated">
              <a:extLst>
                <a:ext uri="{FF2B5EF4-FFF2-40B4-BE49-F238E27FC236}">
                  <a16:creationId xmlns:a16="http://schemas.microsoft.com/office/drawing/2014/main" id="{BB1C5E4D-0181-3875-FBC0-450601AEAB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094" t="6952" r="23750" b="15797"/>
            <a:stretch/>
          </p:blipFill>
          <p:spPr>
            <a:xfrm>
              <a:off x="7374596" y="2696153"/>
              <a:ext cx="532714" cy="732847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9D096F23-2BC5-680E-4E28-FC815FA136A6}"/>
              </a:ext>
            </a:extLst>
          </p:cNvPr>
          <p:cNvGrpSpPr/>
          <p:nvPr/>
        </p:nvGrpSpPr>
        <p:grpSpPr>
          <a:xfrm>
            <a:off x="4381575" y="4378592"/>
            <a:ext cx="1015021" cy="1158373"/>
            <a:chOff x="5543190" y="4292024"/>
            <a:chExt cx="1015021" cy="1158373"/>
          </a:xfrm>
        </p:grpSpPr>
        <p:pic>
          <p:nvPicPr>
            <p:cNvPr id="73" name="Picture 72" descr="A person wearing glasses and a grey suit&#10;&#10;Description automatically generated">
              <a:extLst>
                <a:ext uri="{FF2B5EF4-FFF2-40B4-BE49-F238E27FC236}">
                  <a16:creationId xmlns:a16="http://schemas.microsoft.com/office/drawing/2014/main" id="{092578CC-7661-2286-1166-6CE64E080E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249" r="6498"/>
            <a:stretch/>
          </p:blipFill>
          <p:spPr>
            <a:xfrm>
              <a:off x="5749653" y="4292024"/>
              <a:ext cx="602095" cy="732009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29F39B5-FF23-2EFD-EB5A-97CDC0BE15BA}"/>
                </a:ext>
              </a:extLst>
            </p:cNvPr>
            <p:cNvSpPr txBox="1"/>
            <p:nvPr/>
          </p:nvSpPr>
          <p:spPr>
            <a:xfrm>
              <a:off x="5543190" y="5034899"/>
              <a:ext cx="1015021" cy="415498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/>
              <a:r>
                <a:rPr lang="en-US" sz="105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Theo</a:t>
              </a:r>
            </a:p>
            <a:p>
              <a:pPr algn="ctr"/>
              <a:r>
                <a:rPr lang="en-US" sz="105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Papathanasiou</a:t>
              </a:r>
              <a:endParaRPr lang="de-DE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4B5059A7-9406-E62F-80E4-37732D6BBE95}"/>
              </a:ext>
            </a:extLst>
          </p:cNvPr>
          <p:cNvGrpSpPr/>
          <p:nvPr/>
        </p:nvGrpSpPr>
        <p:grpSpPr>
          <a:xfrm>
            <a:off x="5442078" y="1588521"/>
            <a:ext cx="1412566" cy="1018968"/>
            <a:chOff x="4706577" y="4437707"/>
            <a:chExt cx="1412566" cy="1018968"/>
          </a:xfrm>
        </p:grpSpPr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35DE4620-283F-D8F9-5378-F329DDB8ED5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62" r="6183"/>
            <a:stretch/>
          </p:blipFill>
          <p:spPr>
            <a:xfrm>
              <a:off x="5127998" y="4437707"/>
              <a:ext cx="569724" cy="76505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D3AADE6F-028E-CE8D-5EDA-9A8CDD37146F}"/>
                </a:ext>
              </a:extLst>
            </p:cNvPr>
            <p:cNvSpPr txBox="1"/>
            <p:nvPr/>
          </p:nvSpPr>
          <p:spPr>
            <a:xfrm>
              <a:off x="4706577" y="5202759"/>
              <a:ext cx="1412566" cy="253916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US" sz="105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Richard </a:t>
              </a:r>
              <a:r>
                <a:rPr lang="en-US" sz="1050" b="1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Hooijmaaijers</a:t>
              </a:r>
              <a:endPara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A5C08C1A-5AA6-32E6-FE8E-1F4BD40EBCC5}"/>
              </a:ext>
            </a:extLst>
          </p:cNvPr>
          <p:cNvGrpSpPr/>
          <p:nvPr/>
        </p:nvGrpSpPr>
        <p:grpSpPr>
          <a:xfrm>
            <a:off x="3747844" y="1740962"/>
            <a:ext cx="1048685" cy="879811"/>
            <a:chOff x="4299263" y="1131076"/>
            <a:chExt cx="1048685" cy="879811"/>
          </a:xfrm>
        </p:grpSpPr>
        <p:pic>
          <p:nvPicPr>
            <p:cNvPr id="80" name="Picture 79" descr="A person wearing glasses and a blazer&#10;&#10;Description automatically generated">
              <a:extLst>
                <a:ext uri="{FF2B5EF4-FFF2-40B4-BE49-F238E27FC236}">
                  <a16:creationId xmlns:a16="http://schemas.microsoft.com/office/drawing/2014/main" id="{0D9BE575-7DD6-3AC6-5BEF-BB26845144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367" r="15350" b="13250"/>
            <a:stretch/>
          </p:blipFill>
          <p:spPr>
            <a:xfrm>
              <a:off x="4568595" y="1131076"/>
              <a:ext cx="510020" cy="620688"/>
            </a:xfrm>
            <a:prstGeom prst="rect">
              <a:avLst/>
            </a:prstGeom>
          </p:spPr>
        </p:pic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3D82DB4A-CF31-40C5-2CF6-5C697F7396B9}"/>
                </a:ext>
              </a:extLst>
            </p:cNvPr>
            <p:cNvSpPr txBox="1"/>
            <p:nvPr/>
          </p:nvSpPr>
          <p:spPr>
            <a:xfrm>
              <a:off x="4299263" y="1756971"/>
              <a:ext cx="1048685" cy="253916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US" sz="105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Anne </a:t>
              </a:r>
              <a:r>
                <a:rPr lang="en-US" sz="1050" b="1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Keunecke</a:t>
              </a:r>
              <a:endParaRPr lang="de-DE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F86523E7-E36A-26F8-960D-14B2E056BA0E}"/>
              </a:ext>
            </a:extLst>
          </p:cNvPr>
          <p:cNvCxnSpPr>
            <a:cxnSpLocks/>
            <a:stCxn id="35" idx="3"/>
            <a:endCxn id="26" idx="2"/>
          </p:cNvCxnSpPr>
          <p:nvPr/>
        </p:nvCxnSpPr>
        <p:spPr>
          <a:xfrm>
            <a:off x="1822866" y="3388704"/>
            <a:ext cx="168678" cy="112304"/>
          </a:xfrm>
          <a:prstGeom prst="line">
            <a:avLst/>
          </a:prstGeom>
          <a:ln w="190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BFB006B3-9993-402A-463F-4F1DA08ACCA8}"/>
              </a:ext>
            </a:extLst>
          </p:cNvPr>
          <p:cNvCxnSpPr>
            <a:cxnSpLocks/>
            <a:endCxn id="8" idx="4"/>
          </p:cNvCxnSpPr>
          <p:nvPr/>
        </p:nvCxnSpPr>
        <p:spPr>
          <a:xfrm flipV="1">
            <a:off x="2602062" y="3948721"/>
            <a:ext cx="1042" cy="188070"/>
          </a:xfrm>
          <a:prstGeom prst="line">
            <a:avLst/>
          </a:prstGeom>
          <a:ln w="190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52B27CBC-8CDE-E615-4CCF-6260DD254DF5}"/>
              </a:ext>
            </a:extLst>
          </p:cNvPr>
          <p:cNvCxnSpPr>
            <a:cxnSpLocks/>
            <a:stCxn id="13" idx="6"/>
            <a:endCxn id="32" idx="1"/>
          </p:cNvCxnSpPr>
          <p:nvPr/>
        </p:nvCxnSpPr>
        <p:spPr>
          <a:xfrm flipV="1">
            <a:off x="3351462" y="3520373"/>
            <a:ext cx="145167" cy="1694"/>
          </a:xfrm>
          <a:prstGeom prst="line">
            <a:avLst/>
          </a:prstGeom>
          <a:ln w="190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79E2562-7F23-DA2F-055D-AB08954B14F6}"/>
              </a:ext>
            </a:extLst>
          </p:cNvPr>
          <p:cNvCxnSpPr>
            <a:cxnSpLocks/>
            <a:stCxn id="19" idx="6"/>
            <a:endCxn id="64" idx="1"/>
          </p:cNvCxnSpPr>
          <p:nvPr/>
        </p:nvCxnSpPr>
        <p:spPr>
          <a:xfrm flipV="1">
            <a:off x="5218535" y="3220729"/>
            <a:ext cx="637806" cy="871"/>
          </a:xfrm>
          <a:prstGeom prst="line">
            <a:avLst/>
          </a:prstGeom>
          <a:ln w="190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446F0E7D-F57C-3A91-87AC-B09E1BF4C770}"/>
              </a:ext>
            </a:extLst>
          </p:cNvPr>
          <p:cNvCxnSpPr>
            <a:cxnSpLocks/>
            <a:stCxn id="73" idx="0"/>
            <a:endCxn id="22" idx="4"/>
          </p:cNvCxnSpPr>
          <p:nvPr/>
        </p:nvCxnSpPr>
        <p:spPr>
          <a:xfrm flipV="1">
            <a:off x="4889086" y="3451312"/>
            <a:ext cx="234298" cy="927280"/>
          </a:xfrm>
          <a:prstGeom prst="line">
            <a:avLst/>
          </a:prstGeom>
          <a:ln w="190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1F0B0B3B-FE13-8905-8E54-6345F148A149}"/>
              </a:ext>
            </a:extLst>
          </p:cNvPr>
          <p:cNvCxnSpPr>
            <a:cxnSpLocks/>
            <a:stCxn id="22" idx="5"/>
            <a:endCxn id="70" idx="0"/>
          </p:cNvCxnSpPr>
          <p:nvPr/>
        </p:nvCxnSpPr>
        <p:spPr>
          <a:xfrm>
            <a:off x="5174301" y="3430221"/>
            <a:ext cx="571513" cy="575107"/>
          </a:xfrm>
          <a:prstGeom prst="line">
            <a:avLst/>
          </a:prstGeom>
          <a:ln w="190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993CE456-23C9-828F-2BFD-542D0C181012}"/>
              </a:ext>
            </a:extLst>
          </p:cNvPr>
          <p:cNvCxnSpPr>
            <a:cxnSpLocks/>
            <a:stCxn id="81" idx="2"/>
            <a:endCxn id="16" idx="1"/>
          </p:cNvCxnSpPr>
          <p:nvPr/>
        </p:nvCxnSpPr>
        <p:spPr>
          <a:xfrm>
            <a:off x="4272187" y="2620773"/>
            <a:ext cx="733411" cy="513902"/>
          </a:xfrm>
          <a:prstGeom prst="line">
            <a:avLst/>
          </a:prstGeom>
          <a:ln w="190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859E8274-90A1-6814-7D8F-177F9E7C9106}"/>
              </a:ext>
            </a:extLst>
          </p:cNvPr>
          <p:cNvCxnSpPr>
            <a:cxnSpLocks/>
            <a:stCxn id="16" idx="0"/>
            <a:endCxn id="68" idx="2"/>
          </p:cNvCxnSpPr>
          <p:nvPr/>
        </p:nvCxnSpPr>
        <p:spPr>
          <a:xfrm flipV="1">
            <a:off x="5056515" y="2239457"/>
            <a:ext cx="133618" cy="874127"/>
          </a:xfrm>
          <a:prstGeom prst="line">
            <a:avLst/>
          </a:prstGeom>
          <a:ln w="190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C777C701-3972-A73B-46A4-341DF8F8EE65}"/>
              </a:ext>
            </a:extLst>
          </p:cNvPr>
          <p:cNvCxnSpPr>
            <a:cxnSpLocks/>
            <a:stCxn id="17" idx="7"/>
            <a:endCxn id="78" idx="2"/>
          </p:cNvCxnSpPr>
          <p:nvPr/>
        </p:nvCxnSpPr>
        <p:spPr>
          <a:xfrm flipV="1">
            <a:off x="5081971" y="2607489"/>
            <a:ext cx="1066390" cy="552647"/>
          </a:xfrm>
          <a:prstGeom prst="line">
            <a:avLst/>
          </a:prstGeom>
          <a:ln w="190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131" name="Picture 130" descr="A black and yellow logo&#10;&#10;Description automatically generated">
            <a:extLst>
              <a:ext uri="{FF2B5EF4-FFF2-40B4-BE49-F238E27FC236}">
                <a16:creationId xmlns:a16="http://schemas.microsoft.com/office/drawing/2014/main" id="{585B8D93-3245-89AC-C1B3-FB6A0E333A1E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21" t="28046" r="10745" b="24739"/>
          <a:stretch/>
        </p:blipFill>
        <p:spPr>
          <a:xfrm>
            <a:off x="9866427" y="4517630"/>
            <a:ext cx="1656185" cy="582859"/>
          </a:xfrm>
          <a:prstGeom prst="rect">
            <a:avLst/>
          </a:prstGeom>
        </p:spPr>
      </p:pic>
      <p:pic>
        <p:nvPicPr>
          <p:cNvPr id="133" name="Picture 132" descr="A red and black logo&#10;&#10;Description automatically generated">
            <a:extLst>
              <a:ext uri="{FF2B5EF4-FFF2-40B4-BE49-F238E27FC236}">
                <a16:creationId xmlns:a16="http://schemas.microsoft.com/office/drawing/2014/main" id="{B10D2C8D-69FA-0E5F-9519-65DBB913A522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294" y="5203921"/>
            <a:ext cx="1602450" cy="318104"/>
          </a:xfrm>
          <a:prstGeom prst="rect">
            <a:avLst/>
          </a:prstGeom>
        </p:spPr>
      </p:pic>
      <p:pic>
        <p:nvPicPr>
          <p:cNvPr id="135" name="Picture 134" descr="A close up of a logo&#10;&#10;Description automatically generated">
            <a:extLst>
              <a:ext uri="{FF2B5EF4-FFF2-40B4-BE49-F238E27FC236}">
                <a16:creationId xmlns:a16="http://schemas.microsoft.com/office/drawing/2014/main" id="{EBA8BE01-6784-B19A-9BEE-8D293D0C6228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20" b="14533"/>
          <a:stretch/>
        </p:blipFill>
        <p:spPr>
          <a:xfrm>
            <a:off x="10249147" y="3377789"/>
            <a:ext cx="890744" cy="380330"/>
          </a:xfrm>
          <a:prstGeom prst="rect">
            <a:avLst/>
          </a:prstGeom>
        </p:spPr>
      </p:pic>
      <p:sp>
        <p:nvSpPr>
          <p:cNvPr id="136" name="TextBox 135">
            <a:extLst>
              <a:ext uri="{FF2B5EF4-FFF2-40B4-BE49-F238E27FC236}">
                <a16:creationId xmlns:a16="http://schemas.microsoft.com/office/drawing/2014/main" id="{4A91A318-D1D8-7022-3413-D87E2BA9496A}"/>
              </a:ext>
            </a:extLst>
          </p:cNvPr>
          <p:cNvSpPr txBox="1"/>
          <p:nvPr/>
        </p:nvSpPr>
        <p:spPr>
          <a:xfrm>
            <a:off x="6195617" y="181023"/>
            <a:ext cx="58123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nlmixr2 R Consortium Working Group is an international group from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nine large pharmaceutical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companies and CROs. Team members’ time is donated by their organizations. </a:t>
            </a:r>
            <a:endParaRPr lang="de-D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 descr="A person wearing glasses and a black jacket&#10;&#10;AI-generated content may be incorrect.">
            <a:extLst>
              <a:ext uri="{FF2B5EF4-FFF2-40B4-BE49-F238E27FC236}">
                <a16:creationId xmlns:a16="http://schemas.microsoft.com/office/drawing/2014/main" id="{330C3B51-7BA1-012B-1927-40CAF4E581D7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93" r="12737"/>
          <a:stretch>
            <a:fillRect/>
          </a:stretch>
        </p:blipFill>
        <p:spPr>
          <a:xfrm>
            <a:off x="2297201" y="4136791"/>
            <a:ext cx="584754" cy="819337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CAA48567-C77E-B7E8-22BE-D855D77B7EC8}"/>
              </a:ext>
            </a:extLst>
          </p:cNvPr>
          <p:cNvSpPr txBox="1"/>
          <p:nvPr/>
        </p:nvSpPr>
        <p:spPr>
          <a:xfrm>
            <a:off x="2197945" y="4917115"/>
            <a:ext cx="808235" cy="25391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Matt Fidler</a:t>
            </a:r>
            <a:endParaRPr lang="de-DE" sz="105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8" name="Picture 4" descr="Gilead Sciences Logo in SVG Vector ...">
            <a:extLst>
              <a:ext uri="{FF2B5EF4-FFF2-40B4-BE49-F238E27FC236}">
                <a16:creationId xmlns:a16="http://schemas.microsoft.com/office/drawing/2014/main" id="{8228E048-C259-BF6E-C31F-969CF27413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796" b="32335"/>
          <a:stretch>
            <a:fillRect/>
          </a:stretch>
        </p:blipFill>
        <p:spPr bwMode="auto">
          <a:xfrm>
            <a:off x="9743829" y="2807858"/>
            <a:ext cx="1901381" cy="46649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enentech">
            <a:extLst>
              <a:ext uri="{FF2B5EF4-FFF2-40B4-BE49-F238E27FC236}">
                <a16:creationId xmlns:a16="http://schemas.microsoft.com/office/drawing/2014/main" id="{95CB7FD7-281E-4F84-9276-C7000EA32A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0865" y="2244880"/>
            <a:ext cx="1767308" cy="459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29B99BB-1B41-2670-DECF-F313AF79DD6B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715188" y="2417309"/>
            <a:ext cx="434290" cy="781097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FFD0D04F-5208-E404-19D8-4205F529C865}"/>
              </a:ext>
            </a:extLst>
          </p:cNvPr>
          <p:cNvSpPr txBox="1"/>
          <p:nvPr/>
        </p:nvSpPr>
        <p:spPr>
          <a:xfrm>
            <a:off x="2529164" y="3052340"/>
            <a:ext cx="819455" cy="25391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Bill Denney</a:t>
            </a:r>
            <a:endParaRPr lang="de-DE" sz="105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31BF82C-42E3-C2B6-04FE-705BDFCBCABD}"/>
              </a:ext>
            </a:extLst>
          </p:cNvPr>
          <p:cNvGrpSpPr/>
          <p:nvPr/>
        </p:nvGrpSpPr>
        <p:grpSpPr>
          <a:xfrm>
            <a:off x="2004556" y="3414218"/>
            <a:ext cx="144016" cy="144016"/>
            <a:chOff x="3431704" y="3688073"/>
            <a:chExt cx="144016" cy="144016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59F5D5D-A41D-BD9F-4795-D1F722046EE8}"/>
                </a:ext>
              </a:extLst>
            </p:cNvPr>
            <p:cNvSpPr/>
            <p:nvPr/>
          </p:nvSpPr>
          <p:spPr>
            <a:xfrm>
              <a:off x="3431704" y="3688073"/>
              <a:ext cx="144016" cy="144016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E813547E-902B-54BA-A31E-3CA02EA57915}"/>
                </a:ext>
              </a:extLst>
            </p:cNvPr>
            <p:cNvSpPr/>
            <p:nvPr/>
          </p:nvSpPr>
          <p:spPr>
            <a:xfrm>
              <a:off x="3467712" y="3724081"/>
              <a:ext cx="72000" cy="72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1D352A9-7F8C-0921-3B31-3764724ACDFE}"/>
              </a:ext>
            </a:extLst>
          </p:cNvPr>
          <p:cNvGrpSpPr/>
          <p:nvPr/>
        </p:nvGrpSpPr>
        <p:grpSpPr>
          <a:xfrm>
            <a:off x="1055668" y="4067172"/>
            <a:ext cx="867545" cy="1059712"/>
            <a:chOff x="1055668" y="4067172"/>
            <a:chExt cx="867545" cy="1059712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28C52074-A14A-A1CE-97D1-A6C56F10D1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263137" y="4067172"/>
              <a:ext cx="492327" cy="788570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F834F0A-9DE8-4985-0857-7B12A8E6816A}"/>
                </a:ext>
              </a:extLst>
            </p:cNvPr>
            <p:cNvSpPr txBox="1"/>
            <p:nvPr/>
          </p:nvSpPr>
          <p:spPr>
            <a:xfrm>
              <a:off x="1055668" y="4872968"/>
              <a:ext cx="867545" cy="253916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/>
              <a:r>
                <a:rPr lang="en-US" sz="105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Mutaz Jaber</a:t>
              </a:r>
              <a:endParaRPr lang="de-DE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818C696D-78AF-0C8A-32B3-FAB1168CEAC6}"/>
              </a:ext>
            </a:extLst>
          </p:cNvPr>
          <p:cNvGrpSpPr/>
          <p:nvPr/>
        </p:nvGrpSpPr>
        <p:grpSpPr>
          <a:xfrm>
            <a:off x="983432" y="2173574"/>
            <a:ext cx="1090363" cy="854892"/>
            <a:chOff x="1048916" y="2173574"/>
            <a:chExt cx="1090363" cy="854892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E695C90-A541-439D-ACD7-AB3F1F0CEAFB}"/>
                </a:ext>
              </a:extLst>
            </p:cNvPr>
            <p:cNvSpPr txBox="1"/>
            <p:nvPr/>
          </p:nvSpPr>
          <p:spPr>
            <a:xfrm>
              <a:off x="1048916" y="2774550"/>
              <a:ext cx="1090363" cy="253916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/>
              <a:r>
                <a:rPr lang="en-US" sz="105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Brendan Bender</a:t>
              </a:r>
              <a:endParaRPr lang="de-DE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21453073-6F99-553C-5243-27EC3CDC25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383620" y="2173574"/>
              <a:ext cx="431752" cy="602784"/>
            </a:xfrm>
            <a:prstGeom prst="rect">
              <a:avLst/>
            </a:prstGeom>
          </p:spPr>
        </p:pic>
      </p:grp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C30B26F-ABF2-948B-969B-5833CB2177C5}"/>
              </a:ext>
            </a:extLst>
          </p:cNvPr>
          <p:cNvCxnSpPr>
            <a:cxnSpLocks/>
            <a:endCxn id="27" idx="7"/>
          </p:cNvCxnSpPr>
          <p:nvPr/>
        </p:nvCxnSpPr>
        <p:spPr>
          <a:xfrm>
            <a:off x="1975672" y="3062483"/>
            <a:ext cx="113336" cy="413069"/>
          </a:xfrm>
          <a:prstGeom prst="line">
            <a:avLst/>
          </a:prstGeom>
          <a:ln w="190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EADFF4BC-A7DF-2BFC-83CE-7906E86A7EEC}"/>
              </a:ext>
            </a:extLst>
          </p:cNvPr>
          <p:cNvCxnSpPr>
            <a:cxnSpLocks/>
            <a:stCxn id="39" idx="4"/>
            <a:endCxn id="40" idx="3"/>
          </p:cNvCxnSpPr>
          <p:nvPr/>
        </p:nvCxnSpPr>
        <p:spPr>
          <a:xfrm flipH="1">
            <a:off x="1923213" y="3522226"/>
            <a:ext cx="153351" cy="1477700"/>
          </a:xfrm>
          <a:prstGeom prst="line">
            <a:avLst/>
          </a:prstGeom>
          <a:ln w="190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1034" name="Picture 10">
            <a:extLst>
              <a:ext uri="{FF2B5EF4-FFF2-40B4-BE49-F238E27FC236}">
                <a16:creationId xmlns:a16="http://schemas.microsoft.com/office/drawing/2014/main" id="{DFEEC009-C7EB-6FED-410B-1A57165E7C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0541" y="-10260"/>
            <a:ext cx="28575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A829D1A2-4FB4-3216-5C66-A848F17C2012}"/>
              </a:ext>
            </a:extLst>
          </p:cNvPr>
          <p:cNvSpPr txBox="1"/>
          <p:nvPr/>
        </p:nvSpPr>
        <p:spPr>
          <a:xfrm>
            <a:off x="3624368" y="5665698"/>
            <a:ext cx="29677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nlmixr2 ecosystem is growing with contributions in and out of the working group</a:t>
            </a:r>
            <a:endParaRPr lang="de-D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9914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EF4DD-09B3-A83E-FA62-6E2B1DAE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Governance and the advisory board</a:t>
            </a:r>
            <a:endParaRPr lang="de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6AB3F0-A3A9-C8EF-3E7D-86A54490DB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Development is led by </a:t>
            </a:r>
            <a:r>
              <a:rPr lang="en-US" b="1" dirty="0"/>
              <a:t>Matt Fidler </a:t>
            </a:r>
            <a:r>
              <a:rPr lang="en-US" dirty="0"/>
              <a:t>at Novartis, who provides the bulk of the coding</a:t>
            </a:r>
          </a:p>
          <a:p>
            <a:r>
              <a:rPr lang="en-US" dirty="0"/>
              <a:t>Other team members provide development support on the main or satellite packages, training, testing and documentation</a:t>
            </a:r>
          </a:p>
          <a:p>
            <a:r>
              <a:rPr lang="de-DE" dirty="0"/>
              <a:t>An </a:t>
            </a:r>
            <a:r>
              <a:rPr lang="de-DE" b="1" dirty="0" err="1"/>
              <a:t>advisory</a:t>
            </a:r>
            <a:r>
              <a:rPr lang="de-DE" b="1" dirty="0"/>
              <a:t> </a:t>
            </a:r>
            <a:r>
              <a:rPr lang="de-DE" b="1" dirty="0" err="1"/>
              <a:t>group</a:t>
            </a:r>
            <a:r>
              <a:rPr lang="de-DE" b="1" dirty="0"/>
              <a:t> </a:t>
            </a:r>
            <a:r>
              <a:rPr lang="de-DE" dirty="0"/>
              <a:t>was </a:t>
            </a:r>
            <a:r>
              <a:rPr lang="de-DE" dirty="0" err="1"/>
              <a:t>established</a:t>
            </a:r>
            <a:r>
              <a:rPr lang="de-DE" dirty="0"/>
              <a:t> in 2024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guide</a:t>
            </a:r>
            <a:r>
              <a:rPr lang="de-DE" dirty="0"/>
              <a:t> </a:t>
            </a:r>
            <a:r>
              <a:rPr lang="de-DE" dirty="0" err="1"/>
              <a:t>development</a:t>
            </a:r>
            <a:r>
              <a:rPr lang="de-DE" dirty="0"/>
              <a:t> </a:t>
            </a:r>
            <a:r>
              <a:rPr lang="de-DE" dirty="0" err="1"/>
              <a:t>priorities</a:t>
            </a:r>
            <a:r>
              <a:rPr lang="de-DE" dirty="0"/>
              <a:t> and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provide</a:t>
            </a:r>
            <a:r>
              <a:rPr lang="de-DE" dirty="0"/>
              <a:t> </a:t>
            </a:r>
            <a:r>
              <a:rPr lang="de-DE" dirty="0" err="1"/>
              <a:t>input</a:t>
            </a:r>
            <a:r>
              <a:rPr lang="de-DE" dirty="0"/>
              <a:t> on </a:t>
            </a:r>
            <a:r>
              <a:rPr lang="de-DE" dirty="0" err="1"/>
              <a:t>sustainability</a:t>
            </a:r>
            <a:r>
              <a:rPr lang="de-DE" dirty="0"/>
              <a:t> and </a:t>
            </a:r>
            <a:r>
              <a:rPr lang="de-DE" dirty="0" err="1"/>
              <a:t>theoretical</a:t>
            </a:r>
            <a:r>
              <a:rPr lang="de-DE" dirty="0"/>
              <a:t> </a:t>
            </a:r>
            <a:r>
              <a:rPr lang="de-DE" dirty="0" err="1"/>
              <a:t>matters</a:t>
            </a:r>
            <a:r>
              <a:rPr lang="de-DE" dirty="0"/>
              <a:t>; </a:t>
            </a:r>
            <a:r>
              <a:rPr lang="de-DE" dirty="0" err="1"/>
              <a:t>meets</a:t>
            </a:r>
            <a:r>
              <a:rPr lang="de-DE" dirty="0"/>
              <a:t> bi-</a:t>
            </a:r>
            <a:r>
              <a:rPr lang="de-DE" dirty="0" err="1"/>
              <a:t>annually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needed</a:t>
            </a:r>
            <a:endParaRPr lang="de-DE" dirty="0"/>
          </a:p>
          <a:p>
            <a:pPr lvl="1"/>
            <a:r>
              <a:rPr lang="de-DE" b="1" dirty="0"/>
              <a:t>Paolo Denti </a:t>
            </a:r>
            <a:r>
              <a:rPr lang="de-DE" dirty="0"/>
              <a:t>(University of Cape Town, South </a:t>
            </a:r>
            <a:r>
              <a:rPr lang="de-DE" dirty="0" err="1"/>
              <a:t>Africa</a:t>
            </a:r>
            <a:r>
              <a:rPr lang="de-DE" dirty="0"/>
              <a:t>)</a:t>
            </a:r>
          </a:p>
          <a:p>
            <a:pPr lvl="1"/>
            <a:r>
              <a:rPr lang="de-DE" b="1" dirty="0"/>
              <a:t>Jeffry Florian </a:t>
            </a:r>
            <a:r>
              <a:rPr lang="de-DE" dirty="0"/>
              <a:t>(FDA, USA)</a:t>
            </a:r>
          </a:p>
          <a:p>
            <a:pPr lvl="1"/>
            <a:r>
              <a:rPr lang="de-DE" b="1" dirty="0"/>
              <a:t>Marc Gastonguay </a:t>
            </a:r>
            <a:r>
              <a:rPr lang="de-DE" dirty="0"/>
              <a:t>(Metrum, USA)</a:t>
            </a:r>
          </a:p>
          <a:p>
            <a:pPr lvl="1"/>
            <a:r>
              <a:rPr lang="de-DE" b="1" dirty="0"/>
              <a:t>Kai Grosch</a:t>
            </a:r>
            <a:r>
              <a:rPr lang="de-DE" dirty="0"/>
              <a:t> (Novartis, USA)</a:t>
            </a:r>
          </a:p>
          <a:p>
            <a:pPr lvl="1"/>
            <a:r>
              <a:rPr lang="de-DE" b="1" dirty="0"/>
              <a:t>Manuel Ibarra </a:t>
            </a:r>
            <a:r>
              <a:rPr lang="de-DE" dirty="0"/>
              <a:t>(Universidad de la </a:t>
            </a:r>
            <a:r>
              <a:rPr lang="de-DE" dirty="0" err="1"/>
              <a:t>República</a:t>
            </a:r>
            <a:r>
              <a:rPr lang="de-DE" dirty="0"/>
              <a:t>, Uruguay)</a:t>
            </a:r>
          </a:p>
          <a:p>
            <a:pPr lvl="1"/>
            <a:r>
              <a:rPr lang="de-DE" b="1" dirty="0"/>
              <a:t>Mats Karlsson </a:t>
            </a:r>
            <a:r>
              <a:rPr lang="de-DE" dirty="0"/>
              <a:t>(Uppsala University, </a:t>
            </a:r>
            <a:r>
              <a:rPr lang="de-DE" dirty="0" err="1"/>
              <a:t>Sweden</a:t>
            </a:r>
            <a:r>
              <a:rPr lang="de-DE" dirty="0"/>
              <a:t>)</a:t>
            </a:r>
          </a:p>
          <a:p>
            <a:pPr lvl="1"/>
            <a:r>
              <a:rPr lang="de-DE" b="1" dirty="0"/>
              <a:t>Joe Standing </a:t>
            </a:r>
            <a:r>
              <a:rPr lang="de-DE" dirty="0"/>
              <a:t>(University College London, UK)</a:t>
            </a:r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982AA4-A143-ADA8-A075-2D8E0DC5DC7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B16AD5-0F13-413F-F027-646491F9BE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1369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rxode2 simulation software in 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GB" dirty="0">
                <a:solidFill>
                  <a:srgbClr val="B40000"/>
                </a:solidFill>
              </a:rPr>
              <a:t>rxode2</a:t>
            </a:r>
            <a:r>
              <a:rPr lang="en-GB" dirty="0"/>
              <a:t> is pharmacometric simulation software using ordinary differential equations (ODEs) as an open-source R package </a:t>
            </a:r>
          </a:p>
          <a:p>
            <a:r>
              <a:rPr lang="en-GB" dirty="0"/>
              <a:t>Rewritten by Matt Fidler after Wenping Wang’s original </a:t>
            </a:r>
            <a:r>
              <a:rPr lang="en-GB" dirty="0" err="1"/>
              <a:t>RxODE</a:t>
            </a:r>
            <a:r>
              <a:rPr lang="en-GB" dirty="0"/>
              <a:t> package, available on </a:t>
            </a:r>
            <a:r>
              <a:rPr lang="en-GB" dirty="0" err="1"/>
              <a:t>CRAN</a:t>
            </a:r>
            <a:r>
              <a:rPr lang="en-GB" baseline="30000" dirty="0" err="1"/>
              <a:t>a</a:t>
            </a:r>
            <a:r>
              <a:rPr lang="en-GB" dirty="0"/>
              <a:t> and </a:t>
            </a:r>
            <a:r>
              <a:rPr lang="en-GB" dirty="0" err="1"/>
              <a:t>GitHub</a:t>
            </a:r>
            <a:r>
              <a:rPr lang="en-GB" baseline="30000" dirty="0" err="1"/>
              <a:t>b</a:t>
            </a:r>
            <a:r>
              <a:rPr lang="en-GB" dirty="0"/>
              <a:t>, and described in a tutorial in </a:t>
            </a:r>
            <a:r>
              <a:rPr lang="en-GB" dirty="0" err="1"/>
              <a:t>CPT:PSP</a:t>
            </a:r>
            <a:r>
              <a:rPr lang="en-GB" baseline="30000" dirty="0" err="1"/>
              <a:t>c</a:t>
            </a:r>
            <a:r>
              <a:rPr lang="en-GB" dirty="0"/>
              <a:t> and with online </a:t>
            </a:r>
            <a:r>
              <a:rPr lang="en-GB" dirty="0" err="1"/>
              <a:t>documentation</a:t>
            </a:r>
            <a:r>
              <a:rPr lang="en-GB" baseline="30000" dirty="0" err="1"/>
              <a:t>d</a:t>
            </a:r>
            <a:endParaRPr lang="en-GB" dirty="0"/>
          </a:p>
          <a:p>
            <a:r>
              <a:rPr lang="en-GB" dirty="0"/>
              <a:t>Simulation of ODEs was already possible in R (using </a:t>
            </a:r>
            <a:r>
              <a:rPr lang="en-GB" dirty="0" err="1"/>
              <a:t>deSolve</a:t>
            </a:r>
            <a:r>
              <a:rPr lang="en-GB" dirty="0"/>
              <a:t>), but was slow and virtually impossible to code with flexible dosing history</a:t>
            </a:r>
          </a:p>
          <a:p>
            <a:r>
              <a:rPr lang="en-GB" dirty="0">
                <a:solidFill>
                  <a:srgbClr val="B40000"/>
                </a:solidFill>
              </a:rPr>
              <a:t>rxode2</a:t>
            </a:r>
            <a:r>
              <a:rPr lang="en-GB" dirty="0"/>
              <a:t> has rapid execution due to compilation in C </a:t>
            </a:r>
          </a:p>
          <a:p>
            <a:r>
              <a:rPr lang="en-GB" dirty="0">
                <a:solidFill>
                  <a:srgbClr val="B40000"/>
                </a:solidFill>
              </a:rPr>
              <a:t>rxode2</a:t>
            </a:r>
            <a:r>
              <a:rPr lang="en-GB" dirty="0"/>
              <a:t> allows fully flexible dosing history</a:t>
            </a:r>
          </a:p>
          <a:p>
            <a:r>
              <a:rPr lang="en-GB" dirty="0"/>
              <a:t>Stable and mature software for Windows, OS X (in docker), Linux</a:t>
            </a:r>
          </a:p>
          <a:p>
            <a:r>
              <a:rPr lang="en-GB" dirty="0"/>
              <a:t>Requires external compilers (provided by </a:t>
            </a:r>
            <a:r>
              <a:rPr lang="en-GB" dirty="0" err="1"/>
              <a:t>Rtools</a:t>
            </a:r>
            <a:r>
              <a:rPr lang="en-GB" dirty="0"/>
              <a:t> on Windows)</a:t>
            </a:r>
          </a:p>
          <a:p>
            <a:pPr marL="0" indent="0">
              <a:buNone/>
            </a:pPr>
            <a:endParaRPr lang="en-GB" sz="1400" dirty="0"/>
          </a:p>
          <a:p>
            <a:pPr marL="0" indent="0">
              <a:buNone/>
            </a:pPr>
            <a:r>
              <a:rPr lang="en-GB" sz="1400" dirty="0"/>
              <a:t>[a] CRAN: </a:t>
            </a:r>
            <a:r>
              <a:rPr lang="en-GB" sz="1400" u="sng" dirty="0">
                <a:hlinkClick r:id="rId2"/>
              </a:rPr>
              <a:t>https://cran.r-project.org/web/packages/rxode2</a:t>
            </a:r>
            <a:r>
              <a:rPr lang="en-GB" sz="1400" u="sng" dirty="0"/>
              <a:t> </a:t>
            </a:r>
            <a:endParaRPr lang="en-GB" sz="1400" dirty="0"/>
          </a:p>
          <a:p>
            <a:pPr marL="0" indent="0">
              <a:buNone/>
            </a:pPr>
            <a:r>
              <a:rPr lang="en-GB" sz="1400" dirty="0"/>
              <a:t>[b] GitHub: </a:t>
            </a:r>
            <a:r>
              <a:rPr lang="en-GB" sz="1400" u="sng" dirty="0">
                <a:hlinkClick r:id="rId3"/>
              </a:rPr>
              <a:t>https://github.com/nlmixr2/rxode2</a:t>
            </a:r>
            <a:r>
              <a:rPr lang="en-GB" sz="1400" u="sng" dirty="0"/>
              <a:t> </a:t>
            </a:r>
          </a:p>
          <a:p>
            <a:pPr marL="0" indent="0">
              <a:buNone/>
            </a:pPr>
            <a:r>
              <a:rPr lang="nl-NL" sz="1400" dirty="0"/>
              <a:t>[c] Wang W et al. CPT:PSP (2016) 5, 3–10. </a:t>
            </a:r>
          </a:p>
          <a:p>
            <a:pPr marL="0" indent="0">
              <a:buNone/>
            </a:pPr>
            <a:r>
              <a:rPr lang="nl-NL" sz="1400" dirty="0"/>
              <a:t>[d] RxODE packagedown: </a:t>
            </a:r>
            <a:r>
              <a:rPr lang="nl-NL" sz="1400" dirty="0">
                <a:hlinkClick r:id="rId4"/>
              </a:rPr>
              <a:t>https://nlmixr2.github.io/rxode2</a:t>
            </a:r>
            <a:r>
              <a:rPr lang="nl-NL" sz="1400" dirty="0"/>
              <a:t> </a:t>
            </a:r>
            <a:endParaRPr lang="en-GB" sz="1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1608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46F8D-B830-4D6C-97F1-47202217A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example: load the library and define the model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156CB4-23EE-4D64-B02F-86863166E4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EECF8C-CF5C-4D08-99DB-6FC0B698B1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AE114B-8401-4B4C-A22E-A002FF7E468D}"/>
              </a:ext>
            </a:extLst>
          </p:cNvPr>
          <p:cNvSpPr/>
          <p:nvPr/>
        </p:nvSpPr>
        <p:spPr>
          <a:xfrm>
            <a:off x="631072" y="1196752"/>
            <a:ext cx="1021745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library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(rxode2)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US" sz="16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set up the system of differential equations (ODEs)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odeKA1 &lt;-</a:t>
            </a:r>
            <a:r>
              <a:rPr lang="en-US" sz="16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"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d/dt(depot)   = -ka*depot;                </a:t>
            </a:r>
            <a:r>
              <a:rPr lang="en-US" sz="16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This is compartment number 1 (depot)</a:t>
            </a:r>
            <a:br>
              <a:rPr lang="en-US" sz="16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d/dt(central) =  ka*depot-(cl/v)*central; </a:t>
            </a:r>
            <a:r>
              <a:rPr lang="en-US" sz="16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This is compartment number 2 (central)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C1=central/v;                             </a:t>
            </a:r>
            <a:r>
              <a:rPr lang="en-US" sz="16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Calculates concentration from amount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"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3828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46F8D-B830-4D6C-97F1-47202217A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Compile the model and set the parameter values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156CB4-23EE-4D64-B02F-86863166E4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EECF8C-CF5C-4D08-99DB-6FC0B698B1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AE114B-8401-4B4C-A22E-A002FF7E468D}"/>
              </a:ext>
            </a:extLst>
          </p:cNvPr>
          <p:cNvSpPr/>
          <p:nvPr/>
        </p:nvSpPr>
        <p:spPr>
          <a:xfrm>
            <a:off x="623392" y="1196752"/>
            <a:ext cx="10657184" cy="4555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library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(rxode2)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US" sz="16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set up the system of differential equations (ODEs)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odeKA1 &lt;-</a:t>
            </a:r>
            <a:r>
              <a:rPr lang="en-US" sz="16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"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d/dt(depot)   = -ka*depot;                </a:t>
            </a:r>
            <a:r>
              <a:rPr lang="en-US" sz="16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This is compartment number 1 (depot)</a:t>
            </a:r>
            <a:br>
              <a:rPr lang="en-US" sz="16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d/dt(central) =  ka*depot-(cl/v)*central; </a:t>
            </a:r>
            <a:r>
              <a:rPr lang="en-US" sz="16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This is compartment number 2 (central)</a:t>
            </a:r>
            <a:br>
              <a:rPr lang="en-US" sz="16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C1=central/v;                             </a:t>
            </a:r>
            <a:r>
              <a:rPr lang="en-US" sz="16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Calculates concentration from amount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"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6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compile the model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modKA1 &lt;-</a:t>
            </a:r>
            <a:r>
              <a:rPr lang="en-US" sz="16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rxode2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model =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odeKA1)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6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provide the parameter values to be simulated: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Params &lt;-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6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ka =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log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r>
              <a:rPr lang="en-US" sz="16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6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 </a:t>
            </a:r>
            <a:r>
              <a:rPr lang="en-US" sz="16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1/h (absorption half-life of 30 minutes)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6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cl =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0.135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      </a:t>
            </a:r>
            <a:r>
              <a:rPr lang="en-US" sz="16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L/h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6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v =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8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          </a:t>
            </a:r>
            <a:r>
              <a:rPr lang="en-US" sz="16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L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8293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46F8D-B830-4D6C-97F1-47202217A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Create an event table that defines the doses and the sampling times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156CB4-23EE-4D64-B02F-86863166E4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EECF8C-CF5C-4D08-99DB-6FC0B698B1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AE114B-8401-4B4C-A22E-A002FF7E468D}"/>
              </a:ext>
            </a:extLst>
          </p:cNvPr>
          <p:cNvSpPr/>
          <p:nvPr/>
        </p:nvSpPr>
        <p:spPr>
          <a:xfrm>
            <a:off x="630743" y="1196752"/>
            <a:ext cx="8352928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library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(rxode2)</a:t>
            </a:r>
          </a:p>
          <a:p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set up the system of differential equations (ODEs)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odeKA1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"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d/dt(depot)   = -ka*depot;            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This is compartment number 1 (depot)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d/dt(central) =  ka*depot-(cl/v)*central;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This is compartment number 2 (central)</a:t>
            </a:r>
            <a:b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C1=central/v;                         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Calculates concentration from amount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"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compile the model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modKA1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rxode2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model =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odeKA1)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provide the parameter values to be simulated: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Params &lt;-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ka =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log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0.5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1/h (absorption half-life of 30 minutes)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cl =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0.135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  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L/h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v =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8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      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L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create an empty event table that stores both dosing and sampling information :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ev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eventTable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US" sz="14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add a dose to the event table: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ev</a:t>
            </a:r>
            <a:r>
              <a:rPr lang="en-US" sz="1200" b="1" dirty="0" err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$</a:t>
            </a:r>
            <a:r>
              <a:rPr lang="en-US" sz="1200" b="1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add.dosing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dose =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500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mg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US" sz="14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add time points to the event table where concentrations will be simulated </a:t>
            </a:r>
          </a:p>
          <a:p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these actions are cumulative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ev</a:t>
            </a:r>
            <a:r>
              <a:rPr lang="en-US" sz="1200" b="1" dirty="0" err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$</a:t>
            </a:r>
            <a:r>
              <a:rPr lang="en-US" sz="1200" b="1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add.sampling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seq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120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GB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1775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46F8D-B830-4D6C-97F1-47202217A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Then solve the equations and plot the results!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156CB4-23EE-4D64-B02F-86863166E4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EECF8C-CF5C-4D08-99DB-6FC0B698B1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AE114B-8401-4B4C-A22E-A002FF7E468D}"/>
              </a:ext>
            </a:extLst>
          </p:cNvPr>
          <p:cNvSpPr/>
          <p:nvPr/>
        </p:nvSpPr>
        <p:spPr>
          <a:xfrm>
            <a:off x="623392" y="1200809"/>
            <a:ext cx="8352928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library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(rxode2)</a:t>
            </a:r>
          </a:p>
          <a:p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set up the system of differential equations (ODEs)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odeKA1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"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d/dt(depot)   = -ka*depot;            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This is compartment number 1 (depot)</a:t>
            </a:r>
            <a:b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d/dt(central) =  ka*depot-(cl/v)*central;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This is compartment number 2 (central)</a:t>
            </a:r>
            <a:b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C1=central/v;                         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Calculates concentration from amount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"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compile the model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modKA1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rxode2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model =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odeKA1)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provide the parameter values to be simulated: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Params &lt;-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ka =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log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0.5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1/h (absorption half-life of 30 minutes)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cl =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0.135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  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L/h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v =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8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      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L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create an empty event table that stores both dosing and sampling information :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ev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eventTable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add a dose to the event table: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ev</a:t>
            </a:r>
            <a:r>
              <a:rPr lang="en-US" sz="1200" b="1" dirty="0" err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$</a:t>
            </a:r>
            <a:r>
              <a:rPr lang="en-US" sz="1200" b="1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add.dosing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dose =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500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mg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add time points to the event table where concentrations will be simulated </a:t>
            </a:r>
          </a:p>
          <a:p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these actions are cumulative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ev</a:t>
            </a:r>
            <a:r>
              <a:rPr lang="en-US" sz="1200" b="1" dirty="0" err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$</a:t>
            </a:r>
            <a:r>
              <a:rPr lang="en-US" sz="1200" b="1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add.sampling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seq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120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Then solve the system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The output from </a:t>
            </a:r>
            <a:r>
              <a:rPr lang="en-US" sz="1200" i="1" dirty="0" err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rxSolve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is a solved </a:t>
            </a:r>
            <a:r>
              <a:rPr lang="en-US" sz="1200" i="1" dirty="0" err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RxODE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object,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By making it a </a:t>
            </a:r>
            <a:r>
              <a:rPr lang="en-US" sz="1200" i="1" dirty="0" err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data.frame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only the simulated values are retained: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Res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data.frame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b="1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rxSolve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(modKA1, Params,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ev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))</a:t>
            </a:r>
            <a:endParaRPr lang="en-GB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4400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6FC7B-4C76-49C0-B319-F7C375BC8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/>
              <a:t>Single bolus dose in the first (depot) compartment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608E46-4EC0-4545-A71E-8CA530D4815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735395-D071-4F2D-9D15-CE06944A4F7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12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745C02-4B4A-411A-B998-2E8C06C936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0" y="1003300"/>
            <a:ext cx="8636000" cy="539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3083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46F8D-B830-4D6C-97F1-47202217A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Adding extra doses (expand the existing eventTable): </a:t>
            </a:r>
            <a:br>
              <a:rPr lang="en-GB"/>
            </a:br>
            <a:r>
              <a:rPr lang="en-GB"/>
              <a:t>three additional infusions in the central compartment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156CB4-23EE-4D64-B02F-86863166E4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EECF8C-CF5C-4D08-99DB-6FC0B698B1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AE114B-8401-4B4C-A22E-A002FF7E468D}"/>
              </a:ext>
            </a:extLst>
          </p:cNvPr>
          <p:cNvSpPr/>
          <p:nvPr/>
        </p:nvSpPr>
        <p:spPr>
          <a:xfrm>
            <a:off x="623392" y="1196752"/>
            <a:ext cx="10441160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Extend the </a:t>
            </a:r>
            <a:r>
              <a:rPr lang="en-US" sz="1600" i="1" dirty="0" err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eventTable</a:t>
            </a:r>
            <a:r>
              <a:rPr lang="en-US" sz="16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by adding three infusions to the central compartment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6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Remember: updates to the </a:t>
            </a:r>
            <a:r>
              <a:rPr lang="en-US" sz="1600" i="1" dirty="0" err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eventTable</a:t>
            </a:r>
            <a:r>
              <a:rPr lang="en-US" sz="16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are cumulative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ev</a:t>
            </a:r>
            <a:r>
              <a:rPr lang="en-US" sz="1600" b="1" dirty="0" err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$</a:t>
            </a:r>
            <a:r>
              <a:rPr lang="en-US" sz="1600" b="1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add.dosing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6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dose =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250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           </a:t>
            </a:r>
            <a:r>
              <a:rPr lang="en-US" sz="16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mg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600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nbr.doses</a:t>
            </a:r>
            <a:r>
              <a:rPr lang="en-US" sz="16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=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        </a:t>
            </a:r>
            <a:r>
              <a:rPr lang="en-US" sz="16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add three doses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6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dosing.to =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        </a:t>
            </a:r>
            <a:r>
              <a:rPr lang="en-US" sz="16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add them to the second ODE in the model (=central)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600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dosing.interval</a:t>
            </a:r>
            <a:r>
              <a:rPr lang="en-US" sz="16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=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 </a:t>
            </a:r>
            <a:r>
              <a:rPr lang="en-US" sz="16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h; set the doses 12 hours apart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6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rate =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125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           </a:t>
            </a:r>
            <a:r>
              <a:rPr lang="en-US" sz="16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mg/h; infuse at a rate of 125 mg/h, resulting in 2-hour infusions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600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start.time</a:t>
            </a:r>
            <a:r>
              <a:rPr lang="en-US" sz="16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=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36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   </a:t>
            </a:r>
            <a:r>
              <a:rPr lang="en-US" sz="16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h; have the three doses start at 36h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Res &lt;-</a:t>
            </a:r>
            <a:r>
              <a:rPr lang="en-US" sz="16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data.frame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rxSolve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(modKA1, Params,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ev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))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3974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5E121-5A75-4458-8DB2-566AE4674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Multiple doses in different compartments: only the first dose goes into the depot (first) compartment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1F3E5A-CFD7-454D-98F1-1119DD37A1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>
                <a:solidFill>
                  <a:srgbClr val="B40000"/>
                </a:solidFill>
              </a:rPr>
              <a:t> </a:t>
            </a:r>
            <a:r>
              <a:rPr lang="en-GB"/>
              <a:t>development team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9B2FE-4643-48A6-81AB-44108F2482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14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C6DAE8-FDFD-4D73-828B-ED974CA4A8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0" y="1003300"/>
            <a:ext cx="8636000" cy="539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1418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46F8D-B830-4D6C-97F1-47202217A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/>
              <a:t>Extend the model: add a transit compartment…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156CB4-23EE-4D64-B02F-86863166E4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EECF8C-CF5C-4D08-99DB-6FC0B698B1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AE114B-8401-4B4C-A22E-A002FF7E468D}"/>
              </a:ext>
            </a:extLst>
          </p:cNvPr>
          <p:cNvSpPr/>
          <p:nvPr/>
        </p:nvSpPr>
        <p:spPr>
          <a:xfrm>
            <a:off x="623392" y="1052736"/>
            <a:ext cx="8352928" cy="55399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odeKA1trans &lt;-</a:t>
            </a:r>
            <a:r>
              <a:rPr lang="en-US" sz="14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"</a:t>
            </a:r>
            <a:b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d/dt(depot)   = -ka*depot;</a:t>
            </a:r>
            <a:b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d/dt(central) =  </a:t>
            </a:r>
            <a:r>
              <a:rPr lang="en-US" sz="1400" dirty="0" err="1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</a:t>
            </a:r>
            <a:r>
              <a:rPr lang="en-US" sz="14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*trans-(cl/v)*central; </a:t>
            </a:r>
            <a:r>
              <a:rPr lang="en-US" sz="14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update to central: input from trans</a:t>
            </a:r>
            <a:b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d/dt(trans)   =  ka*depot-</a:t>
            </a:r>
            <a:r>
              <a:rPr lang="en-US" sz="1400" dirty="0" err="1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</a:t>
            </a:r>
            <a:r>
              <a:rPr lang="en-US" sz="14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*trans;       </a:t>
            </a:r>
            <a:r>
              <a:rPr lang="en-US" sz="14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transit compartment between depot and central</a:t>
            </a:r>
            <a:b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C1=central/v;</a:t>
            </a:r>
            <a:b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"</a:t>
            </a:r>
            <a:b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b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4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compile the model</a:t>
            </a:r>
            <a:b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modKA1trans &lt;-</a:t>
            </a:r>
            <a:r>
              <a:rPr lang="en-US" sz="14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rxode2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model =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odeKA1trans)</a:t>
            </a:r>
            <a:b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b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4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provide the extra </a:t>
            </a:r>
            <a:r>
              <a:rPr lang="en-US" sz="1400" i="1" dirty="0" err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</a:t>
            </a:r>
            <a:r>
              <a:rPr lang="en-US" sz="14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parameter:</a:t>
            </a:r>
            <a:b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Params2 &lt;-</a:t>
            </a:r>
            <a:r>
              <a:rPr lang="en-US" sz="14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b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4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ka =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log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r>
              <a:rPr lang="en-US" sz="14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4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0.5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  </a:t>
            </a:r>
            <a:r>
              <a:rPr lang="en-US" sz="14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1/h (absorption half-life of 30 minutes)</a:t>
            </a:r>
            <a:b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4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cl =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0.135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       </a:t>
            </a:r>
            <a:r>
              <a:rPr lang="en-US" sz="14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L/h</a:t>
            </a:r>
            <a:b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4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v =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8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            </a:t>
            </a:r>
            <a:r>
              <a:rPr lang="en-US" sz="14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L</a:t>
            </a:r>
            <a:b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400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</a:t>
            </a:r>
            <a:r>
              <a:rPr lang="en-US" sz="14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=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log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r>
              <a:rPr lang="en-US" sz="14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4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5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  </a:t>
            </a:r>
            <a:r>
              <a:rPr lang="en-US" sz="14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1/h (transit half-life of 5 hours)</a:t>
            </a:r>
            <a:b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b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4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the event table does not have to change</a:t>
            </a:r>
            <a:b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Res &lt;-</a:t>
            </a:r>
            <a:r>
              <a:rPr lang="en-US" sz="14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data.frame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rxSolve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(modKA1trans, Params2,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ev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))</a:t>
            </a:r>
          </a:p>
          <a:p>
            <a:endParaRPr lang="en-US" sz="1400" dirty="0">
              <a:solidFill>
                <a:srgbClr val="000000"/>
              </a:solidFill>
              <a:latin typeface="Consolas" panose="020B0609020204030204" pitchFamily="49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US" sz="14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if the trans compartment had been put as second compartment above, </a:t>
            </a:r>
          </a:p>
          <a:p>
            <a:r>
              <a:rPr lang="en-US" sz="14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the </a:t>
            </a:r>
            <a:r>
              <a:rPr lang="en-US" sz="1400" i="1" dirty="0" err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eventTable</a:t>
            </a:r>
            <a:r>
              <a:rPr lang="en-US" sz="14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would need an update to infuse in compartment 3 instead</a:t>
            </a:r>
            <a:b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45435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5E121-5A75-4458-8DB2-566AE4674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/>
              <a:t>...adding a transit compartment between depot and central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1F3E5A-CFD7-454D-98F1-1119DD37A1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>
                <a:solidFill>
                  <a:srgbClr val="B40000"/>
                </a:solidFill>
              </a:rPr>
              <a:t> </a:t>
            </a:r>
            <a:r>
              <a:rPr lang="en-GB"/>
              <a:t>development team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9B2FE-4643-48A6-81AB-44108F2482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16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5C0080-A431-4F50-AB93-72CCDCC5A0C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003300"/>
            <a:ext cx="989330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4304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46F8D-B830-4D6C-97F1-47202217A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/>
              <a:t>Or with five transit compartments and only bolus doses in the depot…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156CB4-23EE-4D64-B02F-86863166E4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EECF8C-CF5C-4D08-99DB-6FC0B698B1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17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AE114B-8401-4B4C-A22E-A002FF7E468D}"/>
              </a:ext>
            </a:extLst>
          </p:cNvPr>
          <p:cNvSpPr/>
          <p:nvPr/>
        </p:nvSpPr>
        <p:spPr>
          <a:xfrm>
            <a:off x="623392" y="887135"/>
            <a:ext cx="8352928" cy="5970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odeKA5trans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"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d/dt(depot)   = -</a:t>
            </a:r>
            <a:r>
              <a:rPr lang="en-US" sz="1200" dirty="0" err="1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*depot;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d/dt(central) =  </a:t>
            </a:r>
            <a:r>
              <a:rPr lang="en-US" sz="1200" dirty="0" err="1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*trans5-(cl/v)*central;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update to central: input from trans5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d/dt(trans1)  =  </a:t>
            </a:r>
            <a:r>
              <a:rPr lang="en-US" sz="1200" dirty="0" err="1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*depot-</a:t>
            </a:r>
            <a:r>
              <a:rPr lang="en-US" sz="1200" dirty="0" err="1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*trans1;  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use same constant for every compartment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d/dt(trans2)  =  </a:t>
            </a:r>
            <a:r>
              <a:rPr lang="en-US" sz="1200" dirty="0" err="1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*trans1-ktr*trans2;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d/dt(trans3)  =  </a:t>
            </a:r>
            <a:r>
              <a:rPr lang="en-US" sz="1200" dirty="0" err="1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*trans2-ktr*trans3;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d/dt(trans4)  =  </a:t>
            </a:r>
            <a:r>
              <a:rPr lang="en-US" sz="1200" dirty="0" err="1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*trans3-ktr*trans4;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d/dt(trans5)  =  </a:t>
            </a:r>
            <a:r>
              <a:rPr lang="en-US" sz="1200" dirty="0" err="1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*trans4-ktr*trans5;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C1=central/v;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"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ev3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eventTable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ev3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$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add.dosing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dose =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500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mg; 1st bolus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ev3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$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add.dosing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dose =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250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        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mg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nbr.doses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=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3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     # 3 additional doses (</a:t>
            </a:r>
            <a:r>
              <a:rPr lang="en-US" sz="1200" i="1" dirty="0" err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bolusses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because rate is absent so rate=0)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dosing.interval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=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h; at 12 hour intervals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dosing.to =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     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dosed into depot (compartment 1)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start.time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=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36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    # h; starting at 36 hours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ev3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$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add.sampling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seq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120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Params3 &lt;-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=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log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use same constant for every compartment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cl =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0.135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v =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8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modKA5trans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rxode2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model =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odeKA5trans)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Res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data.frame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b="1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rxSolve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(modKA5trans, Params3, ev3))</a:t>
            </a:r>
            <a:endParaRPr lang="en-GB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63373F-47F4-FEF9-C02A-34981545398E}"/>
              </a:ext>
            </a:extLst>
          </p:cNvPr>
          <p:cNvSpPr txBox="1"/>
          <p:nvPr/>
        </p:nvSpPr>
        <p:spPr>
          <a:xfrm>
            <a:off x="8400256" y="1854446"/>
            <a:ext cx="3384376" cy="1477328"/>
          </a:xfrm>
          <a:prstGeom prst="rect">
            <a:avLst/>
          </a:prstGeom>
          <a:noFill/>
          <a:ln>
            <a:solidFill>
              <a:srgbClr val="B4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Savic-type transit absorption models can also be coded in terms of mean transit time and number of transit compartments using the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transit()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function!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21573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5E121-5A75-4458-8DB2-566AE4674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/>
              <a:t>...adding 5 transit compartments between depot and central </a:t>
            </a:r>
            <a:br>
              <a:rPr lang="en-GB"/>
            </a:br>
            <a:r>
              <a:rPr lang="en-GB"/>
              <a:t>and giving 4 bolus doses in the 1</a:t>
            </a:r>
            <a:r>
              <a:rPr lang="en-GB" baseline="30000"/>
              <a:t>st</a:t>
            </a:r>
            <a:r>
              <a:rPr lang="en-GB"/>
              <a:t>  (depot) compartment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1F3E5A-CFD7-454D-98F1-1119DD37A1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>
                <a:solidFill>
                  <a:srgbClr val="B40000"/>
                </a:solidFill>
              </a:rPr>
              <a:t> </a:t>
            </a:r>
            <a:r>
              <a:rPr lang="en-GB"/>
              <a:t>development team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9B2FE-4643-48A6-81AB-44108F2482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18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C57193-F091-453C-A338-25144923B2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003300"/>
            <a:ext cx="989330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3792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4525C-4327-40C9-8039-BA88868DF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Alternatively: use NONMEM-style dataset as input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4ED073-061A-4971-9742-610B2E87E7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Instead of event tables, you can also use a NONMEM dataset structure for simulations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1A0086-1FF5-4298-89A4-74784DB833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BAA760-C95D-4673-A233-50E6A5ABB1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04897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FCACC-21A9-4B8E-9569-CFC6A4D3F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session I: rxode2 simulations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B50F19-0241-47E0-BB7D-DA141CDB76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Examine the code in HandsOn_1.R to run pre-programmed simulations and try out your own variations…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C6208-91BD-4E6C-B660-6AE2A7684EF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6BDDBA-7DBB-4BFD-B3B2-120656CAAE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18553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F9CFC-7324-E2EB-A353-E78F53532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Assess the data before you start analysis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A8221-C4E9-5D79-05E2-62CD172142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Classic data sets used by Nick Holford in his courses:</a:t>
            </a:r>
          </a:p>
          <a:p>
            <a:pPr lvl="1"/>
            <a:r>
              <a:rPr lang="en-GB" dirty="0"/>
              <a:t>O'Reilly RA, Aggeler PM. Studies on coumarin anticoagulant drugs initiation of warfarin therapy without a loading dose. Circulation 1968;38:169-177</a:t>
            </a:r>
          </a:p>
          <a:p>
            <a:pPr lvl="1"/>
            <a:r>
              <a:rPr lang="en-GB" dirty="0"/>
              <a:t>O'Reilly RA, Aggeler PM, Leong LS. Studies of the coumarin anticoagulant drugs: The pharmacodynamics of warfarin in man. Journal of Clinical Investigation 1963;42(10):1542-1551</a:t>
            </a:r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Some simple plots to get a feel of the data</a:t>
            </a:r>
          </a:p>
          <a:p>
            <a:r>
              <a:rPr lang="en-GB" dirty="0"/>
              <a:t>Additional </a:t>
            </a:r>
            <a:r>
              <a:rPr lang="en-GB" b="1" dirty="0" err="1">
                <a:solidFill>
                  <a:srgbClr val="B4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xgxr</a:t>
            </a:r>
            <a:r>
              <a:rPr lang="en-GB" dirty="0"/>
              <a:t> functionality to improve and summarize the profiles</a:t>
            </a:r>
            <a:endParaRPr lang="en-N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2764D4-F3A7-53D3-9E20-41AEE0F862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76464D-C0E0-49FB-6328-80FF1C754C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63239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1BB2E-869F-92DF-1E80-1C0D86CBB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Our warfarin data file: a simple spaghetti plot to provide an overall impression</a:t>
            </a:r>
            <a:endParaRPr lang="en-NL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8D7861-37F7-3284-54EF-DEF1006310D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764C4-FD96-58DC-75C7-95D02F6C32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22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CD8AAB-592D-F45B-1118-4BC3EBE19CF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0" y="1003300"/>
            <a:ext cx="8636000" cy="539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8723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08375-BD7A-B366-9363-BA4B0BC90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/>
              <a:t>Change the x-axis from hours to days and add a proper label using the </a:t>
            </a:r>
            <a:r>
              <a:rPr lang="en-US" sz="2000" err="1"/>
              <a:t>xgx</a:t>
            </a:r>
            <a:r>
              <a:rPr lang="en-US" sz="2000"/>
              <a:t> helper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xgx_scale_x_time_units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units_dataset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= "hours", </a:t>
            </a:r>
            <a:r>
              <a:rPr lang="en-US" sz="2000" err="1">
                <a:latin typeface="Courier New" panose="02070309020205020404" pitchFamily="49" charset="0"/>
                <a:cs typeface="Courier New" panose="02070309020205020404" pitchFamily="49" charset="0"/>
              </a:rPr>
              <a:t>units_plot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 = "days")</a:t>
            </a:r>
            <a:r>
              <a:rPr lang="en-US" sz="2000"/>
              <a:t>
</a:t>
            </a:r>
            <a:endParaRPr lang="en-NL" sz="20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12B71E-A0BF-C72F-0F14-44E19540AFF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639923-C205-FF80-E2B9-D01F9161EE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23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A72E5B-B68E-DE92-8E90-A61D96427BA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0" y="1003300"/>
            <a:ext cx="8636000" cy="539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5421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4311C-E9F7-3A86-C737-9EAA2CD13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The data set has two types of profiles…
</a:t>
            </a:r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D4BEAA-5A58-39E5-8798-38883526741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34950C-A106-AA37-C582-D6F33D5A830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24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63C56D-3471-9400-611B-F14092E72DA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0" y="1003300"/>
            <a:ext cx="8636000" cy="539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7353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89D39-A0D7-272F-5890-00DD80542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...but you can also group by rich day 1 and sparse later days...
</a:t>
            </a:r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7B4597-1249-1680-ACAC-ECE536948A4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7574A0-CDAF-305D-496D-AA4B0453EB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25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FD9AB2-32EC-F434-FDE7-7B3C5322C90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0" y="1003300"/>
            <a:ext cx="8636000" cy="539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3814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0E929-37BF-BC34-3AD1-2BC4D3451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/>
              <a:t>Switch to semi-log scale using xgx helper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xgx_scale_y_log10()</a:t>
            </a:r>
            <a:r>
              <a:rPr lang="en-US" sz="2000"/>
              <a:t>
Any clues to what model we should use?</a:t>
            </a:r>
            <a:endParaRPr lang="en-NL" sz="20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C0602D-BE4A-C66C-5841-CE194D7793D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5313DD-8102-0C7D-7FF9-977EFBBD11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26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157A67-DD8E-3B30-2E1D-F68EA979F96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0" y="1003300"/>
            <a:ext cx="8636000" cy="539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2566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F83F7-9DDD-8A7D-8185-3876D3373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/>
              <a:t>xgx can also add nice summary information if data has nominal times: </a:t>
            </a:r>
            <a:br>
              <a:rPr lang="en-US" sz="2000"/>
            </a:br>
            <a:r>
              <a:rPr lang="en-US" sz="2000"/>
              <a:t>summaries of mean plus 95% CI</a:t>
            </a:r>
            <a:r>
              <a:rPr lang="en-US" sz="1600"/>
              <a:t>
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xgx_geom_ci(aes(x = TIME, color = NULL, group = NULL, shape = NULL), conf_level = 0.95)</a:t>
            </a:r>
            <a:endParaRPr lang="en-NL" sz="16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EEB65A-C4C8-BEAF-40D6-2E662454BA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1FDBC5-B5D6-8967-E7C0-A28BEA065F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27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1C0551-E426-4380-626F-797B532FC0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0" y="1003300"/>
            <a:ext cx="8636000" cy="539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4683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C6A0B-58C5-3036-4A12-5DC421AE0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On the linear scale this would result in a CI crossing zero, because CIs are </a:t>
            </a:r>
            <a:r>
              <a:rPr lang="en-US" sz="2000" dirty="0" err="1"/>
              <a:t>assumedto</a:t>
            </a:r>
            <a:r>
              <a:rPr lang="en-US" sz="2000" dirty="0"/>
              <a:t> be symmetrical
</a:t>
            </a:r>
            <a:endParaRPr lang="en-NL" sz="20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D83078-4E7D-41C3-14CD-C0921B727A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EC402E-550A-2DD7-CAB0-D29A71FA13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28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FB41CE-2071-226B-60C9-DD8AF7EB201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0" y="1003300"/>
            <a:ext cx="8636000" cy="539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3649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E9BE0-1452-D054-2EDD-95A654DAE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/>
              <a:t>...so perhaps a median and 95% of the data would be more suitable
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xgx_geom_pi(aes(x = TIME, color = NULL, group = NULL, shape = NULL)</a:t>
            </a:r>
            <a:endParaRPr lang="en-NL" sz="20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1FC4ED-DEBC-F12E-B47F-1E280E02E6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4D73CB-4430-4DC0-06CB-E60701C37A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29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3C3C00-2475-8732-E234-5F60EF0E68D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0" y="1003300"/>
            <a:ext cx="8636000" cy="539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3952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E9BE0-1452-D054-2EDD-95A654DAE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There appears to be a delay in absorption…</a:t>
            </a:r>
            <a:endParaRPr lang="en-NL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1FC4ED-DEBC-F12E-B47F-1E280E02E6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4D73CB-4430-4DC0-06CB-E60701C37A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30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3C3C00-2475-8732-E234-5F60EF0E68D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0" y="1003300"/>
            <a:ext cx="8636000" cy="539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7325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You need to know how to simulate before you can estimate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With simulation covered, you can start to think about estimation</a:t>
            </a:r>
          </a:p>
          <a:p>
            <a:r>
              <a:rPr lang="en-GB" dirty="0"/>
              <a:t>Combine the simulation core with estimation routines and you get: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		</a:t>
            </a:r>
            <a:r>
              <a:rPr lang="en-GB" sz="5400" b="1" dirty="0">
                <a:solidFill>
                  <a:schemeClr val="accent1">
                    <a:lumMod val="75000"/>
                  </a:schemeClr>
                </a:solidFill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nlmix</a:t>
            </a:r>
            <a:r>
              <a:rPr lang="en-GB" sz="5400" b="1" dirty="0">
                <a:solidFill>
                  <a:srgbClr val="B40000"/>
                </a:solidFill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r</a:t>
            </a:r>
            <a:r>
              <a:rPr lang="en-GB" sz="5400" b="1" baseline="30000" dirty="0">
                <a:solidFill>
                  <a:srgbClr val="B40000"/>
                </a:solidFill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2</a:t>
            </a:r>
            <a:endParaRPr lang="en-GB" sz="5400" b="1" dirty="0">
              <a:latin typeface="+mj-lt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GB" sz="1100" dirty="0"/>
          </a:p>
          <a:p>
            <a:endParaRPr lang="en-GB" sz="11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37059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nlmixr2 is a family of open-source R packages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Written by Wenping Wang and Matt Fidler, and available on </a:t>
            </a:r>
            <a:r>
              <a:rPr lang="en-GB" dirty="0" err="1"/>
              <a:t>CRAN</a:t>
            </a:r>
            <a:r>
              <a:rPr lang="en-GB" baseline="30000" dirty="0" err="1"/>
              <a:t>a</a:t>
            </a:r>
            <a:r>
              <a:rPr lang="en-GB" dirty="0"/>
              <a:t> and </a:t>
            </a:r>
            <a:r>
              <a:rPr lang="en-GB" dirty="0" err="1"/>
              <a:t>GitHub</a:t>
            </a:r>
            <a:r>
              <a:rPr lang="en-GB" baseline="30000" dirty="0" err="1"/>
              <a:t>b</a:t>
            </a:r>
            <a:r>
              <a:rPr lang="en-GB" dirty="0"/>
              <a:t>:</a:t>
            </a:r>
          </a:p>
          <a:p>
            <a:pPr lvl="1"/>
            <a:r>
              <a:rPr lang="en-GB" dirty="0"/>
              <a:t>builds on </a:t>
            </a:r>
            <a:r>
              <a:rPr lang="en-GB" dirty="0">
                <a:solidFill>
                  <a:srgbClr val="B40000"/>
                </a:solidFill>
              </a:rPr>
              <a:t>rxode2</a:t>
            </a:r>
          </a:p>
          <a:p>
            <a:pPr lvl="1"/>
            <a:r>
              <a:rPr lang="en-GB" dirty="0"/>
              <a:t>combined with SAEM, and FOCEI estimation routines, provides an R package for parameter estimation in nonlinear mixed effect models</a:t>
            </a:r>
          </a:p>
          <a:p>
            <a:pPr lvl="1"/>
            <a:r>
              <a:rPr lang="en-GB" dirty="0"/>
              <a:t>under very active development!</a:t>
            </a:r>
          </a:p>
          <a:p>
            <a:r>
              <a:rPr lang="en-GB" dirty="0">
                <a:solidFill>
                  <a:srgbClr val="B40000"/>
                </a:solidFill>
              </a:rPr>
              <a:t>nlmixr2</a:t>
            </a:r>
            <a:r>
              <a:rPr lang="en-GB" dirty="0"/>
              <a:t> is completely free and open source, and does not depend on any other commercial tool such as NONMEM or </a:t>
            </a:r>
            <a:r>
              <a:rPr lang="en-GB" dirty="0" err="1"/>
              <a:t>Monolix</a:t>
            </a:r>
            <a:endParaRPr lang="en-GB" dirty="0"/>
          </a:p>
          <a:p>
            <a:r>
              <a:rPr lang="en-GB" dirty="0">
                <a:solidFill>
                  <a:srgbClr val="B40000"/>
                </a:solidFill>
              </a:rPr>
              <a:t>nlmixr2</a:t>
            </a:r>
            <a:r>
              <a:rPr lang="en-GB" dirty="0"/>
              <a:t> provides an efficient and versatile way to specify pharmacometric models (both closed-form and ODEs) and dosing scenarios, with rapid execution due to compilation in C </a:t>
            </a:r>
          </a:p>
          <a:p>
            <a:endParaRPr lang="en-GB" dirty="0"/>
          </a:p>
          <a:p>
            <a:pPr marL="0" indent="0">
              <a:spcBef>
                <a:spcPts val="0"/>
              </a:spcBef>
              <a:buNone/>
            </a:pPr>
            <a:r>
              <a:rPr lang="en-GB" sz="1200" dirty="0"/>
              <a:t>[a] </a:t>
            </a:r>
            <a:r>
              <a:rPr lang="en-GB" sz="1200" u="sng" dirty="0">
                <a:hlinkClick r:id="rId2"/>
              </a:rPr>
              <a:t>https://cran.r-project.org/web/packages/nlmixr2</a:t>
            </a:r>
            <a:r>
              <a:rPr lang="en-GB" sz="1200" u="sng" dirty="0"/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200" dirty="0"/>
              <a:t>[b] </a:t>
            </a:r>
            <a:r>
              <a:rPr lang="en-GB" sz="1200" u="sng" dirty="0">
                <a:hlinkClick r:id="rId3"/>
              </a:rPr>
              <a:t>https://github.com/nlmixr2/nlmixr2</a:t>
            </a:r>
            <a:r>
              <a:rPr lang="en-GB" sz="1200" u="sng" dirty="0"/>
              <a:t> </a:t>
            </a:r>
            <a:r>
              <a:rPr lang="en-GB" sz="1200" dirty="0"/>
              <a:t> 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19181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nlmixr2 is the core of a thriving ecosystem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>
                <a:solidFill>
                  <a:srgbClr val="B40000"/>
                </a:solidFill>
              </a:rPr>
              <a:t>nlmixr2</a:t>
            </a:r>
            <a:r>
              <a:rPr lang="en-GB" dirty="0"/>
              <a:t> is fully supported by </a:t>
            </a:r>
            <a:r>
              <a:rPr lang="en-GB" dirty="0" err="1">
                <a:solidFill>
                  <a:srgbClr val="B40000"/>
                </a:solidFill>
              </a:rPr>
              <a:t>ggPMX</a:t>
            </a:r>
            <a:r>
              <a:rPr lang="en-GB" baseline="30000" dirty="0" err="1"/>
              <a:t>a</a:t>
            </a:r>
            <a:endParaRPr lang="en-GB" dirty="0"/>
          </a:p>
          <a:p>
            <a:r>
              <a:rPr lang="en-GB" dirty="0"/>
              <a:t>Additionally, </a:t>
            </a:r>
            <a:r>
              <a:rPr lang="en-GB" dirty="0">
                <a:solidFill>
                  <a:srgbClr val="B40000"/>
                </a:solidFill>
              </a:rPr>
              <a:t>xpose.nlmixr2</a:t>
            </a:r>
            <a:r>
              <a:rPr lang="en-GB" baseline="30000" dirty="0"/>
              <a:t>b</a:t>
            </a:r>
            <a:r>
              <a:rPr lang="en-GB" dirty="0"/>
              <a:t> provides linkage to the </a:t>
            </a:r>
            <a:r>
              <a:rPr lang="en-GB" dirty="0" err="1">
                <a:solidFill>
                  <a:srgbClr val="B40000"/>
                </a:solidFill>
              </a:rPr>
              <a:t>xpose</a:t>
            </a:r>
            <a:r>
              <a:rPr lang="en-GB" dirty="0"/>
              <a:t> </a:t>
            </a:r>
            <a:r>
              <a:rPr lang="en-GB" dirty="0" err="1"/>
              <a:t>package</a:t>
            </a:r>
            <a:r>
              <a:rPr lang="en-GB" baseline="30000" dirty="0" err="1"/>
              <a:t>c</a:t>
            </a:r>
            <a:r>
              <a:rPr lang="en-GB" dirty="0"/>
              <a:t>, feeding the uniform output into a highly flexible diagnostics package</a:t>
            </a:r>
          </a:p>
          <a:p>
            <a:r>
              <a:rPr lang="en-GB" dirty="0"/>
              <a:t>The </a:t>
            </a:r>
            <a:r>
              <a:rPr lang="en-GB" dirty="0" err="1">
                <a:solidFill>
                  <a:srgbClr val="B40000"/>
                </a:solidFill>
              </a:rPr>
              <a:t>shinyMixR</a:t>
            </a:r>
            <a:r>
              <a:rPr lang="en-GB" baseline="30000" dirty="0" err="1"/>
              <a:t>d</a:t>
            </a:r>
            <a:r>
              <a:rPr lang="en-GB" dirty="0"/>
              <a:t> project management tool provides an interface to </a:t>
            </a:r>
            <a:r>
              <a:rPr lang="en-GB" dirty="0">
                <a:solidFill>
                  <a:srgbClr val="B40000"/>
                </a:solidFill>
              </a:rPr>
              <a:t>nlmixr2</a:t>
            </a:r>
            <a:r>
              <a:rPr lang="en-GB" dirty="0"/>
              <a:t> from both the R command line and a user-friendly browser-based Shiny dashboard application </a:t>
            </a:r>
          </a:p>
          <a:p>
            <a:r>
              <a:rPr lang="en-GB" dirty="0">
                <a:solidFill>
                  <a:srgbClr val="B40000"/>
                </a:solidFill>
              </a:rPr>
              <a:t>nlmixr2lib</a:t>
            </a:r>
            <a:r>
              <a:rPr lang="en-GB" dirty="0"/>
              <a:t>, </a:t>
            </a:r>
            <a:r>
              <a:rPr lang="en-GB" dirty="0">
                <a:solidFill>
                  <a:srgbClr val="B40000"/>
                </a:solidFill>
              </a:rPr>
              <a:t>nlmixr2targets</a:t>
            </a:r>
            <a:r>
              <a:rPr lang="en-GB" dirty="0"/>
              <a:t>, </a:t>
            </a:r>
            <a:r>
              <a:rPr lang="en-GB" dirty="0" err="1">
                <a:solidFill>
                  <a:srgbClr val="B40000"/>
                </a:solidFill>
              </a:rPr>
              <a:t>posologyr</a:t>
            </a:r>
            <a:r>
              <a:rPr lang="en-GB" dirty="0"/>
              <a:t>, </a:t>
            </a:r>
            <a:r>
              <a:rPr lang="en-GB" dirty="0">
                <a:solidFill>
                  <a:srgbClr val="B40000"/>
                </a:solidFill>
              </a:rPr>
              <a:t>nlmixr2autoinit</a:t>
            </a:r>
            <a:r>
              <a:rPr lang="en-GB" dirty="0"/>
              <a:t> and many others provide enhanced functionality  </a:t>
            </a:r>
          </a:p>
          <a:p>
            <a:r>
              <a:rPr lang="en-GB" dirty="0">
                <a:solidFill>
                  <a:srgbClr val="B40000"/>
                </a:solidFill>
              </a:rPr>
              <a:t>nlmixr2</a:t>
            </a:r>
            <a:r>
              <a:rPr lang="en-GB" dirty="0"/>
              <a:t> requires access to compilers, easily installed using </a:t>
            </a:r>
            <a:r>
              <a:rPr lang="en-GB" dirty="0" err="1">
                <a:solidFill>
                  <a:srgbClr val="B40000"/>
                </a:solidFill>
              </a:rPr>
              <a:t>Rtools</a:t>
            </a:r>
            <a:r>
              <a:rPr lang="en-GB" dirty="0"/>
              <a:t> on </a:t>
            </a:r>
            <a:r>
              <a:rPr lang="en-GB" dirty="0" err="1"/>
              <a:t>Windows</a:t>
            </a:r>
            <a:r>
              <a:rPr lang="en-GB" baseline="30000" dirty="0" err="1"/>
              <a:t>e</a:t>
            </a:r>
            <a:r>
              <a:rPr lang="en-GB" dirty="0"/>
              <a:t> and built-in compilers on Linux and macOS</a:t>
            </a:r>
          </a:p>
          <a:p>
            <a:r>
              <a:rPr lang="en-GB" dirty="0"/>
              <a:t>Installation is very simple from CRAN:</a:t>
            </a:r>
          </a:p>
          <a:p>
            <a:pPr marL="457200" lvl="1" indent="0">
              <a:buNone/>
            </a:pPr>
            <a:r>
              <a:rPr lang="en-GB" sz="1900" b="1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install.packages</a:t>
            </a:r>
            <a:r>
              <a:rPr lang="en-GB" sz="19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("nlmixr2",dependencies=TRUE)</a:t>
            </a:r>
          </a:p>
          <a:p>
            <a:r>
              <a:rPr lang="en-GB" dirty="0"/>
              <a:t>Documentation is available in the form of an online book (</a:t>
            </a:r>
            <a:r>
              <a:rPr lang="en-GB" dirty="0">
                <a:hlinkClick r:id="rId2"/>
              </a:rPr>
              <a:t>nlmixr2.org</a:t>
            </a:r>
            <a:r>
              <a:rPr lang="en-GB" dirty="0"/>
              <a:t>)</a:t>
            </a:r>
            <a:r>
              <a:rPr lang="en-GB" baseline="30000" dirty="0"/>
              <a:t>f  </a:t>
            </a:r>
            <a:r>
              <a:rPr lang="en-GB" dirty="0"/>
              <a:t>and a dedicated </a:t>
            </a:r>
            <a:r>
              <a:rPr lang="en-GB" dirty="0" err="1"/>
              <a:t>nlmixr</a:t>
            </a:r>
            <a:r>
              <a:rPr lang="en-GB" dirty="0"/>
              <a:t> blog (</a:t>
            </a:r>
            <a:r>
              <a:rPr lang="en-GB" dirty="0">
                <a:hlinkClick r:id="rId3"/>
              </a:rPr>
              <a:t>blog.nlmixr2.org</a:t>
            </a:r>
            <a:r>
              <a:rPr lang="en-GB" dirty="0"/>
              <a:t>)</a:t>
            </a:r>
          </a:p>
          <a:p>
            <a:r>
              <a:rPr lang="en-GB" dirty="0"/>
              <a:t>A Docker install is available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sz="1300" dirty="0"/>
              <a:t>[a] </a:t>
            </a:r>
            <a:r>
              <a:rPr lang="en-GB" sz="1300" dirty="0">
                <a:hlinkClick r:id="rId4"/>
              </a:rPr>
              <a:t>https://cran.r-project.org/web/packages/ggPMX/</a:t>
            </a:r>
            <a:r>
              <a:rPr lang="en-GB" sz="1300" dirty="0"/>
              <a:t> and </a:t>
            </a:r>
            <a:r>
              <a:rPr lang="en-GB" sz="1300" dirty="0">
                <a:hlinkClick r:id="rId5"/>
              </a:rPr>
              <a:t>https://github.com/ggPMXdevelopment/ggPMX</a:t>
            </a:r>
            <a:r>
              <a:rPr lang="en-GB" sz="1300" dirty="0"/>
              <a:t> </a:t>
            </a:r>
          </a:p>
          <a:p>
            <a:pPr marL="0" indent="0">
              <a:buNone/>
            </a:pPr>
            <a:r>
              <a:rPr lang="en-GB" sz="1300" dirty="0"/>
              <a:t>[b] </a:t>
            </a:r>
            <a:r>
              <a:rPr lang="en-GB" sz="1300" u="sng" dirty="0">
                <a:hlinkClick r:id="rId6"/>
              </a:rPr>
              <a:t>https://github.com/nlmixr2/</a:t>
            </a:r>
            <a:r>
              <a:rPr lang="en-GB" sz="1300" dirty="0">
                <a:hlinkClick r:id="rId6"/>
              </a:rPr>
              <a:t>xpose.nlmixr2</a:t>
            </a:r>
            <a:r>
              <a:rPr lang="en-GB" sz="1300" dirty="0"/>
              <a:t> and </a:t>
            </a:r>
            <a:r>
              <a:rPr lang="en-AU" sz="1300" dirty="0">
                <a:hlinkClick r:id="rId7"/>
              </a:rPr>
              <a:t>https://</a:t>
            </a:r>
            <a:r>
              <a:rPr lang="en-GB" sz="1300" dirty="0">
                <a:hlinkClick r:id="rId7"/>
              </a:rPr>
              <a:t>cran.r-project.org</a:t>
            </a:r>
            <a:r>
              <a:rPr lang="en-AU" sz="1300" dirty="0">
                <a:hlinkClick r:id="rId7"/>
              </a:rPr>
              <a:t>/packages/</a:t>
            </a:r>
            <a:r>
              <a:rPr lang="en-GB" sz="1300" dirty="0">
                <a:hlinkClick r:id="rId7"/>
              </a:rPr>
              <a:t>xpose.nlmixr2</a:t>
            </a:r>
            <a:r>
              <a:rPr lang="en-GB" sz="1300" dirty="0"/>
              <a:t>  </a:t>
            </a:r>
          </a:p>
          <a:p>
            <a:pPr marL="0" indent="0">
              <a:buNone/>
            </a:pPr>
            <a:r>
              <a:rPr lang="en-AU" sz="1300" dirty="0"/>
              <a:t>[c] </a:t>
            </a:r>
            <a:r>
              <a:rPr lang="en-AU" sz="1300" dirty="0">
                <a:hlinkClick r:id="rId8"/>
              </a:rPr>
              <a:t>https://</a:t>
            </a:r>
            <a:r>
              <a:rPr lang="en-GB" sz="1300" dirty="0">
                <a:hlinkClick r:id="rId8"/>
              </a:rPr>
              <a:t>cran.r-project.org</a:t>
            </a:r>
            <a:r>
              <a:rPr lang="en-AU" sz="1300" dirty="0">
                <a:hlinkClick r:id="rId8"/>
              </a:rPr>
              <a:t>/packages/</a:t>
            </a:r>
            <a:r>
              <a:rPr lang="en-AU" sz="1300" dirty="0" err="1">
                <a:hlinkClick r:id="rId8"/>
              </a:rPr>
              <a:t>xpose</a:t>
            </a:r>
            <a:r>
              <a:rPr lang="en-AU" sz="1300" dirty="0"/>
              <a:t> and </a:t>
            </a:r>
            <a:r>
              <a:rPr lang="en-AU" sz="1300" dirty="0">
                <a:hlinkClick r:id="rId9"/>
              </a:rPr>
              <a:t>https://uupharmacometrics.github.io/xpose/</a:t>
            </a:r>
            <a:r>
              <a:rPr lang="en-AU" sz="1300" dirty="0"/>
              <a:t> </a:t>
            </a:r>
          </a:p>
          <a:p>
            <a:pPr marL="0" indent="0">
              <a:buNone/>
            </a:pPr>
            <a:r>
              <a:rPr lang="en-GB" sz="1300" dirty="0"/>
              <a:t>[d] </a:t>
            </a:r>
            <a:r>
              <a:rPr lang="en-GB" sz="1300" dirty="0">
                <a:hlinkClick r:id="rId10"/>
              </a:rPr>
              <a:t>https://github.com/RichardHooijmaijers/shinyMixR</a:t>
            </a:r>
            <a:r>
              <a:rPr lang="en-GB" sz="1300" dirty="0"/>
              <a:t> and </a:t>
            </a:r>
            <a:r>
              <a:rPr lang="en-GB" sz="1300" dirty="0">
                <a:hlinkClick r:id="rId11"/>
              </a:rPr>
              <a:t>https://richardhooijmaijers.github.io/shinyMixR/articles/shinyMixR-vignette.html</a:t>
            </a:r>
            <a:r>
              <a:rPr lang="en-GB" sz="1300" dirty="0"/>
              <a:t> </a:t>
            </a:r>
          </a:p>
          <a:p>
            <a:pPr marL="0" indent="0">
              <a:buNone/>
            </a:pPr>
            <a:r>
              <a:rPr lang="en-GB" sz="1300" dirty="0"/>
              <a:t>[e]</a:t>
            </a:r>
            <a:r>
              <a:rPr lang="en-GB" sz="1300" u="sng" dirty="0"/>
              <a:t> </a:t>
            </a:r>
            <a:r>
              <a:rPr lang="en-GB" sz="1300" u="sng" dirty="0">
                <a:hlinkClick r:id="rId12"/>
              </a:rPr>
              <a:t>https://cran.r-project.org/bin/windows/Rtools/rtools42/rtools.html</a:t>
            </a:r>
            <a:r>
              <a:rPr lang="en-GB" sz="1300" u="sng" dirty="0"/>
              <a:t> </a:t>
            </a:r>
          </a:p>
          <a:p>
            <a:pPr marL="0" indent="0">
              <a:buNone/>
            </a:pPr>
            <a:r>
              <a:rPr lang="en-GB" sz="1300" dirty="0"/>
              <a:t>[f] </a:t>
            </a:r>
            <a:r>
              <a:rPr lang="en-GB" sz="1300" u="sng" dirty="0">
                <a:hlinkClick r:id="rId13"/>
              </a:rPr>
              <a:t>https://nlmixr2.github.io/nlmixr2</a:t>
            </a:r>
            <a:r>
              <a:rPr lang="en-GB" sz="1300" u="sng" dirty="0"/>
              <a:t>  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22902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nlmixr2 has some new features!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>
                <a:solidFill>
                  <a:srgbClr val="B40000"/>
                </a:solidFill>
              </a:rPr>
              <a:t>nlmixr2lib</a:t>
            </a:r>
            <a:r>
              <a:rPr lang="en-GB" dirty="0">
                <a:solidFill>
                  <a:schemeClr val="tx1"/>
                </a:solidFill>
              </a:rPr>
              <a:t> provides hundreds of models from the literature</a:t>
            </a:r>
          </a:p>
          <a:p>
            <a:r>
              <a:rPr lang="en-GB" dirty="0">
                <a:solidFill>
                  <a:srgbClr val="B40000"/>
                </a:solidFill>
              </a:rPr>
              <a:t>nlmixr2</a:t>
            </a:r>
            <a:r>
              <a:rPr lang="en-GB" dirty="0"/>
              <a:t> can now use NONMEM for its parameter estimation when using the </a:t>
            </a:r>
            <a:r>
              <a:rPr lang="en-GB" dirty="0">
                <a:solidFill>
                  <a:srgbClr val="B40000"/>
                </a:solidFill>
              </a:rPr>
              <a:t>babelmixr2</a:t>
            </a:r>
            <a:r>
              <a:rPr lang="en-GB" baseline="30000" dirty="0"/>
              <a:t>a</a:t>
            </a:r>
            <a:r>
              <a:rPr lang="en-GB" dirty="0"/>
              <a:t> package</a:t>
            </a:r>
          </a:p>
          <a:p>
            <a:r>
              <a:rPr lang="en-GB" dirty="0"/>
              <a:t>The </a:t>
            </a:r>
            <a:r>
              <a:rPr lang="en-GB" dirty="0">
                <a:solidFill>
                  <a:srgbClr val="B40000"/>
                </a:solidFill>
              </a:rPr>
              <a:t>nonmem2rx</a:t>
            </a:r>
            <a:r>
              <a:rPr lang="en-GB" baseline="30000" dirty="0"/>
              <a:t>b</a:t>
            </a:r>
            <a:r>
              <a:rPr lang="en-GB" dirty="0"/>
              <a:t> and </a:t>
            </a:r>
            <a:r>
              <a:rPr lang="en-GB" dirty="0">
                <a:solidFill>
                  <a:srgbClr val="B40000"/>
                </a:solidFill>
              </a:rPr>
              <a:t>monolix2rx</a:t>
            </a:r>
            <a:r>
              <a:rPr lang="en-GB" baseline="30000" dirty="0"/>
              <a:t>c</a:t>
            </a:r>
            <a:r>
              <a:rPr lang="en-GB" dirty="0"/>
              <a:t> packages allow reading of output and translation of models from NONMEM and Monolix to </a:t>
            </a:r>
            <a:r>
              <a:rPr lang="en-GB" dirty="0">
                <a:solidFill>
                  <a:srgbClr val="B40000"/>
                </a:solidFill>
              </a:rPr>
              <a:t>rxode2</a:t>
            </a:r>
            <a:r>
              <a:rPr lang="en-GB" dirty="0"/>
              <a:t> and </a:t>
            </a:r>
            <a:r>
              <a:rPr lang="en-GB" dirty="0">
                <a:solidFill>
                  <a:srgbClr val="B40000"/>
                </a:solidFill>
              </a:rPr>
              <a:t>nlmixr2</a:t>
            </a:r>
            <a:r>
              <a:rPr lang="en-GB" dirty="0"/>
              <a:t> objects</a:t>
            </a:r>
          </a:p>
          <a:p>
            <a:r>
              <a:rPr lang="en-GB" dirty="0"/>
              <a:t>This allows checking of models developed using other tools, additional calculation of covariance matrices where not otherwise available, and </a:t>
            </a:r>
            <a:r>
              <a:rPr lang="en-GB" dirty="0">
                <a:solidFill>
                  <a:srgbClr val="B40000"/>
                </a:solidFill>
              </a:rPr>
              <a:t>nlmixr2</a:t>
            </a:r>
            <a:r>
              <a:rPr lang="en-GB" dirty="0"/>
              <a:t> functionality like creation of VPCs and smooth predicted individual profiles (via </a:t>
            </a:r>
            <a:r>
              <a:rPr lang="en-GB" b="1" dirty="0" err="1"/>
              <a:t>augPred</a:t>
            </a:r>
            <a:r>
              <a:rPr lang="en-GB" b="1" dirty="0"/>
              <a:t>()</a:t>
            </a:r>
            <a:r>
              <a:rPr lang="en-GB" dirty="0"/>
              <a:t>) and simulation using </a:t>
            </a:r>
            <a:r>
              <a:rPr lang="en-GB" dirty="0">
                <a:solidFill>
                  <a:srgbClr val="B40000"/>
                </a:solidFill>
              </a:rPr>
              <a:t>rxode2</a:t>
            </a:r>
          </a:p>
          <a:p>
            <a:r>
              <a:rPr lang="en-GB" dirty="0"/>
              <a:t>Additionally, </a:t>
            </a:r>
            <a:r>
              <a:rPr lang="en-GB" dirty="0">
                <a:solidFill>
                  <a:srgbClr val="B40000"/>
                </a:solidFill>
              </a:rPr>
              <a:t>babelmixr2</a:t>
            </a:r>
            <a:r>
              <a:rPr lang="en-GB" dirty="0"/>
              <a:t> can use the </a:t>
            </a:r>
            <a:r>
              <a:rPr lang="en-GB" dirty="0">
                <a:solidFill>
                  <a:srgbClr val="B40000"/>
                </a:solidFill>
              </a:rPr>
              <a:t>PKNCA</a:t>
            </a:r>
            <a:r>
              <a:rPr lang="en-GB" dirty="0"/>
              <a:t> package to provide starting values for PK analysis when rich profiles are available, and can keep track of units…</a:t>
            </a:r>
          </a:p>
          <a:p>
            <a:r>
              <a:rPr lang="en-GB" dirty="0"/>
              <a:t>… and can cross-convert from </a:t>
            </a:r>
            <a:r>
              <a:rPr lang="en-GB" dirty="0" err="1">
                <a:solidFill>
                  <a:srgbClr val="B40000"/>
                </a:solidFill>
              </a:rPr>
              <a:t>PopED</a:t>
            </a:r>
            <a:endParaRPr lang="en-GB" dirty="0">
              <a:solidFill>
                <a:srgbClr val="B40000"/>
              </a:solidFill>
            </a:endParaRPr>
          </a:p>
          <a:p>
            <a:r>
              <a:rPr lang="en-GB" dirty="0">
                <a:solidFill>
                  <a:srgbClr val="B40000"/>
                </a:solidFill>
              </a:rPr>
              <a:t>nlmixr2autoinit </a:t>
            </a:r>
            <a:r>
              <a:rPr lang="en-GB" dirty="0">
                <a:solidFill>
                  <a:schemeClr val="tx1"/>
                </a:solidFill>
              </a:rPr>
              <a:t>provides an even richer toolset for finding initial estimates (more on this later)</a:t>
            </a:r>
          </a:p>
          <a:p>
            <a:endParaRPr lang="en-GB" dirty="0"/>
          </a:p>
          <a:p>
            <a:pPr marL="0" indent="0">
              <a:spcBef>
                <a:spcPts val="0"/>
              </a:spcBef>
              <a:buNone/>
            </a:pPr>
            <a:r>
              <a:rPr lang="en-GB" sz="1200" dirty="0"/>
              <a:t>[a] </a:t>
            </a:r>
            <a:r>
              <a:rPr lang="en-GB" sz="1200" u="sng" dirty="0">
                <a:hlinkClick r:id="rId2"/>
              </a:rPr>
              <a:t>https://cran.r-project.org/web/packages/babelmixr2/index.html</a:t>
            </a:r>
            <a:r>
              <a:rPr lang="en-GB" sz="1200" u="sng" dirty="0"/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200" dirty="0"/>
              <a:t>[b] </a:t>
            </a:r>
            <a:r>
              <a:rPr lang="en-GB" sz="1200" dirty="0">
                <a:solidFill>
                  <a:srgbClr val="902C1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https://cran.r-project.org/web/packages/nonmem2rx/index.html</a:t>
            </a:r>
            <a:r>
              <a:rPr lang="en-GB" sz="1200" dirty="0"/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200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[c] </a:t>
            </a:r>
            <a:r>
              <a:rPr lang="en-GB" sz="1200" dirty="0">
                <a:solidFill>
                  <a:srgbClr val="902C1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https://cran.r-project.org/web/packages/monolix2rx/index.html</a:t>
            </a:r>
            <a:r>
              <a:rPr lang="en-GB" sz="1200" dirty="0"/>
              <a:t> </a:t>
            </a:r>
          </a:p>
          <a:p>
            <a:pPr marL="0" indent="0">
              <a:spcBef>
                <a:spcPts val="0"/>
              </a:spcBef>
              <a:buNone/>
            </a:pPr>
            <a:endParaRPr lang="en-GB" sz="1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nlmix</a:t>
            </a:r>
            <a:r>
              <a:rPr lang="en-GB" dirty="0">
                <a:solidFill>
                  <a:srgbClr val="B40000"/>
                </a:solidFill>
              </a:rPr>
              <a:t>r</a:t>
            </a:r>
            <a:r>
              <a:rPr lang="en-GB" baseline="30000" dirty="0">
                <a:solidFill>
                  <a:srgbClr val="B40000"/>
                </a:solidFill>
              </a:rPr>
              <a:t>2</a:t>
            </a:r>
            <a:r>
              <a:rPr lang="en-GB" dirty="0"/>
              <a:t> development team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71432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Advanced functionality in testing!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SCM: </a:t>
            </a:r>
            <a:r>
              <a:rPr lang="en-US" dirty="0">
                <a:solidFill>
                  <a:srgbClr val="B40000"/>
                </a:solidFill>
              </a:rPr>
              <a:t>nlmixr2scm</a:t>
            </a:r>
          </a:p>
          <a:p>
            <a:r>
              <a:rPr lang="en-US" dirty="0"/>
              <a:t>Bootstrap: </a:t>
            </a:r>
            <a:r>
              <a:rPr lang="en-US" dirty="0">
                <a:solidFill>
                  <a:srgbClr val="B40000"/>
                </a:solidFill>
              </a:rPr>
              <a:t>nlmixr2boot</a:t>
            </a:r>
          </a:p>
          <a:p>
            <a:r>
              <a:rPr lang="en-US" dirty="0"/>
              <a:t>Log-likelihood profiling (LLP): </a:t>
            </a:r>
            <a:r>
              <a:rPr lang="en-US" dirty="0">
                <a:solidFill>
                  <a:srgbClr val="B40000"/>
                </a:solidFill>
              </a:rPr>
              <a:t>nlmixr2llp</a:t>
            </a:r>
          </a:p>
          <a:p>
            <a:r>
              <a:rPr lang="en-US" dirty="0"/>
              <a:t>Stochastic simulation and estimation (SSE): </a:t>
            </a:r>
            <a:r>
              <a:rPr lang="en-US" dirty="0">
                <a:solidFill>
                  <a:srgbClr val="B40000"/>
                </a:solidFill>
              </a:rPr>
              <a:t>nlmixr2sse</a:t>
            </a:r>
          </a:p>
          <a:p>
            <a:r>
              <a:rPr lang="en-US" dirty="0"/>
              <a:t>Sampling importance resampling (SIR): </a:t>
            </a:r>
            <a:r>
              <a:rPr lang="en-US" dirty="0">
                <a:solidFill>
                  <a:srgbClr val="B40000"/>
                </a:solidFill>
              </a:rPr>
              <a:t>nlmixr2sir</a:t>
            </a:r>
          </a:p>
          <a:p>
            <a:endParaRPr lang="en-US" dirty="0"/>
          </a:p>
          <a:p>
            <a:r>
              <a:rPr lang="en-US" dirty="0"/>
              <a:t>SCM and bootstrap built on earlier versions in </a:t>
            </a:r>
            <a:r>
              <a:rPr lang="en-US" dirty="0">
                <a:solidFill>
                  <a:srgbClr val="B40000"/>
                </a:solidFill>
              </a:rPr>
              <a:t>nlmixr2extra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GB" dirty="0"/>
          </a:p>
          <a:p>
            <a:pPr marL="0" indent="0">
              <a:spcBef>
                <a:spcPts val="0"/>
              </a:spcBef>
              <a:buNone/>
            </a:pPr>
            <a:r>
              <a:rPr lang="en-GB" sz="1200" dirty="0"/>
              <a:t>[a] </a:t>
            </a:r>
            <a:r>
              <a:rPr lang="en-GB" sz="1200" u="sng" dirty="0">
                <a:hlinkClick r:id="rId2"/>
              </a:rPr>
              <a:t>https://github.com/kestrel99/nlmixr2scm</a:t>
            </a:r>
            <a:endParaRPr lang="en-GB" sz="1200" u="sng" dirty="0"/>
          </a:p>
          <a:p>
            <a:pPr marL="0" indent="0">
              <a:spcBef>
                <a:spcPts val="0"/>
              </a:spcBef>
              <a:buNone/>
            </a:pPr>
            <a:r>
              <a:rPr lang="en-GB" sz="1200" dirty="0"/>
              <a:t>[b] </a:t>
            </a:r>
            <a:r>
              <a:rPr lang="en-GB" sz="1200" u="sng" dirty="0">
                <a:hlinkClick r:id="rId3"/>
              </a:rPr>
              <a:t>https://github.com/kestrel99/nlmixr2boot</a:t>
            </a:r>
            <a:r>
              <a:rPr lang="en-GB" sz="1200" u="sng" dirty="0"/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200" dirty="0"/>
              <a:t>[c] </a:t>
            </a:r>
            <a:r>
              <a:rPr lang="en-GB" sz="1200" u="sng" dirty="0">
                <a:hlinkClick r:id="rId4"/>
              </a:rPr>
              <a:t>https://github.com/kestrel99/nlmixr2llp</a:t>
            </a:r>
            <a:r>
              <a:rPr lang="en-GB" sz="1200" u="sng" dirty="0"/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200" dirty="0"/>
              <a:t>[d] </a:t>
            </a:r>
            <a:r>
              <a:rPr lang="en-GB" sz="1200" u="sng" dirty="0">
                <a:hlinkClick r:id="rId5"/>
              </a:rPr>
              <a:t>https://github.com/kestrel99/nlmixr2sse</a:t>
            </a:r>
            <a:r>
              <a:rPr lang="en-GB" sz="1200" u="sng" dirty="0"/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200" dirty="0"/>
              <a:t>[e] </a:t>
            </a:r>
            <a:r>
              <a:rPr lang="en-GB" sz="1200" u="sng" dirty="0">
                <a:hlinkClick r:id="rId6"/>
              </a:rPr>
              <a:t>https://github.com/kestrel99/nlmixr2sir</a:t>
            </a:r>
            <a:r>
              <a:rPr lang="en-GB" sz="1200" u="sng" dirty="0"/>
              <a:t> </a:t>
            </a:r>
          </a:p>
          <a:p>
            <a:pPr marL="0" indent="0">
              <a:spcBef>
                <a:spcPts val="0"/>
              </a:spcBef>
              <a:buNone/>
            </a:pPr>
            <a:endParaRPr lang="en-GB" sz="1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nlmix</a:t>
            </a:r>
            <a:r>
              <a:rPr lang="en-GB" dirty="0">
                <a:solidFill>
                  <a:srgbClr val="B40000"/>
                </a:solidFill>
              </a:rPr>
              <a:t>r</a:t>
            </a:r>
            <a:r>
              <a:rPr lang="en-GB" baseline="30000" dirty="0">
                <a:solidFill>
                  <a:srgbClr val="B40000"/>
                </a:solidFill>
              </a:rPr>
              <a:t>2</a:t>
            </a:r>
            <a:r>
              <a:rPr lang="en-GB" dirty="0"/>
              <a:t> development team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05246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D3713-0469-9E66-AB60-933DAD69D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Performance: d</a:t>
            </a:r>
            <a:r>
              <a:rPr lang="en-GB" sz="2400" b="1" dirty="0">
                <a:solidFill>
                  <a:srgbClr val="B40000"/>
                </a:solidFill>
              </a:rPr>
              <a:t>o I get the same results when I switch from my usual estimation tool to </a:t>
            </a:r>
            <a:r>
              <a:rPr lang="en-GB" sz="2400" b="1" dirty="0"/>
              <a:t>nlmixr2</a:t>
            </a:r>
            <a:r>
              <a:rPr lang="en-GB" sz="2400" b="1" dirty="0">
                <a:solidFill>
                  <a:srgbClr val="B40000"/>
                </a:solidFill>
              </a:rPr>
              <a:t>?</a:t>
            </a:r>
            <a:endParaRPr lang="en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217E11-79DC-76B4-D898-F0A2F079BC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GB" sz="2400" dirty="0"/>
              <a:t>Publication in CPT:PSP: </a:t>
            </a:r>
            <a:r>
              <a:rPr lang="en-GB" sz="2400" i="1" dirty="0"/>
              <a:t>Performance of the SAEM and FOCEI algorithms in the open-source non-linear mixed effect modelling tool </a:t>
            </a:r>
            <a:r>
              <a:rPr lang="en-GB" sz="2400" i="1" dirty="0" err="1"/>
              <a:t>nlmixr</a:t>
            </a:r>
            <a:r>
              <a:rPr lang="en-GB" i="1" baseline="30000" dirty="0" err="1"/>
              <a:t>a</a:t>
            </a:r>
            <a:endParaRPr lang="en-GB" sz="2400" i="1" baseline="30000" dirty="0"/>
          </a:p>
          <a:p>
            <a:endParaRPr lang="en-GB" sz="2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GB" b="1" dirty="0" err="1"/>
              <a:t>nlmixr</a:t>
            </a:r>
            <a:r>
              <a:rPr lang="en-GB" sz="2400" dirty="0"/>
              <a:t>/FOCEI compared to NONMEM/FOCEI</a:t>
            </a:r>
          </a:p>
          <a:p>
            <a:r>
              <a:rPr lang="en-GB" b="1" dirty="0" err="1"/>
              <a:t>nlmixr</a:t>
            </a:r>
            <a:r>
              <a:rPr lang="en-GB" sz="2400" dirty="0"/>
              <a:t>/SAEM compared to Monolix/SAEM</a:t>
            </a:r>
          </a:p>
          <a:p>
            <a:endParaRPr lang="en-GB" sz="2400" dirty="0"/>
          </a:p>
          <a:p>
            <a:r>
              <a:rPr lang="en-GB" sz="2400" dirty="0"/>
              <a:t>Repeated sparse data sets for a single model</a:t>
            </a:r>
          </a:p>
          <a:p>
            <a:r>
              <a:rPr lang="en-GB" sz="2400" dirty="0"/>
              <a:t>A wide range of models and inputs using single rich data sets </a:t>
            </a:r>
          </a:p>
          <a:p>
            <a:endParaRPr lang="en-GB" dirty="0"/>
          </a:p>
          <a:p>
            <a:r>
              <a:rPr lang="en-GB" sz="2400" dirty="0"/>
              <a:t>Results for both FOCEI and SAEM compare well to NONMEM and Monolix</a:t>
            </a:r>
          </a:p>
          <a:p>
            <a:endParaRPr lang="en-GB" sz="2400" dirty="0"/>
          </a:p>
          <a:p>
            <a:pPr marL="0" indent="0">
              <a:buNone/>
            </a:pPr>
            <a:endParaRPr lang="en-GB" sz="1400" i="1" dirty="0"/>
          </a:p>
          <a:p>
            <a:pPr marL="0" indent="0">
              <a:buNone/>
            </a:pPr>
            <a:r>
              <a:rPr lang="en-GB" sz="1400" dirty="0"/>
              <a:t>[a] </a:t>
            </a:r>
            <a:r>
              <a:rPr lang="en-GB" sz="1400" dirty="0">
                <a:hlinkClick r:id="rId2"/>
              </a:rPr>
              <a:t>https://ascpt.onlinelibrary.wiley.com/doi/10.1002/psp4.12471</a:t>
            </a:r>
            <a:r>
              <a:rPr lang="en-GB" sz="1400" dirty="0"/>
              <a:t> </a:t>
            </a:r>
            <a:endParaRPr lang="en-GB" sz="1400" i="1" dirty="0"/>
          </a:p>
          <a:p>
            <a:endParaRPr lang="en-N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B60668-11A1-38AB-F3ED-EE96F1647D7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F82044-284C-F00E-A61A-A1DD9AE46F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58047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E0E6116-8BC3-40FE-BC23-9DCB75DB054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00"/>
          <a:stretch>
            <a:fillRect/>
          </a:stretch>
        </p:blipFill>
        <p:spPr>
          <a:xfrm>
            <a:off x="2438400" y="1003300"/>
            <a:ext cx="7302500" cy="539159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1800"/>
              <a:t>500 sparse data sets are analysed using both NONMEM/FOCEi and </a:t>
            </a:r>
            <a:r>
              <a:rPr lang="en-GB" sz="1800">
                <a:solidFill>
                  <a:schemeClr val="accent1">
                    <a:lumMod val="75000"/>
                  </a:schemeClr>
                </a:solidFill>
              </a:rPr>
              <a:t>nlmix</a:t>
            </a:r>
            <a:r>
              <a:rPr lang="en-GB" sz="1800"/>
              <a:t>r/FOCEi. Each marker is a single paired data set result for clearance for NONMEM on the x-axis and nlmixr/FOCEi on the y-axis: results are highly correlated (r=1.00), and lie on the line of identity (diagonal black line)</a:t>
            </a:r>
            <a:endParaRPr lang="en-GB" sz="200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98724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D50AA-2495-4B59-815D-791D5D6CD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1800"/>
              <a:t>Central volume (Vc): Top panel: FOCEi estimates, bottom panel: SAEM estimates
Dark lines: NONMEM/MONOLIX, light lines: </a:t>
            </a:r>
            <a:r>
              <a:rPr lang="en-GB" sz="1800">
                <a:solidFill>
                  <a:schemeClr val="accent1">
                    <a:lumMod val="75000"/>
                  </a:schemeClr>
                </a:solidFill>
              </a:rPr>
              <a:t>nlmix</a:t>
            </a:r>
            <a:r>
              <a:rPr lang="en-GB" sz="1800"/>
              <a:t>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D07E95-4071-4D92-B13F-4B2642E1ABD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018026-D0EC-4F99-817A-3C83DED139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38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280188-7E6E-462C-8A9B-8DEFAF5021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00"/>
          <a:stretch>
            <a:fillRect/>
          </a:stretch>
        </p:blipFill>
        <p:spPr>
          <a:xfrm>
            <a:off x="2260600" y="1003300"/>
            <a:ext cx="7670800" cy="5391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6665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FBBB70F-1382-4C4F-9F2A-34ED4B024EF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00"/>
          <a:stretch>
            <a:fillRect/>
          </a:stretch>
        </p:blipFill>
        <p:spPr>
          <a:xfrm>
            <a:off x="2260600" y="1003300"/>
            <a:ext cx="7670800" cy="539159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4D7F8E-23B3-43F3-A8B6-0B9F78C09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1800"/>
              <a:t>SE of theta estimates for Vc: very good match across software packages </a:t>
            </a:r>
            <a:br>
              <a:rPr lang="en-GB" sz="1800"/>
            </a:br>
            <a:r>
              <a:rPr lang="en-GB" sz="1800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panel: FOCEi estimates, bottom panel: SAEM estimates
Dark lines: NONMEM/MONOLIX, light lines: </a:t>
            </a:r>
            <a:r>
              <a:rPr lang="en-GB" sz="1800" b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nlmix</a:t>
            </a:r>
            <a:r>
              <a:rPr lang="en-GB" sz="1800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F1C666-402A-41DB-9036-23BFF5BC103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C2F59-2820-4A42-87D6-E3BD528630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15328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8A18A-314C-E996-0504-E0F8AE391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ABC98ABE-370B-4C59-D79E-F1235FC0AC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67608" y="2204864"/>
            <a:ext cx="6400800" cy="2664296"/>
          </a:xfrm>
        </p:spPr>
        <p:txBody>
          <a:bodyPr>
            <a:normAutofit fontScale="70000" lnSpcReduction="20000"/>
          </a:bodyPr>
          <a:lstStyle/>
          <a:p>
            <a:r>
              <a:rPr lang="en-GB" dirty="0"/>
              <a:t>rxode2/nlmixr2 Course </a:t>
            </a:r>
            <a:br>
              <a:rPr lang="en-GB" dirty="0"/>
            </a:br>
            <a:r>
              <a:rPr lang="en-GB" dirty="0"/>
              <a:t>PAGE 2026, Dubrovnik, Croatia 
Justin Wilkins, PhD 
</a:t>
            </a:r>
          </a:p>
          <a:p>
            <a:pPr lvl="0"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Tahoma" pitchFamily="34" charset="0"/>
                <a:cs typeface="Tahoma" pitchFamily="34" charset="0"/>
              </a:rPr>
              <a:t>On behalf of the 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B40000"/>
                </a:solidFill>
                <a:effectLst/>
                <a:uLnTx/>
                <a:uFillTx/>
                <a:latin typeface="Calibri" panose="020F0502020204030204" pitchFamily="34" charset="0"/>
                <a:ea typeface="Tahoma" pitchFamily="34" charset="0"/>
                <a:cs typeface="Tahoma" pitchFamily="34" charset="0"/>
              </a:rPr>
              <a:t>nlmixr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Tahoma" pitchFamily="34" charset="0"/>
                <a:cs typeface="Tahoma" pitchFamily="34" charset="0"/>
              </a:rPr>
              <a:t> development team: </a:t>
            </a:r>
          </a:p>
          <a:p>
            <a:pPr lvl="0">
              <a:defRPr/>
            </a:pPr>
            <a:r>
              <a:rPr lang="en-GB" sz="2400" dirty="0">
                <a:solidFill>
                  <a:srgbClr val="1F497D">
                    <a:lumMod val="50000"/>
                  </a:srgbClr>
                </a:solidFill>
              </a:rPr>
              <a:t>Matt Fidler, Bill Denney, </a:t>
            </a:r>
            <a:r>
              <a:rPr lang="en-GB" dirty="0">
                <a:solidFill>
                  <a:srgbClr val="1F497D">
                    <a:lumMod val="50000"/>
                  </a:srgbClr>
                </a:solidFill>
              </a:rPr>
              <a:t>John Harrold, </a:t>
            </a:r>
            <a:r>
              <a:rPr lang="en-GB" sz="2400" dirty="0">
                <a:solidFill>
                  <a:srgbClr val="1F497D">
                    <a:lumMod val="50000"/>
                  </a:srgbClr>
                </a:solidFill>
              </a:rPr>
              <a:t>Richard Hooijmaijers, Mutaz Jaber, Anne Keunecke</a:t>
            </a:r>
            <a:r>
              <a:rPr lang="en-GB" dirty="0">
                <a:solidFill>
                  <a:srgbClr val="1F497D">
                    <a:lumMod val="50000"/>
                  </a:srgbClr>
                </a:solidFill>
              </a:rPr>
              <a:t>, Theo Papathanasiou, </a:t>
            </a:r>
            <a:r>
              <a:rPr lang="en-GB" sz="2400" dirty="0">
                <a:solidFill>
                  <a:srgbClr val="1F497D">
                    <a:lumMod val="50000"/>
                  </a:srgbClr>
                </a:solidFill>
              </a:rPr>
              <a:t>Rik Schoemaker, </a:t>
            </a:r>
            <a:r>
              <a:rPr lang="en-GB" dirty="0">
                <a:solidFill>
                  <a:srgbClr val="1F497D">
                    <a:lumMod val="50000"/>
                  </a:srgbClr>
                </a:solidFill>
              </a:rPr>
              <a:t>Max Taubert, </a:t>
            </a:r>
            <a:r>
              <a:rPr lang="en-GB" sz="2400" dirty="0">
                <a:solidFill>
                  <a:srgbClr val="1F497D">
                    <a:lumMod val="50000"/>
                  </a:srgbClr>
                </a:solidFill>
              </a:rPr>
              <a:t>Mirjam Trame, Justin Wilkins, Brendan Bender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936913D-9C7C-3EA5-C52C-0ABFD87949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3552" y="620688"/>
            <a:ext cx="8208912" cy="1296144"/>
          </a:xfrm>
        </p:spPr>
        <p:txBody>
          <a:bodyPr>
            <a:normAutofit/>
          </a:bodyPr>
          <a:lstStyle/>
          <a:p>
            <a:r>
              <a:rPr lang="en-US" dirty="0"/>
              <a:t>Models in nlmixr2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688766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B90AC-3E7F-487D-872B-AB35599A2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Defining nlmixr2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99C222-43F7-465D-8FDA-85C0BB48D8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41</a:t>
            </a:fld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71F983-8CB4-44B7-A0E0-168B39E21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/>
              <a:t>Models are defined using a function containing an initialisation block (</a:t>
            </a:r>
            <a:r>
              <a:rPr lang="en-US" b="1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ini</a:t>
            </a:r>
            <a:r>
              <a:rPr lang="en-GB"/>
              <a:t>) and a model definition block (</a:t>
            </a:r>
            <a:r>
              <a:rPr lang="en-US" b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model</a:t>
            </a:r>
            <a:r>
              <a:rPr lang="en-GB"/>
              <a:t>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468FB-0720-4955-9329-DDD6629AB5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17FEB5-6379-4319-8335-4C02C42C6158}"/>
              </a:ext>
            </a:extLst>
          </p:cNvPr>
          <p:cNvSpPr/>
          <p:nvPr/>
        </p:nvSpPr>
        <p:spPr>
          <a:xfrm>
            <a:off x="623392" y="2348880"/>
            <a:ext cx="8604956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One.comp.KA.solved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&lt;-</a:t>
            </a:r>
            <a:r>
              <a:rPr lang="en-US" sz="16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function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() {</a:t>
            </a:r>
            <a:b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600" b="1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ini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({</a:t>
            </a:r>
            <a:b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6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Where initial conditions/variables are specified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})</a:t>
            </a:r>
            <a:b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6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model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({</a:t>
            </a:r>
            <a:b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6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Where the model is specified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})</a:t>
            </a:r>
            <a:b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}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5781618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B90AC-3E7F-487D-872B-AB35599A2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Defining nlmixr2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99C222-43F7-465D-8FDA-85C0BB48D8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42</a:t>
            </a:fld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71F983-8CB4-44B7-A0E0-168B39E21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</a:t>
            </a:r>
            <a:r>
              <a:rPr lang="en-US" b="1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ini</a:t>
            </a:r>
            <a:r>
              <a:rPr lang="en-GB" dirty="0"/>
              <a:t> block defines the parameters </a:t>
            </a:r>
          </a:p>
          <a:p>
            <a:pPr lvl="1"/>
            <a:r>
              <a:rPr lang="en-GB" dirty="0"/>
              <a:t>Thetas and residual error defined using assignment operators (</a:t>
            </a:r>
            <a:r>
              <a:rPr lang="en-GB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&lt;-</a:t>
            </a:r>
            <a:r>
              <a:rPr lang="en-GB" dirty="0"/>
              <a:t> or </a:t>
            </a:r>
            <a:r>
              <a:rPr lang="en-GB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Etas defined using a model formula (</a:t>
            </a:r>
            <a:r>
              <a:rPr lang="en-GB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~</a:t>
            </a:r>
            <a:r>
              <a:rPr lang="en-GB" dirty="0"/>
              <a:t>)</a:t>
            </a:r>
          </a:p>
          <a:p>
            <a:r>
              <a:rPr lang="en-GB" dirty="0"/>
              <a:t>Parameter names, starting values, labels for thetas and errors (using </a:t>
            </a:r>
            <a:r>
              <a:rPr lang="en-GB" i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#</a:t>
            </a:r>
            <a:r>
              <a:rPr lang="en-GB" dirty="0"/>
              <a:t>), bounds for some estimation routines (like FOCEI)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468FB-0720-4955-9329-DDD6629AB5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1692A6-D32D-46DD-9900-223298BBBA30}"/>
              </a:ext>
            </a:extLst>
          </p:cNvPr>
          <p:cNvSpPr/>
          <p:nvPr/>
        </p:nvSpPr>
        <p:spPr>
          <a:xfrm>
            <a:off x="980055" y="3356992"/>
            <a:ext cx="8604956" cy="3077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One.comp.KA.solved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function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() {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b="1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ini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({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Where initial conditions/variables are specified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lka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log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1.15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#log ka (1/h)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lcl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log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0.135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#log Cl (L/h)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lv  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log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8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#log V (L)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prop.err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0.15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#proportional error (SD/mean)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add.err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0.6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#additive error (mg/L)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eta.ka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~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0.5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eta.cl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~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0.1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eta.v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~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0.1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})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model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({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 …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})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}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28300203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B90AC-3E7F-487D-872B-AB35599A2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Defining nlmixr2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99C222-43F7-465D-8FDA-85C0BB48D8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43</a:t>
            </a:fld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71F983-8CB4-44B7-A0E0-168B39E21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</a:t>
            </a:r>
            <a:r>
              <a:rPr lang="en-US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model</a:t>
            </a:r>
            <a:r>
              <a:rPr lang="en-GB" dirty="0"/>
              <a:t> block defines </a:t>
            </a:r>
          </a:p>
          <a:p>
            <a:pPr lvl="1"/>
            <a:r>
              <a:rPr lang="en-GB" dirty="0"/>
              <a:t>the relationship between thetas and etas</a:t>
            </a:r>
          </a:p>
          <a:p>
            <a:pPr lvl="1"/>
            <a:r>
              <a:rPr lang="en-GB" dirty="0"/>
              <a:t>the model structure using either closed-form solutions or ODEs</a:t>
            </a:r>
          </a:p>
          <a:p>
            <a:pPr lvl="1"/>
            <a:r>
              <a:rPr lang="en-GB" dirty="0"/>
              <a:t>the residual error structure, and where it is applied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marL="457200" lvl="1" indent="0">
              <a:buNone/>
            </a:pP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marL="457200" lvl="1" indent="0">
              <a:buNone/>
            </a:pP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468FB-0720-4955-9329-DDD6629AB5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E4DEF6-39E0-489A-A28C-B33C7EEECBA6}"/>
              </a:ext>
            </a:extLst>
          </p:cNvPr>
          <p:cNvSpPr/>
          <p:nvPr/>
        </p:nvSpPr>
        <p:spPr>
          <a:xfrm>
            <a:off x="626385" y="3429000"/>
            <a:ext cx="8604956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One.comp.KA.solved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function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() {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b="1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ini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({</a:t>
            </a:r>
          </a:p>
          <a:p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…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})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model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({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Where the model is specified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cl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exp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lcl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eta.cl)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v 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exp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(lv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eta.v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ka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exp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lka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eta.ka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solved system example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where residual error is assumed to follow proportional and additive error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b="1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linCmt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()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~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prop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prop.err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add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add.err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})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}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GB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FC0185-3276-3468-1583-2C71AEC5B789}"/>
              </a:ext>
            </a:extLst>
          </p:cNvPr>
          <p:cNvSpPr txBox="1"/>
          <p:nvPr/>
        </p:nvSpPr>
        <p:spPr>
          <a:xfrm>
            <a:off x="8688288" y="3136562"/>
            <a:ext cx="2808312" cy="1477328"/>
          </a:xfrm>
          <a:prstGeom prst="rect">
            <a:avLst/>
          </a:prstGeom>
          <a:noFill/>
          <a:ln>
            <a:solidFill>
              <a:srgbClr val="B4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Closed-form solutions are provided by the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linCmt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function, which infers the model based on the parameters provided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5901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B90AC-3E7F-487D-872B-AB35599A2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Running nlmixr2 models: the full model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99C222-43F7-465D-8FDA-85C0BB48D8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44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468FB-0720-4955-9329-DDD6629AB5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17FEB5-6379-4319-8335-4C02C42C6158}"/>
              </a:ext>
            </a:extLst>
          </p:cNvPr>
          <p:cNvSpPr/>
          <p:nvPr/>
        </p:nvSpPr>
        <p:spPr>
          <a:xfrm>
            <a:off x="1607501" y="1259175"/>
            <a:ext cx="8976997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One.comp.KA.solved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function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() {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b="1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ini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({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Where initial conditions/variables are specified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lka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log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1.15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log ka (1/h)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lcl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log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0.135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log Cl (L/h)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lv  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log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8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log V (L)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prop.err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0.15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proportional error (SD/mean)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add.err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0.6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additive error (mg/L)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eta.ka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~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0.5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eta.cl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~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0.1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eta.v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~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})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model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({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Where the model is specified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cl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exp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lcl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eta.cl)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v 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exp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(lv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eta.v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ka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exp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lka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eta.ka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solved system example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where residual error is assumed to follow proportional and additive error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b="1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linCmt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()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~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prop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prop.err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add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add.err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})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}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35043327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B90AC-3E7F-487D-872B-AB35599A2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Running nlmixr2 models: check the model code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99C222-43F7-465D-8FDA-85C0BB48D8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45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468FB-0720-4955-9329-DDD6629AB5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17FEB5-6379-4319-8335-4C02C42C6158}"/>
              </a:ext>
            </a:extLst>
          </p:cNvPr>
          <p:cNvSpPr/>
          <p:nvPr/>
        </p:nvSpPr>
        <p:spPr>
          <a:xfrm>
            <a:off x="1055440" y="1099295"/>
            <a:ext cx="8976997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Check the model and some of the assumptions made by nlmixr2 </a:t>
            </a:r>
          </a:p>
          <a:p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nlmixr2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One.comp.KA.solved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endParaRPr lang="en-GB" sz="1200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FCCE419F-4CB9-D9FB-72C4-D3103F797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440" y="1916832"/>
            <a:ext cx="7855354" cy="3638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1070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B90AC-3E7F-487D-872B-AB35599A2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Running nlmixr2 models: check the model code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99C222-43F7-465D-8FDA-85C0BB48D8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46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468FB-0720-4955-9329-DDD6629AB5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17FEB5-6379-4319-8335-4C02C42C6158}"/>
              </a:ext>
            </a:extLst>
          </p:cNvPr>
          <p:cNvSpPr/>
          <p:nvPr/>
        </p:nvSpPr>
        <p:spPr>
          <a:xfrm>
            <a:off x="1055440" y="1099295"/>
            <a:ext cx="8976997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i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Check the model and some of the assumptions made by nlmixr2 </a:t>
            </a:r>
          </a:p>
          <a:p>
            <a:br>
              <a:rPr lang="en-US" sz="1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b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nlmixr2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(One.comp.KA.solved)</a:t>
            </a:r>
            <a:endParaRPr lang="en-GB" sz="120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3E8046E3-2CA4-7AC3-0631-2BBD35C240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450" y="1784663"/>
            <a:ext cx="8064914" cy="370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9094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B90AC-3E7F-487D-872B-AB35599A2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Running nlmixr2 models with the </a:t>
            </a:r>
            <a:r>
              <a:rPr lang="en-US" sz="24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nlmixr2</a:t>
            </a:r>
            <a:r>
              <a:rPr lang="en-GB" sz="2400" dirty="0"/>
              <a:t> command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99C222-43F7-465D-8FDA-85C0BB48D8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47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468FB-0720-4955-9329-DDD6629AB5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17FEB5-6379-4319-8335-4C02C42C6158}"/>
              </a:ext>
            </a:extLst>
          </p:cNvPr>
          <p:cNvSpPr/>
          <p:nvPr/>
        </p:nvSpPr>
        <p:spPr>
          <a:xfrm>
            <a:off x="1367474" y="1099295"/>
            <a:ext cx="8976997" cy="3262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estimate parameters using </a:t>
            </a:r>
            <a:r>
              <a:rPr lang="en-US" sz="1200" i="1" dirty="0" err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nlmixr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: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run001S &lt;-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nlmixr2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One.comp.KA.solved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    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the model definition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PKdata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                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the data set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est =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"</a:t>
            </a:r>
            <a:r>
              <a:rPr lang="en-US" sz="1200" dirty="0" err="1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saem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          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the estimation algorithm (SAEM)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             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the SAEM </a:t>
            </a:r>
            <a:r>
              <a:rPr lang="en-US" sz="1200" i="1" dirty="0" err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minimisation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options: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b="1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saemControl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nBurn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=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200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200 SAEM burn-in iterations (the default)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sz="1200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nEm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=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300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300 EM iterations (the default)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print =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50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),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only print every 50th estimation step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b="1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tableControl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cwres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=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TRUE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# calculates NONMEM-style conditional weighted residuals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   </a:t>
            </a:r>
            <a:r>
              <a:rPr lang="en-US" sz="1200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npde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=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TRUE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and NPDE values for diagnostics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results are stored in the nlmixr2 object and can be viewed: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run001S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7909574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46F8D-B830-4D6C-97F1-47202217A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nlmixr2 output for SAEM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156CB4-23EE-4D64-B02F-86863166E4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EECF8C-CF5C-4D08-99DB-6FC0B698B1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48</a:t>
            </a:fld>
            <a:endParaRPr lang="en-GB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11E92506-28B4-EE92-E81B-645EBEC89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00" y="771388"/>
            <a:ext cx="11760804" cy="531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76129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7">
            <a:extLst>
              <a:ext uri="{FF2B5EF4-FFF2-40B4-BE49-F238E27FC236}">
                <a16:creationId xmlns:a16="http://schemas.microsoft.com/office/drawing/2014/main" id="{2122ADCB-B3A8-67AC-46BB-8B3528C6D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831" y="1093465"/>
            <a:ext cx="11760804" cy="53152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A46F8D-B830-4D6C-97F1-47202217A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/>
              <a:t>The labels in the ini block end up in the output, and the log-transformed parameters are returned with a back-transformation and 95%CIs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156CB4-23EE-4D64-B02F-86863166E4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EECF8C-CF5C-4D08-99DB-6FC0B698B1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49</a:t>
            </a:fld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C8B5593-9A6A-BCDE-1BD5-E623B9780A81}"/>
              </a:ext>
            </a:extLst>
          </p:cNvPr>
          <p:cNvSpPr/>
          <p:nvPr/>
        </p:nvSpPr>
        <p:spPr>
          <a:xfrm>
            <a:off x="1600239" y="2924944"/>
            <a:ext cx="2664296" cy="122413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4CB44CA-D7AF-DDD3-2278-2111C633B680}"/>
              </a:ext>
            </a:extLst>
          </p:cNvPr>
          <p:cNvSpPr/>
          <p:nvPr/>
        </p:nvSpPr>
        <p:spPr>
          <a:xfrm>
            <a:off x="4871864" y="2780928"/>
            <a:ext cx="2160240" cy="113217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119905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B90AC-3E7F-487D-872B-AB35599A2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Running nlmixr2 models: save the object, and examine parameter trace plots when using SAEM to check convergence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99C222-43F7-465D-8FDA-85C0BB48D8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50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468FB-0720-4955-9329-DDD6629AB5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17FEB5-6379-4319-8335-4C02C42C6158}"/>
              </a:ext>
            </a:extLst>
          </p:cNvPr>
          <p:cNvSpPr/>
          <p:nvPr/>
        </p:nvSpPr>
        <p:spPr>
          <a:xfrm>
            <a:off x="1367474" y="1099295"/>
            <a:ext cx="897699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i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results are stored in the nlmixr2 object and can be viewed:</a:t>
            </a:r>
            <a:br>
              <a:rPr lang="en-US" sz="1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run001S</a:t>
            </a:r>
            <a:br>
              <a:rPr lang="en-US" sz="1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br>
              <a:rPr lang="en-US" sz="1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i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and saved for future use or reference:</a:t>
            </a:r>
            <a:br>
              <a:rPr lang="en-US" sz="1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b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save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(run001S, </a:t>
            </a:r>
            <a:r>
              <a:rPr lang="en-US" sz="120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file =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“run001S.Rdata"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br>
              <a:rPr lang="en-US" sz="1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br>
              <a:rPr lang="en-US" sz="1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i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and for SAEM, convergence can be checked using a parameter trace plot:</a:t>
            </a:r>
            <a:br>
              <a:rPr lang="en-US" sz="1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b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traceplot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(run001S)</a:t>
            </a:r>
            <a:br>
              <a:rPr lang="en-US" sz="14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GB" sz="1200"/>
          </a:p>
        </p:txBody>
      </p:sp>
    </p:spTree>
    <p:extLst>
      <p:ext uri="{BB962C8B-B14F-4D97-AF65-F5344CB8AC3E}">
        <p14:creationId xmlns:p14="http://schemas.microsoft.com/office/powerpoint/2010/main" val="337659689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5BDB2-8703-4317-8078-23DFC5CAB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err="1"/>
              <a:t>Traceplot</a:t>
            </a:r>
            <a:r>
              <a:rPr lang="en-GB" dirty="0"/>
              <a:t> for SAEM parameter estimates using </a:t>
            </a:r>
            <a:r>
              <a:rPr lang="en-US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traceplot</a:t>
            </a:r>
            <a:r>
              <a:rPr lang="en-US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()</a:t>
            </a:r>
            <a:r>
              <a:rPr lang="en-GB" dirty="0"/>
              <a:t> function
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443533-0A7B-446A-BE0B-8D70B0B9427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123052-3C89-43E9-9AD8-65A22A73077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51</a:t>
            </a:fld>
            <a:endParaRPr lang="en-GB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CF0F61C7-9306-E02D-CE55-087D3DF4F1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00"/>
          <a:stretch>
            <a:fillRect/>
          </a:stretch>
        </p:blipFill>
        <p:spPr>
          <a:xfrm>
            <a:off x="1131110" y="806178"/>
            <a:ext cx="10189311" cy="575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18777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A1B73-6857-4570-AD7B-69C783B7E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nlmixr2 works well with </a:t>
            </a:r>
            <a:r>
              <a:rPr lang="en-GB" dirty="0" err="1"/>
              <a:t>ggPMX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1F5908-03F9-461C-A3F1-05958E5B87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 Model Diagnostics with </a:t>
            </a:r>
            <a:r>
              <a:rPr lang="en-US" sz="16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ggPMX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 The controller is first constructed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ctr001S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&lt;-</a:t>
            </a:r>
            <a:r>
              <a:rPr lang="en-US" sz="16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pmx_nlmixr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run001S, 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</a:t>
            </a:r>
            <a:r>
              <a:rPr lang="en-US" sz="16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conts</a:t>
            </a:r>
            <a:r>
              <a:rPr lang="en-US" sz="16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"WT"</a:t>
            </a:r>
            <a:r>
              <a:rPr lang="en-US" sz="16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"AGE"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sz="16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cats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"SEX"</a:t>
            </a:r>
            <a:r>
              <a:rPr lang="en-US" sz="16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"SPARSE"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sz="16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</a:t>
            </a:r>
            <a:r>
              <a:rPr lang="en-US" sz="16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vpc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FALSE</a:t>
            </a:r>
            <a:r>
              <a:rPr lang="en-US" sz="16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nb-NO" sz="16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settings</a:t>
            </a:r>
            <a:r>
              <a:rPr lang="nb-NO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nb-NO" sz="16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pmx_settings</a:t>
            </a:r>
            <a:r>
              <a:rPr lang="nb-NO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b-NO" sz="16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is.draft</a:t>
            </a:r>
            <a:r>
              <a:rPr lang="nb-NO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nb-NO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FALSE</a:t>
            </a:r>
            <a:r>
              <a:rPr lang="nb-NO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</a:t>
            </a:r>
            <a:endParaRPr lang="nb-NO" sz="16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NL" sz="16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 and </a:t>
            </a:r>
            <a:r>
              <a:rPr lang="en-GB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can then be piped into a specific plot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 syntax for </a:t>
            </a:r>
            <a:r>
              <a:rPr lang="en-US" sz="1600" b="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npde</a:t>
            </a:r>
            <a:r>
              <a:rPr lang="en-US" sz="16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vs pred plot</a:t>
            </a:r>
            <a:endParaRPr lang="en-US" sz="16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ctr001S </a:t>
            </a:r>
            <a:r>
              <a:rPr lang="en-GB" sz="1600" b="0" dirty="0">
                <a:solidFill>
                  <a:srgbClr val="804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%&gt;%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pmx_plot_npde_pred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#alternatively:</a:t>
            </a:r>
            <a:endParaRPr lang="en-US" sz="16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6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pmx_plot_npde_pred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ctr001S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NL" sz="16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600" dirty="0">
              <a:latin typeface="Consolas" panose="020B0609020204030204" pitchFamily="49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93575D-B3E6-41BA-9D56-3BA40113F0E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5206F1-ABC2-41BD-8D14-8DA04447FA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52</a:t>
            </a:fld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34D42E-6088-4FCE-AEF5-A20E74F8AC38}"/>
              </a:ext>
            </a:extLst>
          </p:cNvPr>
          <p:cNvSpPr/>
          <p:nvPr/>
        </p:nvSpPr>
        <p:spPr>
          <a:xfrm>
            <a:off x="767408" y="1412776"/>
            <a:ext cx="111612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GB" sz="120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289428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A1B73-6857-4570-AD7B-69C783B7E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nlmixr2 works well with </a:t>
            </a:r>
            <a:r>
              <a:rPr lang="en-GB" dirty="0" err="1"/>
              <a:t>ggPMX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1F5908-03F9-461C-A3F1-05958E5B87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US" sz="12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 Model Diagnostics with ggPMX</a:t>
            </a:r>
            <a:endParaRPr lang="en-US" sz="120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20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 The controller is first constructed</a:t>
            </a:r>
          </a:p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ctr001S </a:t>
            </a:r>
            <a:r>
              <a:rPr lang="en-US" sz="12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&lt;-</a:t>
            </a:r>
            <a:r>
              <a:rPr lang="en-US" sz="1200" b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pmx_nlmixr</a:t>
            </a:r>
            <a:r>
              <a:rPr lang="en-US" sz="12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200" b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run001S, </a:t>
            </a:r>
          </a:p>
          <a:p>
            <a:pPr marL="0" indent="0">
              <a:buNone/>
            </a:pPr>
            <a:r>
              <a:rPr lang="en-US" sz="1200" b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conts </a:t>
            </a:r>
            <a:r>
              <a:rPr lang="en-US" sz="12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200" b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</a:t>
            </a:r>
            <a:r>
              <a:rPr lang="en-US" sz="12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200" b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"WT"</a:t>
            </a:r>
            <a:r>
              <a:rPr lang="en-US" sz="1200" b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200" b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"AGE"</a:t>
            </a:r>
            <a:r>
              <a:rPr lang="en-US" sz="12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sz="1200" b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US" sz="1200" b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cats</a:t>
            </a:r>
            <a:r>
              <a:rPr lang="en-US" sz="12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200" b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</a:t>
            </a:r>
            <a:r>
              <a:rPr lang="en-US" sz="12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200" b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"SEX"</a:t>
            </a:r>
            <a:r>
              <a:rPr lang="en-US" sz="1200" b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200" b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"SPARSE"</a:t>
            </a:r>
            <a:r>
              <a:rPr lang="en-US" sz="12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sz="1200" b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</a:p>
          <a:p>
            <a:pPr marL="0" indent="0">
              <a:buNone/>
            </a:pPr>
            <a:r>
              <a:rPr lang="en-US" sz="1200" b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vpc</a:t>
            </a:r>
            <a:r>
              <a:rPr lang="en-US" sz="12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200" b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FALSE</a:t>
            </a:r>
            <a:r>
              <a:rPr lang="en-US" sz="1200" b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nb-NO" sz="1200" b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settings</a:t>
            </a:r>
            <a:r>
              <a:rPr lang="nb-NO" sz="12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nb-NO" sz="1200" b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pmx_settings</a:t>
            </a:r>
            <a:r>
              <a:rPr lang="nb-NO" sz="12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b-NO" sz="1200" b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is.draft</a:t>
            </a:r>
            <a:r>
              <a:rPr lang="nb-NO" sz="12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nb-NO" sz="1200" b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FALSE</a:t>
            </a:r>
            <a:r>
              <a:rPr lang="nb-NO" sz="12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</a:t>
            </a:r>
            <a:endParaRPr lang="nb-NO" sz="1200" b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NL" sz="1200" b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 and </a:t>
            </a:r>
            <a:r>
              <a:rPr lang="en-GB" sz="120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can then be piped into a specific plot</a:t>
            </a:r>
            <a:endParaRPr lang="en-GB" sz="120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 syntax for npde vs pred plot</a:t>
            </a:r>
            <a:endParaRPr lang="en-US" sz="1200" b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200" b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ctr001S </a:t>
            </a:r>
            <a:r>
              <a:rPr lang="en-GB" sz="1200" b="0">
                <a:solidFill>
                  <a:srgbClr val="804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%&gt;%</a:t>
            </a:r>
            <a:r>
              <a:rPr lang="en-GB" sz="1200" b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pmx_plot_npde_pred</a:t>
            </a:r>
          </a:p>
          <a:p>
            <a:pPr marL="0" indent="0">
              <a:buNone/>
            </a:pPr>
            <a:r>
              <a:rPr lang="en-US" sz="1200" b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#alternatively:</a:t>
            </a:r>
            <a:endParaRPr lang="en-US" sz="1200" b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200" b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pmx_plot_npde_pred</a:t>
            </a:r>
            <a:r>
              <a:rPr lang="en-GB" sz="12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GB" sz="1200" b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ctr001S</a:t>
            </a:r>
            <a:r>
              <a:rPr lang="en-GB" sz="12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GB" sz="1200" b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NL" sz="1200" b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200">
              <a:latin typeface="Consolas" panose="020B0609020204030204" pitchFamily="49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93575D-B3E6-41BA-9D56-3BA40113F0E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5206F1-ABC2-41BD-8D14-8DA04447FA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53</a:t>
            </a:fld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34D42E-6088-4FCE-AEF5-A20E74F8AC38}"/>
              </a:ext>
            </a:extLst>
          </p:cNvPr>
          <p:cNvSpPr/>
          <p:nvPr/>
        </p:nvSpPr>
        <p:spPr>
          <a:xfrm>
            <a:off x="767408" y="1412776"/>
            <a:ext cx="111612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GB" sz="120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C22E46B3-0DDD-82FE-3AD1-45690A17C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486" y="1004730"/>
            <a:ext cx="7272808" cy="4848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09300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A1B73-6857-4570-AD7B-69C783B7E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nlmixr2 works well with </a:t>
            </a:r>
            <a:r>
              <a:rPr lang="en-GB" dirty="0" err="1"/>
              <a:t>ggPMX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1F5908-03F9-461C-A3F1-05958E5B87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GB" sz="16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## Modify graphical options and add DRAFT label:</a:t>
            </a:r>
            <a:endParaRPr lang="en-GB" sz="16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ctr001S </a:t>
            </a:r>
            <a:r>
              <a:rPr lang="en-GB" sz="1600" b="0" dirty="0">
                <a:solidFill>
                  <a:srgbClr val="804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%&gt;%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pmx_plot_npde_time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GB" sz="16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smooth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list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GB" sz="16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color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GB" sz="16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"blue"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         point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list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shape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4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sz="16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         </a:t>
            </a:r>
            <a:r>
              <a:rPr lang="en-US" sz="16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s.draft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TRUE</a:t>
            </a:r>
            <a:r>
              <a:rPr lang="en-US" sz="16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</a:p>
          <a:p>
            <a:pPr marL="0" indent="0">
              <a:buNone/>
            </a:pP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         </a:t>
            </a:r>
            <a:r>
              <a:rPr lang="en-GB" sz="16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labels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list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"Time (hours)"</a:t>
            </a:r>
            <a:r>
              <a:rPr lang="en-GB" sz="16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                       y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"Normalized PDE"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</a:t>
            </a:r>
            <a:endParaRPr lang="en-US" sz="16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NL" sz="16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600" dirty="0">
              <a:latin typeface="Consolas" panose="020B0609020204030204" pitchFamily="49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93575D-B3E6-41BA-9D56-3BA40113F0E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5206F1-ABC2-41BD-8D14-8DA04447FA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54</a:t>
            </a:fld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34D42E-6088-4FCE-AEF5-A20E74F8AC38}"/>
              </a:ext>
            </a:extLst>
          </p:cNvPr>
          <p:cNvSpPr/>
          <p:nvPr/>
        </p:nvSpPr>
        <p:spPr>
          <a:xfrm>
            <a:off x="767408" y="1412776"/>
            <a:ext cx="111612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GB" sz="120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383060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1F5908-03F9-461C-A3F1-05958E5B87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GB" sz="1200" b="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## Modify graphical options and add DRAFT label:</a:t>
            </a:r>
            <a:endParaRPr lang="en-GB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ctr001S </a:t>
            </a:r>
            <a:r>
              <a:rPr lang="en-GB" sz="1200" b="0" dirty="0">
                <a:solidFill>
                  <a:srgbClr val="804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%&gt;%</a:t>
            </a:r>
            <a:r>
              <a:rPr lang="en-GB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pmx_plot_npde_time</a:t>
            </a:r>
            <a:r>
              <a:rPr lang="en-GB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GB" sz="12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smooth</a:t>
            </a:r>
            <a:r>
              <a:rPr lang="en-GB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GB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2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list</a:t>
            </a:r>
            <a:r>
              <a:rPr lang="en-GB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GB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color</a:t>
            </a:r>
            <a:r>
              <a:rPr lang="en-GB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GB" sz="12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"blue"</a:t>
            </a:r>
            <a:r>
              <a:rPr lang="en-GB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GB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         point 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list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shape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4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         </a:t>
            </a:r>
            <a:r>
              <a:rPr lang="en-US" sz="1200" b="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s.draft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TRUE</a:t>
            </a:r>
            <a:r>
              <a:rPr lang="en-US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</a:p>
          <a:p>
            <a:pPr marL="0" indent="0">
              <a:buNone/>
            </a:pPr>
            <a:r>
              <a:rPr lang="en-GB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         </a:t>
            </a:r>
            <a:r>
              <a:rPr lang="en-GB" sz="12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labels</a:t>
            </a:r>
            <a:r>
              <a:rPr lang="en-GB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GB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200" b="0" dirty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list</a:t>
            </a:r>
            <a:r>
              <a:rPr lang="en-GB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GB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 </a:t>
            </a:r>
            <a:r>
              <a:rPr lang="en-GB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GB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2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"Time (hours)"</a:t>
            </a:r>
            <a:r>
              <a:rPr lang="en-GB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                       y 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"Normalized PDE"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</a:t>
            </a:r>
            <a:endParaRPr lang="en-US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NL" sz="1200" b="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200" dirty="0">
              <a:latin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DA1B73-6857-4570-AD7B-69C783B7E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nlmixr2 works well with </a:t>
            </a:r>
            <a:r>
              <a:rPr lang="en-GB" dirty="0" err="1"/>
              <a:t>ggPMX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93575D-B3E6-41BA-9D56-3BA40113F0E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5206F1-ABC2-41BD-8D14-8DA04447FA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55</a:t>
            </a:fld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34D42E-6088-4FCE-AEF5-A20E74F8AC38}"/>
              </a:ext>
            </a:extLst>
          </p:cNvPr>
          <p:cNvSpPr/>
          <p:nvPr/>
        </p:nvSpPr>
        <p:spPr>
          <a:xfrm>
            <a:off x="767408" y="1412776"/>
            <a:ext cx="111612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GB" sz="120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4F3089D0-75D1-968A-C7C0-2CBFB107E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84" y="2645207"/>
            <a:ext cx="7829952" cy="3740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00673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A1B73-6857-4570-AD7B-69C783B7E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nlmixr2 works well with </a:t>
            </a:r>
            <a:r>
              <a:rPr lang="en-GB" dirty="0" err="1"/>
              <a:t>ggPMX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1F5908-03F9-461C-A3F1-05958E5B87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200" b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## DV vs IPRED plot</a:t>
            </a:r>
            <a:endParaRPr lang="en-US" sz="1200" b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ctr001S </a:t>
            </a:r>
            <a:r>
              <a:rPr lang="en-US" sz="1200" b="0">
                <a:solidFill>
                  <a:srgbClr val="804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%&gt;%</a:t>
            </a:r>
            <a:r>
              <a:rPr lang="en-US" sz="1200" b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pmx_plot_dv_ipred</a:t>
            </a:r>
            <a:r>
              <a:rPr lang="en-US" sz="12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200" b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scale_x_log10</a:t>
            </a:r>
            <a:r>
              <a:rPr lang="en-US" sz="12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200" b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TRUE</a:t>
            </a:r>
            <a:r>
              <a:rPr lang="en-US" sz="1200" b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scale_y_log10</a:t>
            </a:r>
            <a:r>
              <a:rPr lang="en-US" sz="12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200" b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TRUE</a:t>
            </a:r>
            <a:r>
              <a:rPr lang="en-US" sz="12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sz="1200" b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NL" sz="1200" b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200" b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#You can filter to restrict the values of IPRED for instance:</a:t>
            </a:r>
            <a:endParaRPr lang="en-GB" sz="1200" b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200" b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ctr001S </a:t>
            </a:r>
            <a:r>
              <a:rPr lang="en-GB" sz="1200" b="0">
                <a:solidFill>
                  <a:srgbClr val="804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%&gt;%</a:t>
            </a:r>
            <a:r>
              <a:rPr lang="en-GB" sz="1200" b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pmx_plot_dv_ipred</a:t>
            </a:r>
            <a:r>
              <a:rPr lang="en-GB" sz="12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GB" sz="1200" b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scale_x_log10</a:t>
            </a:r>
            <a:r>
              <a:rPr lang="en-GB" sz="12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GB" sz="1200" b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TRUE</a:t>
            </a:r>
            <a:r>
              <a:rPr lang="en-GB" sz="1200" b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scale_y_log10</a:t>
            </a:r>
            <a:r>
              <a:rPr lang="en-GB" sz="12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GB" sz="1200" b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TRUE</a:t>
            </a:r>
            <a:r>
              <a:rPr lang="en-GB" sz="1200" b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GB" sz="1200" b="0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filter</a:t>
            </a:r>
            <a:r>
              <a:rPr lang="en-GB" sz="12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=(</a:t>
            </a:r>
            <a:r>
              <a:rPr lang="en-GB" sz="1200" b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IPRED</a:t>
            </a:r>
            <a:r>
              <a:rPr lang="en-GB" sz="12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GB" sz="1200" b="0">
                <a:solidFill>
                  <a:srgbClr val="FF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GB" sz="12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</a:t>
            </a:r>
            <a:endParaRPr lang="en-GB" sz="1200" b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NL" sz="1200" b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## DV vs PRED plot</a:t>
            </a:r>
            <a:endParaRPr lang="en-US" sz="1200" b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200" b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ctr001S </a:t>
            </a:r>
            <a:r>
              <a:rPr lang="en-GB" sz="1200" b="0">
                <a:solidFill>
                  <a:srgbClr val="804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%&gt;%</a:t>
            </a:r>
            <a:r>
              <a:rPr lang="en-GB" sz="1200" b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pmx_plot_dv_pred</a:t>
            </a:r>
            <a:r>
              <a:rPr lang="en-GB" sz="12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GB" sz="1200" b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scale_x_log10</a:t>
            </a:r>
            <a:r>
              <a:rPr lang="en-GB" sz="12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GB" sz="1200" b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TRUE</a:t>
            </a:r>
            <a:r>
              <a:rPr lang="en-GB" sz="1200" b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scale_y_log10</a:t>
            </a:r>
            <a:r>
              <a:rPr lang="en-GB" sz="12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GB" sz="1200" b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TRUE</a:t>
            </a:r>
            <a:r>
              <a:rPr lang="en-GB" sz="1200" b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GB" sz="1200" b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NL" sz="1200" b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200" b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## Absolute individual weighted residuals to investigate the residual error model</a:t>
            </a:r>
            <a:endParaRPr lang="en-GB" sz="1200" b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200" b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ctr001S </a:t>
            </a:r>
            <a:r>
              <a:rPr lang="en-GB" sz="1200" b="0">
                <a:solidFill>
                  <a:srgbClr val="804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%&gt;%</a:t>
            </a:r>
            <a:r>
              <a:rPr lang="en-GB" sz="1200" b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pmx_plot_abs_iwres_ipred</a:t>
            </a:r>
          </a:p>
          <a:p>
            <a:pPr marL="0" indent="0">
              <a:buNone/>
            </a:pPr>
            <a:r>
              <a:rPr lang="en-US" sz="1200" b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#again, alternatively:</a:t>
            </a:r>
            <a:endParaRPr lang="en-US" sz="1200" b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200" b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#pmx_plot_abs_iwres_ipred(ctr)</a:t>
            </a:r>
            <a:endParaRPr lang="en-GB" sz="1200" b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NL" sz="1200" b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NL" sz="1200" b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ctr001S </a:t>
            </a:r>
            <a:r>
              <a:rPr lang="en-US" sz="1200" b="0">
                <a:solidFill>
                  <a:srgbClr val="804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%&gt;%</a:t>
            </a:r>
            <a:r>
              <a:rPr lang="en-US" sz="1200" b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pmx_plot_iwres_dens</a:t>
            </a:r>
          </a:p>
          <a:p>
            <a:pPr marL="0" indent="0">
              <a:buNone/>
            </a:pPr>
            <a:r>
              <a:rPr lang="en-US" sz="1200" b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ctr001S </a:t>
            </a:r>
            <a:r>
              <a:rPr lang="en-US" sz="1200" b="0">
                <a:solidFill>
                  <a:srgbClr val="804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%&gt;%</a:t>
            </a:r>
            <a:r>
              <a:rPr lang="en-US" sz="1200" b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pmx_plot_eta_qq</a:t>
            </a:r>
          </a:p>
          <a:p>
            <a:pPr marL="0" indent="0">
              <a:buNone/>
            </a:pPr>
            <a:r>
              <a:rPr lang="sv-SE" sz="1200" b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ctr001S </a:t>
            </a:r>
            <a:r>
              <a:rPr lang="sv-SE" sz="1200" b="0">
                <a:solidFill>
                  <a:srgbClr val="804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%&gt;%</a:t>
            </a:r>
            <a:r>
              <a:rPr lang="sv-SE" sz="1200" b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pmx_plot_eta_box</a:t>
            </a:r>
          </a:p>
          <a:p>
            <a:pPr marL="0" indent="0">
              <a:buNone/>
            </a:pPr>
            <a:r>
              <a:rPr lang="sv-SE" sz="1200" b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ctr001S </a:t>
            </a:r>
            <a:r>
              <a:rPr lang="sv-SE" sz="1200" b="0">
                <a:solidFill>
                  <a:srgbClr val="804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%&gt;%</a:t>
            </a:r>
            <a:r>
              <a:rPr lang="sv-SE" sz="1200" b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pmx_plot_eta_hist</a:t>
            </a:r>
          </a:p>
          <a:p>
            <a:pPr marL="0" indent="0">
              <a:buNone/>
            </a:pPr>
            <a:r>
              <a:rPr lang="en-US" sz="1200" b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ctr001S </a:t>
            </a:r>
            <a:r>
              <a:rPr lang="en-US" sz="1200" b="0">
                <a:solidFill>
                  <a:srgbClr val="804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%&gt;%</a:t>
            </a:r>
            <a:r>
              <a:rPr lang="en-US" sz="1200" b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pmx_plot_eta_matrix</a:t>
            </a:r>
          </a:p>
          <a:p>
            <a:pPr marL="0" indent="0">
              <a:buNone/>
            </a:pPr>
            <a:endParaRPr lang="en-NL" sz="1200" b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200">
              <a:latin typeface="Consolas" panose="020B0609020204030204" pitchFamily="49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93575D-B3E6-41BA-9D56-3BA40113F0E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5206F1-ABC2-41BD-8D14-8DA04447FA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56</a:t>
            </a:fld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34D42E-6088-4FCE-AEF5-A20E74F8AC38}"/>
              </a:ext>
            </a:extLst>
          </p:cNvPr>
          <p:cNvSpPr/>
          <p:nvPr/>
        </p:nvSpPr>
        <p:spPr>
          <a:xfrm>
            <a:off x="767408" y="1412776"/>
            <a:ext cx="111612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GB" sz="120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881960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A1B73-6857-4570-AD7B-69C783B7E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2" y="113386"/>
            <a:ext cx="11089232" cy="985909"/>
          </a:xfrm>
        </p:spPr>
        <p:txBody>
          <a:bodyPr/>
          <a:lstStyle/>
          <a:p>
            <a:r>
              <a:rPr lang="en-GB" dirty="0"/>
              <a:t>nlmixr2 works well with </a:t>
            </a:r>
            <a:r>
              <a:rPr lang="en-GB" dirty="0" err="1"/>
              <a:t>xpose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1F5908-03F9-461C-A3F1-05958E5B87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sz="1400" dirty="0"/>
              <a:t>*</a:t>
            </a:r>
            <a:r>
              <a:rPr lang="en-GB" sz="1400" dirty="0">
                <a:hlinkClick r:id="rId2"/>
              </a:rPr>
              <a:t>https://uupharmacometrics.github.io/xpose/</a:t>
            </a:r>
            <a:endParaRPr lang="en-GB" sz="1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93575D-B3E6-41BA-9D56-3BA40113F0E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5206F1-ABC2-41BD-8D14-8DA04447FA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57</a:t>
            </a:fld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34D42E-6088-4FCE-AEF5-A20E74F8AC38}"/>
              </a:ext>
            </a:extLst>
          </p:cNvPr>
          <p:cNvSpPr/>
          <p:nvPr/>
        </p:nvSpPr>
        <p:spPr>
          <a:xfrm>
            <a:off x="767408" y="1412776"/>
            <a:ext cx="1116124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4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the nlmixr2 object can be transformed into an </a:t>
            </a:r>
            <a:r>
              <a:rPr lang="en-US" sz="1400" i="1" dirty="0" err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xpose</a:t>
            </a:r>
            <a:r>
              <a:rPr lang="en-US" sz="14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object to allow diagnostics with the </a:t>
            </a:r>
            <a:r>
              <a:rPr lang="en-US" sz="1400" i="1" dirty="0" err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xpose</a:t>
            </a:r>
            <a:r>
              <a:rPr lang="en-US" sz="14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package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4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the link between nlmixr2 and </a:t>
            </a:r>
            <a:r>
              <a:rPr lang="en-US" sz="1400" i="1" dirty="0" err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xpose</a:t>
            </a:r>
            <a:r>
              <a:rPr lang="en-US" sz="14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is provided by the xpose.nlmixr2 package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4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only </a:t>
            </a:r>
            <a:r>
              <a:rPr lang="en-US" sz="1400" i="1" dirty="0" err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xpose_data_nlmixr</a:t>
            </a:r>
            <a:r>
              <a:rPr lang="en-US" sz="14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is from xpose.nlmixr2</a:t>
            </a:r>
          </a:p>
          <a:p>
            <a:r>
              <a:rPr lang="en-US" sz="14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all further commands (see </a:t>
            </a:r>
            <a:r>
              <a:rPr lang="en-US" sz="1400" i="1" dirty="0" err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cheatsheet</a:t>
            </a:r>
            <a:r>
              <a:rPr lang="en-US" sz="14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 are from the </a:t>
            </a:r>
            <a:r>
              <a:rPr lang="en-US" sz="1400" i="1" dirty="0" err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xpose</a:t>
            </a:r>
            <a:r>
              <a:rPr lang="en-US" sz="14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package</a:t>
            </a:r>
          </a:p>
          <a:p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xpdb</a:t>
            </a:r>
            <a:r>
              <a:rPr lang="en-US" sz="14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.1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s &lt;-</a:t>
            </a:r>
            <a:r>
              <a:rPr lang="en-US" sz="14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xpose_data_nlmixr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(run001S)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4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this can also be used to generate trace plots (parameters vs iterations:)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400" b="1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prm_vs_iteration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(xpdb</a:t>
            </a:r>
            <a:r>
              <a:rPr lang="en-US" sz="14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.1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s)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4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to remove the path to the script from the plot use: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400" b="1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prm_vs_iteration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(xpdb</a:t>
            </a:r>
            <a:r>
              <a:rPr lang="en-US" sz="14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.1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s,</a:t>
            </a:r>
            <a:r>
              <a:rPr lang="en-US" sz="14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caption=</a:t>
            </a:r>
            <a:r>
              <a:rPr lang="en-US" sz="1400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GB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302204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A1B73-6857-4570-AD7B-69C783B7E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2" y="113386"/>
            <a:ext cx="11089232" cy="985909"/>
          </a:xfrm>
        </p:spPr>
        <p:txBody>
          <a:bodyPr/>
          <a:lstStyle/>
          <a:p>
            <a:r>
              <a:rPr lang="en-GB" dirty="0"/>
              <a:t>nlmixr2 works well with </a:t>
            </a:r>
            <a:r>
              <a:rPr lang="en-GB" dirty="0" err="1"/>
              <a:t>xpose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1F5908-03F9-461C-A3F1-05958E5B87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sz="1400" dirty="0"/>
              <a:t>*</a:t>
            </a:r>
            <a:r>
              <a:rPr lang="en-GB" sz="1400" dirty="0">
                <a:hlinkClick r:id="rId2"/>
              </a:rPr>
              <a:t>https://uupharmacometrics.github.io/xpose/</a:t>
            </a:r>
            <a:endParaRPr lang="en-GB" sz="1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93575D-B3E6-41BA-9D56-3BA40113F0E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5206F1-ABC2-41BD-8D14-8DA04447FA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58</a:t>
            </a:fld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34D42E-6088-4FCE-AEF5-A20E74F8AC38}"/>
              </a:ext>
            </a:extLst>
          </p:cNvPr>
          <p:cNvSpPr/>
          <p:nvPr/>
        </p:nvSpPr>
        <p:spPr>
          <a:xfrm>
            <a:off x="767408" y="1412776"/>
            <a:ext cx="1116124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the nlmixr2 object can be transformed into an </a:t>
            </a:r>
            <a:r>
              <a:rPr lang="en-US" sz="1200" i="1" dirty="0" err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xpose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object to allow diagnostics with the </a:t>
            </a:r>
            <a:r>
              <a:rPr lang="en-US" sz="1200" i="1" dirty="0" err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xpose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package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the link between nlmixr2 and </a:t>
            </a:r>
            <a:r>
              <a:rPr lang="en-US" sz="1200" i="1" dirty="0" err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xpose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is provided by the xpose.nlmixr2 package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only </a:t>
            </a:r>
            <a:r>
              <a:rPr lang="en-US" sz="1200" i="1" dirty="0" err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xpose_data_nlmixr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is from xpose.nlmixr2 </a:t>
            </a:r>
          </a:p>
          <a:p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all further commands (see </a:t>
            </a:r>
            <a:r>
              <a:rPr lang="en-US" sz="1200" i="1" dirty="0" err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cheatsheet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 are from the </a:t>
            </a:r>
            <a:r>
              <a:rPr lang="en-US" sz="1200" i="1" dirty="0" err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xpose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package</a:t>
            </a:r>
          </a:p>
          <a:p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xpdb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.1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s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xpose_data_nlmixr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(run001S)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this can also be used to generate trace plots (parameters vs iterations:)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b="1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prm_vs_iteration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(xpdb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.1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s)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to remove the path to the script from the plot use: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b="1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prm_vs_iteration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(xpdb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.1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s,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caption=</a:t>
            </a:r>
            <a:r>
              <a:rPr lang="en-US" sz="1200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NULL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GB" sz="12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6A63A1-0DAB-5966-7D82-739AF5C1E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0095" y="2204864"/>
            <a:ext cx="4578533" cy="380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26308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0BFCB-E7AC-4B84-B86D-62CEC3A4A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/>
              <a:t>DV vs IPRED using xpose
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E80297-F536-4FD0-B2B6-47586183A3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179181-5EEC-4BE1-9C01-75D7B3CD94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59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50624-7ED6-47E6-BF3A-4D860A17FF5C}"/>
              </a:ext>
            </a:extLst>
          </p:cNvPr>
          <p:cNvSpPr/>
          <p:nvPr/>
        </p:nvSpPr>
        <p:spPr>
          <a:xfrm>
            <a:off x="7248128" y="1556792"/>
            <a:ext cx="542460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xpdb</a:t>
            </a:r>
            <a:r>
              <a:rPr lang="en-US" sz="120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.1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s &lt;-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xpose_data_nlmixr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(run001S)</a:t>
            </a: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i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dv vs ipred plot:</a:t>
            </a: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b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dv_vs_ipred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(xpdb</a:t>
            </a:r>
            <a:r>
              <a:rPr lang="en-US" sz="120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.1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s, </a:t>
            </a: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</a:t>
            </a:r>
            <a:r>
              <a:rPr lang="en-US" sz="120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caption =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NULL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GB" sz="120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AC1709-1112-1730-5659-48BDDE81D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92" y="865647"/>
            <a:ext cx="6236947" cy="5126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3644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A1B73-6857-4570-AD7B-69C783B7E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nlmixr2 is tightly integrated with the </a:t>
            </a:r>
            <a:r>
              <a:rPr lang="en-GB" dirty="0" err="1"/>
              <a:t>vpc</a:t>
            </a:r>
            <a:r>
              <a:rPr lang="en-GB" dirty="0"/>
              <a:t> package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1F5908-03F9-461C-A3F1-05958E5B87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sz="1400" dirty="0"/>
              <a:t>*</a:t>
            </a:r>
            <a:r>
              <a:rPr lang="en-GB" sz="1400" dirty="0"/>
              <a:t>http://vpc.ronkeizer.com/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93575D-B3E6-41BA-9D56-3BA40113F0E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5206F1-ABC2-41BD-8D14-8DA04447FA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60</a:t>
            </a:fld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34D42E-6088-4FCE-AEF5-A20E74F8AC38}"/>
              </a:ext>
            </a:extLst>
          </p:cNvPr>
          <p:cNvSpPr/>
          <p:nvPr/>
        </p:nvSpPr>
        <p:spPr>
          <a:xfrm>
            <a:off x="767408" y="1282850"/>
            <a:ext cx="1116124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i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nlmixr2 comes with its own built-in vpc functionality that uses Ron Keizer's vpc package</a:t>
            </a: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i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see the cheatsheet for further options</a:t>
            </a:r>
          </a:p>
          <a:p>
            <a:endParaRPr lang="en-US" sz="1200" i="1">
              <a:solidFill>
                <a:srgbClr val="8F5902"/>
              </a:solidFill>
              <a:latin typeface="Consolas" panose="020B0609020204030204" pitchFamily="49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US" sz="1200" i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</a:t>
            </a:r>
            <a:r>
              <a:rPr lang="en-GB" sz="1200" i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because the data set uses nominal time points, it is nice to have the bins surround these time points </a:t>
            </a: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i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</a:t>
            </a:r>
            <a:r>
              <a:rPr lang="en-GB" sz="1200" i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so that each time point falls in a bin</a:t>
            </a:r>
          </a:p>
          <a:p>
            <a:endParaRPr lang="en-GB" sz="1200" i="1">
              <a:solidFill>
                <a:srgbClr val="8F5902"/>
              </a:solidFill>
              <a:latin typeface="Consolas" panose="020B0609020204030204" pitchFamily="49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de-DE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bin_mids &lt;- </a:t>
            </a:r>
            <a:r>
              <a:rPr lang="de-DE" sz="1200" b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sort</a:t>
            </a:r>
            <a:r>
              <a:rPr lang="de-DE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de-DE" sz="1200" b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unique</a:t>
            </a:r>
            <a:r>
              <a:rPr lang="de-DE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(PKdata$TIME))</a:t>
            </a:r>
          </a:p>
          <a:p>
            <a:r>
              <a:rPr lang="de-DE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bin_edges &lt;- bin_mids - c(0, diff(bin_mids) / 2)</a:t>
            </a:r>
            <a:b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b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vpcPlot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run001S,                        </a:t>
            </a:r>
            <a:r>
              <a:rPr lang="en-US" sz="1200" i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#the nlmixr object</a:t>
            </a: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n =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500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                        </a:t>
            </a:r>
            <a:r>
              <a:rPr lang="en-US" sz="1200" i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#number of trials simulated</a:t>
            </a:r>
          </a:p>
          <a:p>
            <a:r>
              <a:rPr lang="en-US" sz="120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bins = 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bin_edges</a:t>
            </a:r>
            <a:r>
              <a:rPr lang="en-US" sz="120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</a:t>
            </a: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show =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list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obs_dv =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TRUE,      </a:t>
            </a:r>
            <a:r>
              <a:rPr lang="en-US" sz="1200" i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#additional items to show, like the observations</a:t>
            </a:r>
          </a:p>
          <a:p>
            <a:r>
              <a:rPr lang="en-US" sz="120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obs_median =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TRUE,</a:t>
            </a:r>
            <a:endParaRPr lang="en-US" sz="1200" i="1">
              <a:solidFill>
                <a:srgbClr val="8F5902"/>
              </a:solidFill>
              <a:latin typeface="Consolas" panose="020B0609020204030204" pitchFamily="49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US" sz="120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sim_median =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TRUE,</a:t>
            </a:r>
            <a:endParaRPr lang="en-US" sz="1200" i="1">
              <a:solidFill>
                <a:srgbClr val="8F5902"/>
              </a:solidFill>
              <a:latin typeface="Consolas" panose="020B0609020204030204" pitchFamily="49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US" sz="120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sim_median_ci =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TRUE,</a:t>
            </a:r>
          </a:p>
          <a:p>
            <a:r>
              <a:rPr lang="en-US" sz="120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obs_ci =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TRUE,</a:t>
            </a:r>
          </a:p>
          <a:p>
            <a:r>
              <a:rPr lang="en-US" sz="120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pi =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TRUE</a:t>
            </a:r>
          </a:p>
          <a:p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),     </a:t>
            </a: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xlab =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"Time (h)"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              </a:t>
            </a:r>
            <a:r>
              <a:rPr lang="en-US" sz="1200" i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#x-axis label</a:t>
            </a: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ylab =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"Concentration (mg/L)"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  </a:t>
            </a:r>
            <a:r>
              <a:rPr lang="en-US" sz="1200" i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#y-axis label</a:t>
            </a: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title =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"VPC for first order absorption PopPK model"</a:t>
            </a: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GB" sz="120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094762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31021-B084-44B1-B54C-CD5F48B89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/>
              <a:t>VPC for the base model on linear scale...
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74FD44-BE29-49DB-A7B0-29757B01AA8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26D831-5C99-4F73-9B7A-830B3E8383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61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33578C-937F-F8B2-66EB-7CDB843E5D3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0" y="1003300"/>
            <a:ext cx="8636000" cy="539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21268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0BFCB-E7AC-4B84-B86D-62CEC3A4A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/>
              <a:t>...and on log scale</a:t>
            </a:r>
            <a:br>
              <a:rPr lang="en-GB">
                <a:sym typeface="Wingdings" panose="05000000000000000000" pitchFamily="2" charset="2"/>
              </a:rPr>
            </a:b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E80297-F536-4FD0-B2B6-47586183A3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179181-5EEC-4BE1-9C01-75D7B3CD94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62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50624-7ED6-47E6-BF3A-4D860A17FF5C}"/>
              </a:ext>
            </a:extLst>
          </p:cNvPr>
          <p:cNvSpPr/>
          <p:nvPr/>
        </p:nvSpPr>
        <p:spPr>
          <a:xfrm>
            <a:off x="623392" y="1268760"/>
            <a:ext cx="9289032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or with a log y-axis starting at 0.5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400" b="1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vpcPlot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run001S,                        </a:t>
            </a:r>
            <a:r>
              <a:rPr lang="en-US" sz="14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the nlmixr2 object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4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n =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500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                        </a:t>
            </a:r>
            <a:r>
              <a:rPr lang="en-US" sz="14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number of trials simulated</a:t>
            </a:r>
          </a:p>
          <a:p>
            <a:r>
              <a:rPr lang="en-US" sz="14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bins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bin_edges</a:t>
            </a:r>
            <a:r>
              <a:rPr lang="en-US" sz="14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4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show =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list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obs_dv</a:t>
            </a:r>
            <a:r>
              <a:rPr lang="en-US" sz="14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=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TRUE,      </a:t>
            </a:r>
            <a:r>
              <a:rPr lang="en-US" sz="14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additional items to show, like the observations</a:t>
            </a:r>
          </a:p>
          <a:p>
            <a:r>
              <a:rPr lang="en-US" sz="14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</a:t>
            </a:r>
            <a:r>
              <a:rPr lang="en-US" sz="1400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obs_median</a:t>
            </a:r>
            <a:r>
              <a:rPr lang="en-US" sz="14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=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TRUE,</a:t>
            </a:r>
            <a:endParaRPr lang="en-US" sz="1400" i="1" dirty="0">
              <a:solidFill>
                <a:srgbClr val="8F5902"/>
              </a:solidFill>
              <a:latin typeface="Consolas" panose="020B0609020204030204" pitchFamily="49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</a:t>
            </a:r>
            <a:r>
              <a:rPr lang="en-US" sz="1400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sim_median</a:t>
            </a:r>
            <a:r>
              <a:rPr lang="en-US" sz="14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=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TRUE,</a:t>
            </a:r>
            <a:endParaRPr lang="en-US" sz="1400" i="1" dirty="0">
              <a:solidFill>
                <a:srgbClr val="8F5902"/>
              </a:solidFill>
              <a:latin typeface="Consolas" panose="020B0609020204030204" pitchFamily="49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</a:t>
            </a:r>
            <a:r>
              <a:rPr lang="en-US" sz="1400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sim_median_ci</a:t>
            </a:r>
            <a:r>
              <a:rPr lang="en-US" sz="14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=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TRUE,</a:t>
            </a:r>
          </a:p>
          <a:p>
            <a:r>
              <a:rPr lang="en-US" sz="14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</a:t>
            </a:r>
            <a:r>
              <a:rPr lang="en-US" sz="1400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obs_ci</a:t>
            </a:r>
            <a:r>
              <a:rPr lang="en-US" sz="14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=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TRUE,</a:t>
            </a:r>
          </a:p>
          <a:p>
            <a:r>
              <a:rPr lang="en-US" sz="14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pi =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TRUE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),     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400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xlab</a:t>
            </a:r>
            <a:r>
              <a:rPr lang="en-US" sz="14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=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"Time (h)"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              </a:t>
            </a:r>
            <a:r>
              <a:rPr lang="en-US" sz="14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x-axis label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400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ylab</a:t>
            </a:r>
            <a:r>
              <a:rPr lang="en-US" sz="14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=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"Concentration (mg/L)"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  </a:t>
            </a:r>
            <a:r>
              <a:rPr lang="en-US" sz="14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y-axis label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4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title =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"VPC for first order absorption </a:t>
            </a:r>
            <a:r>
              <a:rPr lang="en-US" sz="1400" dirty="0" err="1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PopPK</a:t>
            </a:r>
            <a:r>
              <a:rPr lang="en-US" sz="14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model"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400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log_y</a:t>
            </a:r>
            <a:r>
              <a:rPr lang="en-US" sz="14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=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TRUE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            </a:t>
            </a:r>
            <a:r>
              <a:rPr lang="en-US" sz="14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to request a log y-axis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400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log_y_min</a:t>
            </a:r>
            <a:r>
              <a:rPr lang="en-US" sz="14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=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0.5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</a:t>
            </a:r>
            <a:r>
              <a:rPr lang="en-US" sz="14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starting at 0.5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GB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621639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0BFCB-E7AC-4B84-B86D-62CEC3A4A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...and on the log scale. It’s wicked fast</a:t>
            </a:r>
            <a:br>
              <a:rPr lang="en-GB" dirty="0">
                <a:sym typeface="Wingdings" panose="05000000000000000000" pitchFamily="2" charset="2"/>
              </a:rPr>
            </a:b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E80297-F536-4FD0-B2B6-47586183A3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179181-5EEC-4BE1-9C01-75D7B3CD94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63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FA0C95-273F-49FC-C3A5-3D1AD71A49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003300"/>
            <a:ext cx="989330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12289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0BFCB-E7AC-4B84-B86D-62CEC3A4A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Alternatively, using native </a:t>
            </a:r>
            <a:r>
              <a:rPr lang="en-US" sz="2200" dirty="0" err="1"/>
              <a:t>vpc</a:t>
            </a:r>
            <a:r>
              <a:rPr lang="en-US" sz="2200" dirty="0"/>
              <a:t> code so you only need to simulate once</a:t>
            </a:r>
            <a:endParaRPr lang="en-GB" sz="22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E80297-F536-4FD0-B2B6-47586183A3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179181-5EEC-4BE1-9C01-75D7B3CD94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64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50624-7ED6-47E6-BF3A-4D860A17FF5C}"/>
              </a:ext>
            </a:extLst>
          </p:cNvPr>
          <p:cNvSpPr/>
          <p:nvPr/>
        </p:nvSpPr>
        <p:spPr>
          <a:xfrm>
            <a:off x="623392" y="1268760"/>
            <a:ext cx="8208912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library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vpc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sz="1200" dirty="0">
              <a:solidFill>
                <a:srgbClr val="000000"/>
              </a:solidFill>
              <a:latin typeface="Consolas" panose="020B0609020204030204" pitchFamily="49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SimVPC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vpcSim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(run001S,           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the nlmixr2 object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   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n =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500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US" sz="12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US" sz="1200" b="1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setnames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SimVPC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"</a:t>
            </a:r>
            <a:r>
              <a:rPr lang="en-US" sz="1200" dirty="0" err="1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id","time","sim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),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"ID","TIME","DV"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))</a:t>
            </a:r>
          </a:p>
          <a:p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b="1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vpc_vpc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sim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=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SimVPC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 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obs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=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Pkdata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bins =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bin_edges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show =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list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obs_dv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=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TRUE,      </a:t>
            </a:r>
            <a:endParaRPr lang="en-US" sz="1200" i="1" dirty="0">
              <a:solidFill>
                <a:srgbClr val="8F5902"/>
              </a:solidFill>
              <a:latin typeface="Consolas" panose="020B0609020204030204" pitchFamily="49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</a:t>
            </a:r>
            <a:r>
              <a:rPr lang="en-US" sz="1200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obs_median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=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TRUE,</a:t>
            </a:r>
            <a:endParaRPr lang="en-US" sz="1200" i="1" dirty="0">
              <a:solidFill>
                <a:srgbClr val="8F5902"/>
              </a:solidFill>
              <a:latin typeface="Consolas" panose="020B0609020204030204" pitchFamily="49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</a:t>
            </a:r>
            <a:r>
              <a:rPr lang="en-US" sz="1200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sim_median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=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TRUE,</a:t>
            </a:r>
            <a:endParaRPr lang="en-US" sz="1200" i="1" dirty="0">
              <a:solidFill>
                <a:srgbClr val="8F5902"/>
              </a:solidFill>
              <a:latin typeface="Consolas" panose="020B0609020204030204" pitchFamily="49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</a:t>
            </a:r>
            <a:r>
              <a:rPr lang="en-US" sz="1200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sim_median_ci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=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TRUE,</a:t>
            </a:r>
          </a:p>
          <a:p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</a:t>
            </a:r>
            <a:r>
              <a:rPr lang="en-US" sz="1200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obs_ci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=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TRUE,</a:t>
            </a:r>
          </a:p>
          <a:p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pi =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TRUE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),     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xlab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=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"Time (h)"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          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x-axis label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ylab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=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"Concentration (mg/L)"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y-axis label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title =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"VPC for first order absorption </a:t>
            </a:r>
            <a:r>
              <a:rPr lang="en-US" sz="1200" dirty="0" err="1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PopPK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model\</a:t>
            </a:r>
            <a:r>
              <a:rPr lang="en-US" sz="1200" dirty="0" err="1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nwith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linear y axis"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GB" sz="12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568974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A1B73-6857-4570-AD7B-69C783B7E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nlmixr2 can generate smooth individual plots using </a:t>
            </a:r>
            <a:r>
              <a:rPr lang="en-US" dirty="0" err="1">
                <a:solidFill>
                  <a:srgbClr val="204A87"/>
                </a:solidFill>
                <a:latin typeface="Courier New" panose="02070309020205020404" pitchFamily="49" charset="0"/>
                <a:ea typeface="Cambria" panose="02040503050406030204" pitchFamily="18" charset="0"/>
                <a:cs typeface="Courier New" panose="02070309020205020404" pitchFamily="49" charset="0"/>
              </a:rPr>
              <a:t>augPred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93575D-B3E6-41BA-9D56-3BA40113F0E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5206F1-ABC2-41BD-8D14-8DA04447FA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65</a:t>
            </a:fld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34D42E-6088-4FCE-AEF5-A20E74F8AC38}"/>
              </a:ext>
            </a:extLst>
          </p:cNvPr>
          <p:cNvSpPr/>
          <p:nvPr/>
        </p:nvSpPr>
        <p:spPr>
          <a:xfrm>
            <a:off x="623392" y="1268760"/>
            <a:ext cx="1116124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Individual fits can be generated using </a:t>
            </a:r>
            <a:r>
              <a:rPr lang="en-US" sz="1600" i="1" dirty="0" err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augPred</a:t>
            </a:r>
            <a:r>
              <a:rPr lang="en-US" sz="16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(augmented predictions)</a:t>
            </a:r>
            <a:b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6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that provides smooth profiles by interpolating the predictions between observations:</a:t>
            </a:r>
            <a:b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US" sz="16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plot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augPred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fitOne.comp.KA.solved_S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))</a:t>
            </a:r>
            <a:b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US" sz="16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US" sz="16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...use the arrows in the plot window to examine the earlier curves</a:t>
            </a:r>
            <a:b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GB" sz="16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678809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A1B73-6857-4570-AD7B-69C783B7E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nlmixr2 can generate smooth individual plots using </a:t>
            </a:r>
            <a:r>
              <a:rPr lang="en-US" dirty="0" err="1">
                <a:solidFill>
                  <a:srgbClr val="204A87"/>
                </a:solidFill>
                <a:latin typeface="Courier New" panose="02070309020205020404" pitchFamily="49" charset="0"/>
                <a:ea typeface="Cambria" panose="02040503050406030204" pitchFamily="18" charset="0"/>
                <a:cs typeface="Courier New" panose="02070309020205020404" pitchFamily="49" charset="0"/>
              </a:rPr>
              <a:t>augPred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93575D-B3E6-41BA-9D56-3BA40113F0E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5206F1-ABC2-41BD-8D14-8DA04447FA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66</a:t>
            </a:fld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34D42E-6088-4FCE-AEF5-A20E74F8AC38}"/>
              </a:ext>
            </a:extLst>
          </p:cNvPr>
          <p:cNvSpPr/>
          <p:nvPr/>
        </p:nvSpPr>
        <p:spPr>
          <a:xfrm>
            <a:off x="767408" y="1064024"/>
            <a:ext cx="576064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Individual fits can be generated using </a:t>
            </a:r>
            <a:r>
              <a:rPr lang="en-US" sz="1200" i="1" dirty="0" err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augPred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(augmented predictions)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that provides smooth profiles by interpolating the predictions between observations:</a:t>
            </a:r>
          </a:p>
          <a:p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plot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b="1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augPred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(run001S))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US" sz="12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...use the arrows in the plot window to examine the earlier curves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GB" sz="12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BA7DDB-3798-D19C-F18E-9F4326D25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6431" y="1484784"/>
            <a:ext cx="4942217" cy="4819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28907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A1B73-6857-4570-AD7B-69C783B7E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use </a:t>
            </a:r>
            <a:r>
              <a:rPr lang="en-US" sz="2800">
                <a:solidFill>
                  <a:srgbClr val="204A87"/>
                </a:solidFill>
                <a:latin typeface="Courier New" panose="02070309020205020404" pitchFamily="49" charset="0"/>
                <a:ea typeface="Cambria" panose="02040503050406030204" pitchFamily="18" charset="0"/>
                <a:cs typeface="Courier New" panose="02070309020205020404" pitchFamily="49" charset="0"/>
              </a:rPr>
              <a:t>augPred</a:t>
            </a:r>
            <a:r>
              <a:rPr lang="en-GB"/>
              <a:t> output to plot using your favourite package…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93575D-B3E6-41BA-9D56-3BA40113F0E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5206F1-ABC2-41BD-8D14-8DA04447FA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67</a:t>
            </a:fld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34D42E-6088-4FCE-AEF5-A20E74F8AC38}"/>
              </a:ext>
            </a:extLst>
          </p:cNvPr>
          <p:cNvSpPr/>
          <p:nvPr/>
        </p:nvSpPr>
        <p:spPr>
          <a:xfrm>
            <a:off x="864096" y="1124744"/>
            <a:ext cx="10344472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#or the </a:t>
            </a:r>
            <a:r>
              <a:rPr lang="en-US" sz="1200" i="1" dirty="0" err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augPred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output can be plotted to your liking, for instance using ggplot2 or the lattice function </a:t>
            </a:r>
            <a:r>
              <a:rPr lang="en-US" sz="1200" i="1" dirty="0" err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xyplot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: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indivpk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&lt;- </a:t>
            </a:r>
            <a:r>
              <a:rPr lang="en-US" sz="1200" b="1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augPred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(run001S)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nlmixCOLS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"#28466A"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"#8DB6CD"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"#B40000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specify array of </a:t>
            </a:r>
            <a:r>
              <a:rPr lang="en-US" sz="1200" i="1" dirty="0" err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colours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for curves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b="1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xyplot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values</a:t>
            </a:r>
            <a:r>
              <a:rPr lang="en-US" sz="1200" b="1" dirty="0" err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~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time</a:t>
            </a:r>
            <a:r>
              <a:rPr lang="en-US" sz="1200" b="1" dirty="0" err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|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      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plot the variable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values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by time and make a separate panel for each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id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data=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indivpk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        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data source with smooth interpolated predictions and observations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groups=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ind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          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make separate curves by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ind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that separates Observed data, </a:t>
            </a:r>
          </a:p>
          <a:p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             ## Individual predictions and Population predictions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layout=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8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4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),       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arrange as 8 columns and 4 rows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type=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"</a:t>
            </a:r>
            <a:r>
              <a:rPr lang="en-US" sz="1200" dirty="0" err="1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l"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</a:t>
            </a:r>
            <a:r>
              <a:rPr lang="en-US" sz="1200" dirty="0" err="1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"l"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</a:t>
            </a:r>
            <a:r>
              <a:rPr lang="en-US" sz="1200" dirty="0" err="1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"p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), 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represent these three by a line, a line and only markers (l=line, p=points)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col=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nlmixCOLS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[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3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)],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</a:t>
            </a:r>
            <a:r>
              <a:rPr lang="en-US" sz="1200" i="1" dirty="0" err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colours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for each curve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cex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=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),    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character size for the markers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lwd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=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),      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line width of the lines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pch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=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19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              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use closed circles as marker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xlab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=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"Time (</a:t>
            </a:r>
            <a:r>
              <a:rPr lang="en-US" sz="1200" dirty="0" err="1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hr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)\n"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  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x-axis label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ylab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=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"Warfarin (mg/L)"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y-axis label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as.table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=</a:t>
            </a:r>
            <a:r>
              <a:rPr lang="en-US" sz="1200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TRUE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       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have the first plot at the top left (otherwise plot 1 starts at the lower left corner)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scales=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list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alternating=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),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have axis labels at left and bottom (and not alternating)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main=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"First order-absorption linear elimination"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title for plot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auto.key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=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list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adj=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col=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nlmixCOLS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[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3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)],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columns=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3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space=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"</a:t>
            </a:r>
            <a:r>
              <a:rPr lang="en-US" sz="1200" dirty="0" err="1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bottom"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</a:t>
            </a:r>
            <a:r>
              <a:rPr lang="en-US" sz="1200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rectangles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=</a:t>
            </a:r>
            <a:r>
              <a:rPr lang="en-US" sz="1200" dirty="0" err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FALSE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</a:t>
            </a:r>
            <a:r>
              <a:rPr lang="en-US" sz="1200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points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=</a:t>
            </a:r>
            <a:r>
              <a:rPr lang="en-US" sz="1200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FALSE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key for curves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GB" sz="12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044517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D5D70-B59F-4839-B4AD-7B55A63A7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..like lattice, for example
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4A1F55-C82A-43B0-92B8-2B8563CDEE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76CDB7-8D29-4992-8469-CDC12A5562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68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0D4AD0-7244-89B4-3ED6-1977ABDC3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92" y="1099295"/>
            <a:ext cx="10688635" cy="5161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95683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B90AC-3E7F-487D-872B-AB35599A2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400"/>
              <a:t>Solved systems and ODEs…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99C222-43F7-465D-8FDA-85C0BB48D8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69</a:t>
            </a:fld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71F983-8CB4-44B7-A0E0-168B39E21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Using solved-system code:</a:t>
            </a:r>
          </a:p>
          <a:p>
            <a:endParaRPr lang="en-GB" dirty="0"/>
          </a:p>
          <a:p>
            <a:pPr lvl="1"/>
            <a:r>
              <a:rPr lang="en-GB" dirty="0"/>
              <a:t>For a solved system, model structure is automatically derived from the parameter names in the </a:t>
            </a:r>
            <a:r>
              <a:rPr lang="en-GB" sz="2000" b="1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ini</a:t>
            </a:r>
            <a:r>
              <a:rPr lang="en-GB" dirty="0"/>
              <a:t> block</a:t>
            </a:r>
          </a:p>
          <a:p>
            <a:endParaRPr lang="en-GB" dirty="0"/>
          </a:p>
          <a:p>
            <a:r>
              <a:rPr lang="en-GB" dirty="0"/>
              <a:t>Using ODEs: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ODEs are much more flexible but also more time-consuming</a:t>
            </a:r>
          </a:p>
          <a:p>
            <a:pPr marL="0" indent="0">
              <a:buNone/>
            </a:pPr>
            <a:endParaRPr lang="en-GB" dirty="0"/>
          </a:p>
          <a:p>
            <a:pPr marL="457200" lvl="1" indent="0">
              <a:buNone/>
            </a:pP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468FB-0720-4955-9329-DDD6629AB5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E4DEF6-39E0-489A-A28C-B33C7EEECBA6}"/>
              </a:ext>
            </a:extLst>
          </p:cNvPr>
          <p:cNvSpPr/>
          <p:nvPr/>
        </p:nvSpPr>
        <p:spPr>
          <a:xfrm>
            <a:off x="2159563" y="1735649"/>
            <a:ext cx="86049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linCmt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() </a:t>
            </a:r>
            <a:r>
              <a:rPr lang="en-US" sz="1200" b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~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prop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(prop.err) </a:t>
            </a:r>
            <a:r>
              <a:rPr lang="en-US" sz="1200" b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add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(add.err)</a:t>
            </a: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GB" sz="12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E190A9-E4C7-4C8E-84CC-C6EBF5DA2771}"/>
              </a:ext>
            </a:extLst>
          </p:cNvPr>
          <p:cNvSpPr/>
          <p:nvPr/>
        </p:nvSpPr>
        <p:spPr>
          <a:xfrm>
            <a:off x="1127448" y="3875857"/>
            <a:ext cx="860495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rxode2-style differential equation definition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d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(depot)     =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ka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depot   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d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(central) =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ka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depot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(cl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v)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central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Concentration is calculated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cp =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central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v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And is assumed to follow proportional and additive error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cp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~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prop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prop.err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add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add.err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306692336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B90AC-3E7F-487D-872B-AB35599A2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Running nlmixr2 for a system of ODEs using FOCEI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99C222-43F7-465D-8FDA-85C0BB48D8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70</a:t>
            </a:fld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71F983-8CB4-44B7-A0E0-168B39E21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en-GB"/>
          </a:p>
          <a:p>
            <a:pPr marL="457200" lvl="1" indent="0">
              <a:buNone/>
            </a:pPr>
            <a:endParaRPr lang="en-GB"/>
          </a:p>
          <a:p>
            <a:pPr marL="457200" lvl="1" indent="0">
              <a:buNone/>
            </a:pPr>
            <a:endParaRPr lang="en-GB"/>
          </a:p>
          <a:p>
            <a:pPr marL="457200" lvl="1" indent="0">
              <a:buNone/>
            </a:pPr>
            <a:endParaRPr lang="en-GB"/>
          </a:p>
          <a:p>
            <a:pPr marL="457200" lvl="1" indent="0">
              <a:buNone/>
            </a:pPr>
            <a:endParaRPr lang="en-GB"/>
          </a:p>
          <a:p>
            <a:pPr marL="457200" lvl="1" indent="0">
              <a:buNone/>
            </a:pPr>
            <a:endParaRPr lang="en-GB"/>
          </a:p>
          <a:p>
            <a:pPr marL="457200" lvl="1" indent="0">
              <a:buNone/>
            </a:pPr>
            <a:endParaRPr lang="en-GB"/>
          </a:p>
          <a:p>
            <a:pPr marL="457200" lvl="1" indent="0">
              <a:buNone/>
            </a:pPr>
            <a:endParaRPr lang="en-GB"/>
          </a:p>
          <a:p>
            <a:pPr marL="457200" lvl="1" indent="0">
              <a:buNone/>
            </a:pPr>
            <a:endParaRPr lang="en-GB"/>
          </a:p>
          <a:p>
            <a:pPr marL="457200" lvl="1" indent="0">
              <a:buNone/>
            </a:pPr>
            <a:endParaRPr lang="en-GB"/>
          </a:p>
          <a:p>
            <a:pPr marL="457200" lvl="1" indent="0">
              <a:buNone/>
            </a:pPr>
            <a:endParaRPr lang="en-GB"/>
          </a:p>
          <a:p>
            <a:pPr lvl="1"/>
            <a:endParaRPr lang="en-GB"/>
          </a:p>
          <a:p>
            <a:pPr lvl="1"/>
            <a:endParaRPr lang="en-GB"/>
          </a:p>
          <a:p>
            <a:pPr lvl="1"/>
            <a:endParaRPr lang="en-GB"/>
          </a:p>
          <a:p>
            <a:pPr lvl="1"/>
            <a:endParaRPr lang="en-GB"/>
          </a:p>
          <a:p>
            <a:pPr marL="457200" lvl="1" indent="0">
              <a:buNone/>
            </a:pP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468FB-0720-4955-9329-DDD6629AB5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E4DEF6-39E0-489A-A28C-B33C7EEECBA6}"/>
              </a:ext>
            </a:extLst>
          </p:cNvPr>
          <p:cNvSpPr/>
          <p:nvPr/>
        </p:nvSpPr>
        <p:spPr>
          <a:xfrm>
            <a:off x="2159563" y="1046921"/>
            <a:ext cx="8604956" cy="544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One.comp.KA.ODE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function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() {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b="1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ini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({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Where initial conditions/variables are specified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lka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log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1.15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log ka (/h)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lcl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log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0.135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log Cl (L/</a:t>
            </a:r>
            <a:r>
              <a:rPr lang="en-US" sz="1200" i="1" dirty="0" err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hr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lv  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log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8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log V (L)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prop.err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0.15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proportional error (SD/mean)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add.err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0.6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additive error (mg/L)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eta.ka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~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0.5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eta.cl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~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0.1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eta.v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~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0.1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})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model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({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Where the model is specified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cl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exp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lcl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eta.cl)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v 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exp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(lv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eta.v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ka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exp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lka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eta.ka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rxode2-style differential equation definition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d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(gut)    =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ka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depot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d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(center) =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ka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depot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(cl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v)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center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Concentration is calculated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cp =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center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v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And is assumed to follow proportional and additive error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cp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~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prop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prop.err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add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add.err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})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}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run002F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nlmixr2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One.comp.KA.ODE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PKdata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 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est =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"</a:t>
            </a:r>
            <a:r>
              <a:rPr lang="en-US" sz="1200" dirty="0" err="1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focei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“,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foceiControl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print =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5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))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18458214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46F8D-B830-4D6C-97F1-47202217A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nlmixr2 output for FOCEI with ODEs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156CB4-23EE-4D64-B02F-86863166E4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EECF8C-CF5C-4D08-99DB-6FC0B698B1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71</a:t>
            </a:fld>
            <a:endParaRPr lang="en-GB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BE9BC47F-116A-2075-903D-6F64A8729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883" y="1030323"/>
            <a:ext cx="9265126" cy="5512083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84EC6C7F-B7B4-A269-955E-7C084810F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25" y="806936"/>
            <a:ext cx="844593" cy="139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59761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FCACC-21A9-4B8E-9569-CFC6A4D3F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session II: running </a:t>
            </a:r>
            <a:r>
              <a:rPr lang="en-GB" dirty="0"/>
              <a:t>nlmixr2</a:t>
            </a:r>
            <a:r>
              <a:rPr lang="en-US" dirty="0"/>
              <a:t> and diagnostics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B50F19-0241-47E0-BB7D-DA141CDB76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Examine the code in HandsOn_2.R to run a pre-programmed FOCEI analysis with a solved system and its diagnostics</a:t>
            </a:r>
          </a:p>
          <a:p>
            <a:r>
              <a:rPr lang="en-GB" dirty="0"/>
              <a:t>Examine the code in HandsOn_2.R to run a pre-programmed FOCEI analysis with ODEs</a:t>
            </a:r>
          </a:p>
          <a:p>
            <a:endParaRPr lang="en-GB" dirty="0"/>
          </a:p>
          <a:p>
            <a:r>
              <a:rPr lang="en-GB" dirty="0"/>
              <a:t>Examine the VPCs and implement alternative models for absorption (like one or more transit compartments…)</a:t>
            </a:r>
            <a:endParaRPr lang="en-GB" b="1" dirty="0">
              <a:solidFill>
                <a:srgbClr val="57A83A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C6208-91BD-4E6C-B660-6AE2A7684EF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6BDDBA-7DBB-4BFD-B3B2-120656CAAE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72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199776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B90AC-3E7F-487D-872B-AB35599A2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Running nlmixr2: 1 transit compartment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99C222-43F7-465D-8FDA-85C0BB48D8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73</a:t>
            </a:fld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71F983-8CB4-44B7-A0E0-168B39E21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en-GB"/>
          </a:p>
          <a:p>
            <a:pPr marL="457200" lvl="1" indent="0">
              <a:buNone/>
            </a:pPr>
            <a:endParaRPr lang="en-GB"/>
          </a:p>
          <a:p>
            <a:pPr marL="457200" lvl="1" indent="0">
              <a:buNone/>
            </a:pPr>
            <a:endParaRPr lang="en-GB"/>
          </a:p>
          <a:p>
            <a:pPr marL="457200" lvl="1" indent="0">
              <a:buNone/>
            </a:pPr>
            <a:endParaRPr lang="en-GB"/>
          </a:p>
          <a:p>
            <a:pPr marL="457200" lvl="1" indent="0">
              <a:buNone/>
            </a:pPr>
            <a:endParaRPr lang="en-GB"/>
          </a:p>
          <a:p>
            <a:pPr marL="457200" lvl="1" indent="0">
              <a:buNone/>
            </a:pPr>
            <a:endParaRPr lang="en-GB"/>
          </a:p>
          <a:p>
            <a:pPr marL="457200" lvl="1" indent="0">
              <a:buNone/>
            </a:pPr>
            <a:endParaRPr lang="en-GB"/>
          </a:p>
          <a:p>
            <a:pPr marL="457200" lvl="1" indent="0">
              <a:buNone/>
            </a:pPr>
            <a:endParaRPr lang="en-GB"/>
          </a:p>
          <a:p>
            <a:pPr marL="457200" lvl="1" indent="0">
              <a:buNone/>
            </a:pPr>
            <a:endParaRPr lang="en-GB"/>
          </a:p>
          <a:p>
            <a:pPr marL="457200" lvl="1" indent="0">
              <a:buNone/>
            </a:pPr>
            <a:endParaRPr lang="en-GB"/>
          </a:p>
          <a:p>
            <a:pPr marL="457200" lvl="1" indent="0">
              <a:buNone/>
            </a:pPr>
            <a:endParaRPr lang="en-GB"/>
          </a:p>
          <a:p>
            <a:pPr lvl="1"/>
            <a:endParaRPr lang="en-GB"/>
          </a:p>
          <a:p>
            <a:pPr lvl="1"/>
            <a:endParaRPr lang="en-GB"/>
          </a:p>
          <a:p>
            <a:pPr lvl="1"/>
            <a:endParaRPr lang="en-GB"/>
          </a:p>
          <a:p>
            <a:pPr lvl="1"/>
            <a:endParaRPr lang="en-GB"/>
          </a:p>
          <a:p>
            <a:pPr marL="457200" lvl="1" indent="0">
              <a:buNone/>
            </a:pP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468FB-0720-4955-9329-DDD6629AB5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E4DEF6-39E0-489A-A28C-B33C7EEECBA6}"/>
              </a:ext>
            </a:extLst>
          </p:cNvPr>
          <p:cNvSpPr/>
          <p:nvPr/>
        </p:nvSpPr>
        <p:spPr>
          <a:xfrm>
            <a:off x="1271464" y="980728"/>
            <a:ext cx="8604956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1 transit compartment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One.comp.transit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function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() {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b="1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ini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({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Where initial conditions/variables are specified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lktr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log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1.15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log transit rate constant (/h)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lcl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log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0.135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log Cl (L/h)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lv  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log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8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log V (L)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prop.err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0.15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proportional error (SD/mean)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add.err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0.6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additive error (mg/L)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eta.ktr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~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0.5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eta.cl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~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0.1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eta.v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~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0.1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})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model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({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Where the model is specified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exp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lktr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eta.ktr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cl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exp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lcl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eta.cl)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v 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exp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(lv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eta.v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ODE example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d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(depot)   =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depot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d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(central) =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trans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–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(cl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v)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central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d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(trans)   =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(depot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trans) 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where residual error is assumed to follow proportional and additive error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central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~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prop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prop.err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add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add.err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})}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52238579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46F8D-B830-4D6C-97F1-47202217A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nlmixr2 output: 1 transit compartment with ODEs using FOCEI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156CB4-23EE-4D64-B02F-86863166E4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EECF8C-CF5C-4D08-99DB-6FC0B698B1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74</a:t>
            </a:fld>
            <a:endParaRPr lang="en-GB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061E5C19-2B4C-852E-CF10-46890A334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08" y="908720"/>
            <a:ext cx="9061602" cy="5381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79279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F770E-5528-431C-83DC-241ECD6B5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VPC for one compartment model with a transit compartment using FOCEI
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97EDDB-F19A-4783-ADEA-84BD67D92FD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B37EA1-8C6C-4203-A44E-718CEE3A8C9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75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C7B604-9E55-09D3-FE52-ECEEFB83792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0" y="1003300"/>
            <a:ext cx="8636000" cy="539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12918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B90AC-3E7F-487D-872B-AB35599A2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Running nlmixr2: 5 transit compartments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99C222-43F7-465D-8FDA-85C0BB48D8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76</a:t>
            </a:fld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71F983-8CB4-44B7-A0E0-168B39E21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en-GB"/>
          </a:p>
          <a:p>
            <a:pPr marL="457200" lvl="1" indent="0">
              <a:buNone/>
            </a:pPr>
            <a:endParaRPr lang="en-GB"/>
          </a:p>
          <a:p>
            <a:pPr marL="457200" lvl="1" indent="0">
              <a:buNone/>
            </a:pPr>
            <a:endParaRPr lang="en-GB"/>
          </a:p>
          <a:p>
            <a:pPr marL="457200" lvl="1" indent="0">
              <a:buNone/>
            </a:pPr>
            <a:endParaRPr lang="en-GB"/>
          </a:p>
          <a:p>
            <a:pPr marL="457200" lvl="1" indent="0">
              <a:buNone/>
            </a:pPr>
            <a:endParaRPr lang="en-GB"/>
          </a:p>
          <a:p>
            <a:pPr marL="457200" lvl="1" indent="0">
              <a:buNone/>
            </a:pPr>
            <a:endParaRPr lang="en-GB"/>
          </a:p>
          <a:p>
            <a:pPr marL="457200" lvl="1" indent="0">
              <a:buNone/>
            </a:pPr>
            <a:endParaRPr lang="en-GB"/>
          </a:p>
          <a:p>
            <a:pPr marL="457200" lvl="1" indent="0">
              <a:buNone/>
            </a:pPr>
            <a:endParaRPr lang="en-GB"/>
          </a:p>
          <a:p>
            <a:pPr marL="457200" lvl="1" indent="0">
              <a:buNone/>
            </a:pPr>
            <a:endParaRPr lang="en-GB"/>
          </a:p>
          <a:p>
            <a:pPr marL="457200" lvl="1" indent="0">
              <a:buNone/>
            </a:pPr>
            <a:endParaRPr lang="en-GB"/>
          </a:p>
          <a:p>
            <a:pPr marL="457200" lvl="1" indent="0">
              <a:buNone/>
            </a:pPr>
            <a:endParaRPr lang="en-GB"/>
          </a:p>
          <a:p>
            <a:pPr lvl="1"/>
            <a:endParaRPr lang="en-GB"/>
          </a:p>
          <a:p>
            <a:pPr lvl="1"/>
            <a:endParaRPr lang="en-GB"/>
          </a:p>
          <a:p>
            <a:pPr lvl="1"/>
            <a:endParaRPr lang="en-GB"/>
          </a:p>
          <a:p>
            <a:pPr lvl="1"/>
            <a:endParaRPr lang="en-GB"/>
          </a:p>
          <a:p>
            <a:pPr marL="457200" lvl="1" indent="0">
              <a:buNone/>
            </a:pP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468FB-0720-4955-9329-DDD6629AB5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E4DEF6-39E0-489A-A28C-B33C7EEECBA6}"/>
              </a:ext>
            </a:extLst>
          </p:cNvPr>
          <p:cNvSpPr/>
          <p:nvPr/>
        </p:nvSpPr>
        <p:spPr>
          <a:xfrm>
            <a:off x="1271464" y="980728"/>
            <a:ext cx="8604956" cy="56630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5 transit compartments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KA1tr5ode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function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() {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b="1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ini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({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Where initial conditions/variables are specified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lktr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log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1.15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log transit rate constant (/h)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lcl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log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0.135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log Cl (L/h)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lv  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log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8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log V (L)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prop.err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0.15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proportional error (SD/mean)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add.err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0.6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additive error (mg/L)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eta.ktr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~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0.5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IIV </a:t>
            </a:r>
            <a:r>
              <a:rPr lang="en-US" sz="1200" i="1" dirty="0" err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  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eta.cl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~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IIV cl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eta.v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~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IIV v 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})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model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({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Where the model is specified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exp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lktr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eta.ktr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cl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exp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lcl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eta.cl)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v 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exp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(lv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eta.v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ODE example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d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(depot)   =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depot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d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(central) =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transit5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cl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central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v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d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(transit1)=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(depot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transit1) 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d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(transit2)=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(transit1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transit2) 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d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(transit3)=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(transit2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transit3) 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d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(transit4)=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(transit3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transit4) 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d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(transit5)=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(transit4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transit5) 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where residual error is assumed to follow proportional and additive error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central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~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prop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prop.err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add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add.err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})}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90143083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46F8D-B830-4D6C-97F1-47202217A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nlmixr2 output: 5 transit compartments with ODEs using FOCEI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156CB4-23EE-4D64-B02F-86863166E4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EECF8C-CF5C-4D08-99DB-6FC0B698B1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77</a:t>
            </a:fld>
            <a:endParaRPr lang="en-GB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50FD7463-8419-3F72-2E42-C6E18FFD8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92" y="908720"/>
            <a:ext cx="9939474" cy="5412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98542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E4278-2446-459F-B878-C46B64DD3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VPC for first order absorption with 5 transit compartments using FOCEI
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A1FB6B-0907-41F1-8960-108717584F3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FB2901-44A5-4E23-94EB-5470C1452D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78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066FEE-E295-E453-4130-AF567A4F93C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0" y="1003300"/>
            <a:ext cx="8636000" cy="539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96126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C2DFB-B835-9A93-AC44-4D094909C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2000"/>
              <a:t>Comparing the VPCs for the first 12 hours to see if absorption is described better using zero, one, or five transit compartments
</a:t>
            </a:r>
            <a:endParaRPr lang="en-NL" sz="20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38864A-9143-CAF2-184F-45E194AE995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8D841F-747A-FD1D-EB2A-52A9E5FDED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79</a:t>
            </a:fld>
            <a:endParaRPr lang="en-GB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38B41CB0-CEB5-5CCD-2DD6-D29EB4A47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92" y="1099295"/>
            <a:ext cx="10564699" cy="504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9370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B50F19-0241-47E0-BB7D-DA141CDB76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For future reference, the code is provided in HandsOn_3.R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C6208-91BD-4E6C-B660-6AE2A7684EF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6BDDBA-7DBB-4BFD-B3B2-120656CAAE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80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592A08-0E0D-84FF-0969-3FFA45E9E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2" y="113386"/>
            <a:ext cx="10945216" cy="985909"/>
          </a:xfrm>
        </p:spPr>
        <p:txBody>
          <a:bodyPr/>
          <a:lstStyle/>
          <a:p>
            <a:r>
              <a:rPr lang="en-US" dirty="0"/>
              <a:t>Code example III: FOCEI in nlmixr2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334629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722DDF8-0726-8FCF-5DB1-391D049F054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93" b="1499"/>
          <a:stretch/>
        </p:blipFill>
        <p:spPr>
          <a:xfrm>
            <a:off x="2575227" y="2420888"/>
            <a:ext cx="6561492" cy="42470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3FCACC-21A9-4B8E-9569-CFC6A4D3F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For examination at home: simulations of paediatric posology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B50F19-0241-47E0-BB7D-DA141CDB76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course material has a subdirectory </a:t>
            </a:r>
            <a:r>
              <a:rPr lang="en-GB" b="1" dirty="0" err="1"/>
              <a:t>NhanesPosologyGraphs</a:t>
            </a:r>
            <a:r>
              <a:rPr lang="en-GB" dirty="0"/>
              <a:t> that provides a full worked example of reading in a NONMEM model and using it to simulate paediatric exposures to create the following graph:</a:t>
            </a:r>
          </a:p>
          <a:p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C6208-91BD-4E6C-B660-6AE2A7684EF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6BDDBA-7DBB-4BFD-B3B2-120656CAAE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81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732983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B90AC-3E7F-487D-872B-AB35599A2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nlmixr2 can generate empirical Bayes estimates for Bayesian feedback:</a:t>
            </a:r>
            <a:br>
              <a:rPr lang="en-GB" sz="2400" dirty="0"/>
            </a:br>
            <a:r>
              <a:rPr lang="en-GB" sz="2400" dirty="0"/>
              <a:t>individual EBEs for a new data set using existing population parameters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99C222-43F7-465D-8FDA-85C0BB48D8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82</a:t>
            </a:fld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71F983-8CB4-44B7-A0E0-168B39E21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2024" y="3349537"/>
            <a:ext cx="5688632" cy="3528392"/>
          </a:xfrm>
        </p:spPr>
        <p:txBody>
          <a:bodyPr>
            <a:normAutofit/>
          </a:bodyPr>
          <a:lstStyle/>
          <a:p>
            <a:pPr lvl="1"/>
            <a:r>
              <a:rPr lang="en-GB" dirty="0"/>
              <a:t>Useful in a therapeutic drug monitoring setting </a:t>
            </a:r>
          </a:p>
          <a:p>
            <a:pPr lvl="1"/>
            <a:r>
              <a:rPr lang="en-GB" dirty="0"/>
              <a:t>Or for generating exposure estimates with a model that you do not want to refit on new data (common in oncology)</a:t>
            </a:r>
          </a:p>
          <a:p>
            <a:pPr marL="457200" lvl="1" indent="0">
              <a:buNone/>
            </a:pP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468FB-0720-4955-9329-DDD6629AB5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E4DEF6-39E0-489A-A28C-B33C7EEECBA6}"/>
              </a:ext>
            </a:extLst>
          </p:cNvPr>
          <p:cNvSpPr/>
          <p:nvPr/>
        </p:nvSpPr>
        <p:spPr>
          <a:xfrm>
            <a:off x="947428" y="1070639"/>
            <a:ext cx="8604956" cy="57246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KA1tr5posthoc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function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() {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b="1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ini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({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Specify previously obtained population estimates (e.g. from NONMEM or </a:t>
            </a:r>
            <a:r>
              <a:rPr lang="en-US" sz="1200" i="1" dirty="0" err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nlmixr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lktr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1.18994619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log </a:t>
            </a:r>
            <a:r>
              <a:rPr lang="en-US" sz="1200" i="1" dirty="0" err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(/h)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lcl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-2.01737477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log Cl (L/h)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lv  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2.06631620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log V (L)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prop.err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0.07883633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proportional error (SD/mean)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add.err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0.37249666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additive error (mg/L)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eta.ktr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~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0.2532964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eta.cl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~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0.08073339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eta.v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~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0.04490733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})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model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({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cl 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exp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lcl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eta.cl)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v  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exp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(lv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eta.v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exp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lktr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eta.ktr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(trns1) =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trns1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d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(trns2) =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trns1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trns2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d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(trns3) =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trns2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trns3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d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(trns4) =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trns3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trns4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d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(trns5) =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trns4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trns5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d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(central) =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trns5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(cl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v)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central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cp =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central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v</a:t>
            </a: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cp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~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prop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prop.err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add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add.err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})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}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run005ph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nlmixr2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(KA1tr5posthoc,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PKdata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 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est =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"</a:t>
            </a:r>
            <a:r>
              <a:rPr lang="en-US" sz="1200" dirty="0" err="1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posthoc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Specify </a:t>
            </a:r>
            <a:r>
              <a:rPr lang="en-US" sz="1200" i="1" dirty="0" err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posthoc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as estimation method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186752062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2DF98-6E45-45E1-A242-9AE5DCA03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2000" dirty="0"/>
              <a:t>Individual graphs for the five transit compartment model estimated using Bayesian feedback; perfect fit even though there was no population parameter estimation
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24C34F-83D4-48E4-82B5-1C60C977E42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61DE1-BEA6-4CE0-B351-587554B966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83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BD57A4-89D4-F721-99ED-B99E99C68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994" y="908658"/>
            <a:ext cx="9898012" cy="5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84381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B90AC-3E7F-487D-872B-AB35599A2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400"/>
              <a:t>Parameterisation and mu-referencing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99C222-43F7-465D-8FDA-85C0BB48D8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84</a:t>
            </a:fld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71F983-8CB4-44B7-A0E0-168B39E21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For SAEM, parameters must be defined using ‘mu-referencing’</a:t>
            </a:r>
          </a:p>
          <a:p>
            <a:r>
              <a:rPr lang="en-GB" dirty="0"/>
              <a:t>This means that inter-individual variability (IIV) parameters must be added onto population parameters</a:t>
            </a:r>
          </a:p>
          <a:p>
            <a:r>
              <a:rPr lang="en-GB" dirty="0"/>
              <a:t>This implies estimating log-parameters with the IIV added on the log-scale</a:t>
            </a:r>
          </a:p>
          <a:p>
            <a:r>
              <a:rPr lang="en-GB" dirty="0"/>
              <a:t>For FOCEI, mu-referencing is not strictly required, but is shown to provide superior estimation results</a:t>
            </a:r>
          </a:p>
          <a:p>
            <a:endParaRPr lang="en-GB" dirty="0"/>
          </a:p>
          <a:p>
            <a:r>
              <a:rPr lang="en-GB" dirty="0"/>
              <a:t>For a binary covariate (e.g. sex 0/1), the back-transformed estimate is a fold-change that can be re-written as a percentage change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marL="457200" lvl="1" indent="0">
              <a:buNone/>
            </a:pP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468FB-0720-4955-9329-DDD6629AB5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</p:spTree>
    <p:extLst>
      <p:ext uri="{BB962C8B-B14F-4D97-AF65-F5344CB8AC3E}">
        <p14:creationId xmlns:p14="http://schemas.microsoft.com/office/powerpoint/2010/main" val="322152744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B90AC-3E7F-487D-872B-AB35599A2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Corresponding nlmixr2 code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99C222-43F7-465D-8FDA-85C0BB48D8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85</a:t>
            </a:fld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71F983-8CB4-44B7-A0E0-168B39E21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en-GB"/>
          </a:p>
          <a:p>
            <a:pPr lvl="1"/>
            <a:endParaRPr lang="en-GB"/>
          </a:p>
          <a:p>
            <a:pPr lvl="1"/>
            <a:endParaRPr lang="en-GB"/>
          </a:p>
          <a:p>
            <a:pPr lvl="1"/>
            <a:endParaRPr lang="en-GB"/>
          </a:p>
          <a:p>
            <a:pPr marL="457200" lvl="1" indent="0">
              <a:buNone/>
            </a:pP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468FB-0720-4955-9329-DDD6629AB5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74628D-FD7A-4A4B-93FC-392F1DF6D7C9}"/>
              </a:ext>
            </a:extLst>
          </p:cNvPr>
          <p:cNvSpPr/>
          <p:nvPr/>
        </p:nvSpPr>
        <p:spPr>
          <a:xfrm>
            <a:off x="1343472" y="980728"/>
            <a:ext cx="8352928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One compartment transit model with Sex on V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KAtr1_sexV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function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() {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b="1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ini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({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lktr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log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1.15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log k transit (/h)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lcl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log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0.135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log CL (L/h)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lv  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log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8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log V (L)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Sex_V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log Sex on v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prop.err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0.15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proportional error (SD/mean)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add.err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0.6 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additive error (mg/L)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eta.ktr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~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0.5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eta.cl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~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0.1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eta.v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~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0.1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})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model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({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#Sex on volume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cl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exp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lcl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eta.cl)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v 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exp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(lv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eta.v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Sex_V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SEX)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#the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SEX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covariate is 0 or 1 in the data set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exp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lktr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eta.ktr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d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(depot) =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depot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d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(central) =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trans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(cl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v)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central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d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(trans)   =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depot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trans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cp =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central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v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cp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~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prop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prop.err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add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add.err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})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GB" sz="12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120506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304AA-C7AA-CD83-20B5-913CBC828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FD944-7949-913B-1C2D-7B7B69321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nlmixr2 output: mu-referenced sex on V (log-scale)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E305F0-73AB-D8F9-A405-68DD7D88678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B5373E-9430-2770-B4F7-21544D2CB6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86</a:t>
            </a:fld>
            <a:endParaRPr lang="en-GB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784D8CB3-3565-F75F-40EE-E57491572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92" y="980733"/>
            <a:ext cx="9497750" cy="489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90468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B90AC-3E7F-487D-872B-AB35599A2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400"/>
              <a:t>Parameterisation and mu-referencing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99C222-43F7-465D-8FDA-85C0BB48D8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87</a:t>
            </a:fld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71F983-8CB4-44B7-A0E0-168B39E21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For a binary covariate (e.g. sex 0/1; female/males), the back-transformed estimate is a fold-change that can be re-written as a percentage change</a:t>
            </a:r>
          </a:p>
          <a:p>
            <a:r>
              <a:rPr lang="en-GB" dirty="0"/>
              <a:t>The estimated 0.465 (95%CI: -0.277/1.21) translates using </a:t>
            </a:r>
          </a:p>
          <a:p>
            <a:pPr marL="0" indent="0">
              <a:buNone/>
            </a:pPr>
            <a:r>
              <a:rPr lang="en-GB" dirty="0"/>
              <a:t>		</a:t>
            </a:r>
            <a:r>
              <a:rPr lang="en-GB" sz="20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exp(c(0.404, -0.0653, 0.874))</a:t>
            </a:r>
          </a:p>
          <a:p>
            <a:pPr marL="0" indent="0">
              <a:buNone/>
            </a:pPr>
            <a:r>
              <a:rPr lang="en-GB" dirty="0"/>
              <a:t>	to a fold-change estimate of </a:t>
            </a:r>
            <a:br>
              <a:rPr lang="en-GB" dirty="0"/>
            </a:br>
            <a:r>
              <a:rPr lang="en-GB" dirty="0"/>
              <a:t>		 1.592 (95%CI: 0.</a:t>
            </a:r>
            <a:r>
              <a:rPr lang="nl-NL" dirty="0"/>
              <a:t> 758</a:t>
            </a:r>
            <a:r>
              <a:rPr lang="en-GB" dirty="0"/>
              <a:t>/3.353) </a:t>
            </a:r>
          </a:p>
          <a:p>
            <a:pPr marL="0" indent="0">
              <a:buNone/>
            </a:pPr>
            <a:r>
              <a:rPr lang="en-GB" dirty="0"/>
              <a:t>	which corresponds to an increase of </a:t>
            </a:r>
            <a:br>
              <a:rPr lang="en-GB" dirty="0"/>
            </a:br>
            <a:r>
              <a:rPr lang="en-GB" dirty="0"/>
              <a:t>		59.2% (95%CI: -24.2%/234.3%) </a:t>
            </a:r>
          </a:p>
          <a:p>
            <a:pPr marL="0" indent="0">
              <a:buNone/>
            </a:pPr>
            <a:r>
              <a:rPr lang="en-GB" dirty="0"/>
              <a:t>	for males compared to females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marL="457200" lvl="1" indent="0">
              <a:buNone/>
            </a:pP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468FB-0720-4955-9329-DDD6629AB5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</p:spTree>
    <p:extLst>
      <p:ext uri="{BB962C8B-B14F-4D97-AF65-F5344CB8AC3E}">
        <p14:creationId xmlns:p14="http://schemas.microsoft.com/office/powerpoint/2010/main" val="24233159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B90AC-3E7F-487D-872B-AB35599A2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400"/>
              <a:t>mu-referencing and allometric scaling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99C222-43F7-465D-8FDA-85C0BB48D8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88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171F983-8CB4-44B7-A0E0-168B39E218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/>
                  <a:t>For a standard allometric equation we would use: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𝑃𝑜𝑝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skw"/>
                                <m:ctrlPr>
                                  <a:rPr lang="en-GB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𝑊𝑇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70</m:t>
                                </m:r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type m:val="skw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sup>
                    </m:sSup>
                  </m:oMath>
                </a14:m>
                <a:endParaRPr lang="en-GB"/>
              </a:p>
              <a:p>
                <a:endParaRPr lang="en-GB"/>
              </a:p>
              <a:p>
                <a:r>
                  <a:rPr lang="en-GB"/>
                  <a:t>Take the log on both sides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𝑙𝑜𝑔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𝐶𝐿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𝑙𝑜𝑔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𝐶𝐿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𝑃𝑜𝑝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𝑙𝑜𝑔</m:t>
                    </m:r>
                    <m:d>
                      <m:dPr>
                        <m:begChr m:val="["/>
                        <m:endChr m:val="]"/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skw"/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GB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𝑊𝑇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70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f>
                              <m:fPr>
                                <m:type m:val="skw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𝑙𝑜𝑔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𝜂</m:t>
                            </m:r>
                          </m:sup>
                        </m:sSup>
                      </m:e>
                    </m:d>
                  </m:oMath>
                </a14:m>
                <a:endParaRPr lang="en-GB"/>
              </a:p>
              <a:p>
                <a:pPr lvl="1"/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B40000"/>
                        </a:solidFill>
                        <a:latin typeface="Cambria Math" panose="02040503050406030204" pitchFamily="18" charset="0"/>
                      </a:rPr>
                      <m:t>𝑙𝑜𝑔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B4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B4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B40000"/>
                                </a:solidFill>
                                <a:latin typeface="Cambria Math" panose="02040503050406030204" pitchFamily="18" charset="0"/>
                              </a:rPr>
                              <m:t>𝐶𝐿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B4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solidFill>
                          <a:srgbClr val="B400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i="1">
                        <a:solidFill>
                          <a:srgbClr val="B4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𝑙𝑜𝑔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B4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B4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B40000"/>
                                </a:solidFill>
                                <a:latin typeface="Cambria Math" panose="02040503050406030204" pitchFamily="18" charset="0"/>
                              </a:rPr>
                              <m:t>𝐶𝐿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B40000"/>
                                </a:solidFill>
                                <a:latin typeface="Cambria Math" panose="02040503050406030204" pitchFamily="18" charset="0"/>
                              </a:rPr>
                              <m:t>𝑃𝑜𝑝</m:t>
                            </m:r>
                          </m:sub>
                        </m:sSub>
                      </m:e>
                    </m:d>
                    <m:r>
                      <a:rPr lang="en-US" i="1">
                        <a:solidFill>
                          <a:srgbClr val="B4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type m:val="skw"/>
                        <m:ctrlPr>
                          <a:rPr lang="en-US" i="1" smtClean="0">
                            <a:solidFill>
                              <a:srgbClr val="B4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B4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B4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i="1" smtClean="0">
                        <a:solidFill>
                          <a:srgbClr val="B4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i="1">
                        <a:solidFill>
                          <a:srgbClr val="B4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𝑙𝑜𝑔</m:t>
                    </m:r>
                    <m:d>
                      <m:dPr>
                        <m:begChr m:val="["/>
                        <m:endChr m:val="]"/>
                        <m:ctrlPr>
                          <a:rPr lang="en-GB" i="1">
                            <a:solidFill>
                              <a:srgbClr val="B4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skw"/>
                            <m:ctrlPr>
                              <a:rPr lang="en-GB" i="1">
                                <a:solidFill>
                                  <a:srgbClr val="B4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GB" i="1">
                                    <a:solidFill>
                                      <a:srgbClr val="B4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B4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𝑊𝑇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B4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en-US" i="1">
                                <a:solidFill>
                                  <a:srgbClr val="B4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70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solidFill>
                          <a:srgbClr val="B4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B4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</m:oMath>
                </a14:m>
                <a:endParaRPr lang="en-US">
                  <a:solidFill>
                    <a:srgbClr val="B40000"/>
                  </a:solidFill>
                </a:endParaRPr>
              </a:p>
              <a:p>
                <a:endParaRPr lang="en-US"/>
              </a:p>
              <a:p>
                <a:r>
                  <a:rPr lang="en-US"/>
                  <a:t>And back-transforming: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𝑙𝑜𝑔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𝐶𝐿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𝑃𝑜𝑝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skw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𝑙𝑜𝑔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skw"/>
                                <m:ctrlPr>
                                  <a:rPr lang="en-GB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GB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𝑊𝑇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70</m:t>
                                </m:r>
                              </m:den>
                            </m:f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sup>
                    </m:sSup>
                  </m:oMath>
                </a14:m>
                <a:endParaRPr lang="en-GB"/>
              </a:p>
              <a:p>
                <a:pPr lvl="1"/>
                <a:endParaRPr lang="en-GB"/>
              </a:p>
              <a:p>
                <a:pPr lvl="1"/>
                <a:endParaRPr lang="en-GB"/>
              </a:p>
              <a:p>
                <a:pPr lvl="1"/>
                <a:endParaRPr lang="en-GB"/>
              </a:p>
              <a:p>
                <a:pPr lvl="1"/>
                <a:endParaRPr lang="en-GB"/>
              </a:p>
              <a:p>
                <a:pPr marL="457200" lvl="1" indent="0">
                  <a:buNone/>
                </a:pPr>
                <a:endParaRPr lang="en-GB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171F983-8CB4-44B7-A0E0-168B39E218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 t="-940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468FB-0720-4955-9329-DDD6629AB5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</p:spTree>
    <p:extLst>
      <p:ext uri="{BB962C8B-B14F-4D97-AF65-F5344CB8AC3E}">
        <p14:creationId xmlns:p14="http://schemas.microsoft.com/office/powerpoint/2010/main" val="260587642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B90AC-3E7F-487D-872B-AB35599A2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Corresponding nlmixr2 code: allometric scaling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99C222-43F7-465D-8FDA-85C0BB48D8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89</a:t>
            </a:fld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71F983-8CB4-44B7-A0E0-168B39E21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en-GB"/>
          </a:p>
          <a:p>
            <a:pPr lvl="1"/>
            <a:endParaRPr lang="en-GB"/>
          </a:p>
          <a:p>
            <a:pPr lvl="1"/>
            <a:endParaRPr lang="en-GB"/>
          </a:p>
          <a:p>
            <a:pPr lvl="1"/>
            <a:endParaRPr lang="en-GB"/>
          </a:p>
          <a:p>
            <a:pPr marL="457200" lvl="1" indent="0">
              <a:buNone/>
            </a:pP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468FB-0720-4955-9329-DDD6629AB5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74628D-FD7A-4A4B-93FC-392F1DF6D7C9}"/>
              </a:ext>
            </a:extLst>
          </p:cNvPr>
          <p:cNvSpPr/>
          <p:nvPr/>
        </p:nvSpPr>
        <p:spPr>
          <a:xfrm>
            <a:off x="1343472" y="980728"/>
            <a:ext cx="8352928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One.comp.transit.allo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function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() {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b="1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ini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({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lktr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log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1.15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log k transit (/h)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lcl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log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0.15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log Cl (L/</a:t>
            </a:r>
            <a:r>
              <a:rPr lang="en-US" sz="1200" i="1" dirty="0" err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hr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lv  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log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7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log V (L)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ALLC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fix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0.75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allometric exponent cl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ALLV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fix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1.00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allometric exponent v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prop.err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0.15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proportional error (SD/mean)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add.err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0.6 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additive error (mg/L)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eta.ktr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~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0.5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eta.cl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~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0.1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eta.v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~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0.1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})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model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({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Allometric scaling on weight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cl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exp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lcl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eta.cl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ALLC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log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(WT/70))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v 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exp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(lv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eta.v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ALLV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log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(WT/70))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exp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lktr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eta.ktr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(depot)   =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depot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d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(central) =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trans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(cl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v)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central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d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(trans)   =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depot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trans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cp =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central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v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cp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~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prop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prop.err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add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add.err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})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}</a:t>
            </a:r>
            <a:endParaRPr lang="en-GB" sz="12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39231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46F8D-B830-4D6C-97F1-47202217A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nlmixr2 output: allometric scaling ODEs using FOCEI</a:t>
            </a:r>
            <a:br>
              <a:rPr lang="en-GB" dirty="0"/>
            </a:br>
            <a:r>
              <a:rPr lang="en-GB" dirty="0"/>
              <a:t>Change in OFV compared to model without allometric scaling: -31.60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156CB4-23EE-4D64-B02F-86863166E4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EECF8C-CF5C-4D08-99DB-6FC0B698B1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90</a:t>
            </a:fld>
            <a:endParaRPr lang="en-GB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3399D5E5-D624-F7AE-D7E2-E7F7426AA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466" y="1099295"/>
            <a:ext cx="10879068" cy="490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72193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FCACC-21A9-4B8E-9569-CFC6A4D3F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Code example IV: running an </a:t>
            </a:r>
            <a:r>
              <a:rPr lang="en-GB" dirty="0"/>
              <a:t>nlmixr2</a:t>
            </a:r>
            <a:r>
              <a:rPr lang="en-US" dirty="0"/>
              <a:t> </a:t>
            </a:r>
            <a:r>
              <a:rPr lang="en-US" dirty="0" err="1"/>
              <a:t>posthoc</a:t>
            </a:r>
            <a:r>
              <a:rPr lang="en-US" dirty="0"/>
              <a:t> analysis and implementing covariates using mu-referencing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B50F19-0241-47E0-BB7D-DA141CDB76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Examine the code in HandsOn_4.R to run a </a:t>
            </a:r>
            <a:r>
              <a:rPr lang="en-GB" dirty="0" err="1"/>
              <a:t>posthoc</a:t>
            </a:r>
            <a:r>
              <a:rPr lang="en-GB" dirty="0"/>
              <a:t> analysis</a:t>
            </a:r>
          </a:p>
          <a:p>
            <a:r>
              <a:rPr lang="en-GB" dirty="0"/>
              <a:t>Examine the code in HandsOn_4.R to run a covariate analysis with additive on log-scale covariate implementation</a:t>
            </a:r>
          </a:p>
          <a:p>
            <a:pPr lvl="1"/>
            <a:r>
              <a:rPr lang="en-GB" dirty="0"/>
              <a:t>Binary covariate (sex)</a:t>
            </a:r>
          </a:p>
          <a:p>
            <a:pPr lvl="1"/>
            <a:r>
              <a:rPr lang="en-GB" dirty="0"/>
              <a:t>Continuous covariate (weight)</a:t>
            </a:r>
          </a:p>
          <a:p>
            <a:r>
              <a:rPr lang="en-GB" dirty="0"/>
              <a:t>Modify the allometrically scaled model with fixed exponents to examine what happens when you set them free</a:t>
            </a:r>
          </a:p>
          <a:p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C6208-91BD-4E6C-B660-6AE2A7684EF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6BDDBA-7DBB-4BFD-B3B2-120656CAAE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91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863269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46F8D-B830-4D6C-97F1-47202217A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nlmixr2 output: allometric scaling ODEs using FOCEI</a:t>
            </a:r>
            <a:br>
              <a:rPr lang="en-GB" dirty="0"/>
            </a:br>
            <a:r>
              <a:rPr lang="en-GB" dirty="0"/>
              <a:t>Freely estimated exponents: drop of 5.30 points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156CB4-23EE-4D64-B02F-86863166E4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EECF8C-CF5C-4D08-99DB-6FC0B698B1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92</a:t>
            </a:fld>
            <a:endParaRPr lang="en-GB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B7441C47-34AE-1D01-77C4-7300AC928C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00" y="1120818"/>
            <a:ext cx="8611802" cy="504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61907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B90AC-3E7F-487D-872B-AB35599A2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PKPD analysis with nlmixr2: sequential estimation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99C222-43F7-465D-8FDA-85C0BB48D8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93</a:t>
            </a:fld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71F983-8CB4-44B7-A0E0-168B39E21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GB"/>
              <a:t>First approach: use EBEs from a previous PK model to define PK profiles and estimate PKPD relationship</a:t>
            </a:r>
          </a:p>
          <a:p>
            <a:pPr lvl="1"/>
            <a:r>
              <a:rPr lang="en-GB"/>
              <a:t>Extract EBEs from nlmixr2 object and merge to PKPD data file</a:t>
            </a:r>
          </a:p>
          <a:p>
            <a:pPr lvl="1"/>
            <a:endParaRPr lang="en-GB"/>
          </a:p>
          <a:p>
            <a:pPr lvl="1"/>
            <a:endParaRPr lang="en-GB"/>
          </a:p>
          <a:p>
            <a:pPr lvl="1"/>
            <a:endParaRPr lang="en-GB"/>
          </a:p>
          <a:p>
            <a:pPr marL="457200" lvl="1" indent="0">
              <a:buNone/>
            </a:pP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468FB-0720-4955-9329-DDD6629AB5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74628D-FD7A-4A4B-93FC-392F1DF6D7C9}"/>
              </a:ext>
            </a:extLst>
          </p:cNvPr>
          <p:cNvSpPr/>
          <p:nvPr/>
        </p:nvSpPr>
        <p:spPr>
          <a:xfrm>
            <a:off x="1225689" y="2636912"/>
            <a:ext cx="835292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load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file =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“run007F.Rdata"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Use the one compartment transit model to start the PD analysis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EBEs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as.data.table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(run007F)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EBEs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EBEs[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!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duplicated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(ID), .(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ID =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as.numeric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b="1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as.character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(ID)),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IKTR =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 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ICL =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cl, 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IV =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v)]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PKPDdata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fread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"warfarin_dat.csv"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sz="1200" i="1" dirty="0">
              <a:solidFill>
                <a:srgbClr val="8F5902"/>
              </a:solidFill>
              <a:latin typeface="Consolas" panose="020B0609020204030204" pitchFamily="49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Change variable names to upper case (not strictly necessary)</a:t>
            </a:r>
            <a:b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b="1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setnames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PKPDdata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names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dataF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), </a:t>
            </a:r>
            <a:r>
              <a:rPr lang="en-US" sz="1200" b="1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toupper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names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dataF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)))</a:t>
            </a:r>
          </a:p>
          <a:p>
            <a:endParaRPr lang="en-US" sz="1200" i="1" dirty="0">
              <a:solidFill>
                <a:srgbClr val="8F5902"/>
              </a:solidFill>
              <a:latin typeface="Consolas" panose="020B0609020204030204" pitchFamily="49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Generate MDV data items</a:t>
            </a:r>
            <a:b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PKPDdata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[, MDV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:</a:t>
            </a:r>
            <a:r>
              <a:rPr lang="en-US" sz="1200" b="1" dirty="0">
                <a:solidFill>
                  <a:srgbClr val="A4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=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ifelse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is.na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(DV),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)]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PKPDdata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[, MDV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:</a:t>
            </a:r>
            <a:r>
              <a:rPr lang="en-US" sz="1200" b="1" dirty="0">
                <a:solidFill>
                  <a:srgbClr val="A4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=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ifelse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(AMT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&gt;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 MDV)]</a:t>
            </a:r>
          </a:p>
          <a:p>
            <a:endParaRPr lang="en-US" sz="1200" i="1" dirty="0">
              <a:solidFill>
                <a:srgbClr val="8F5902"/>
              </a:solidFill>
              <a:latin typeface="Consolas" panose="020B0609020204030204" pitchFamily="49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Merge data with PK EBEs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PDdata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merge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PKPDdata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 EBEs, 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by =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"ID"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 </a:t>
            </a:r>
            <a:r>
              <a:rPr lang="en-US" sz="1200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all.x</a:t>
            </a:r>
            <a:r>
              <a:rPr lang="en-US" sz="12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=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TRUE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US" sz="12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remove PK measurements from file so as to not confuse the </a:t>
            </a:r>
            <a:r>
              <a:rPr lang="en-US" sz="1200" i="1" dirty="0" err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vpcPlot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later on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PDdata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[, DEL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:</a:t>
            </a:r>
            <a:r>
              <a:rPr lang="en-US" sz="1200" b="1" dirty="0">
                <a:solidFill>
                  <a:srgbClr val="A4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=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ifelse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(DVID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==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&amp;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AMT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==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, 0)]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Pddata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&lt;-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Pddata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[DEL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==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]</a:t>
            </a:r>
            <a:endParaRPr lang="en-GB" sz="12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260378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B90AC-3E7F-487D-872B-AB35599A2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PKPD analysis with nlmixr2: define turnover model using PK EBEs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99C222-43F7-465D-8FDA-85C0BB48D8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94</a:t>
            </a:fld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71F983-8CB4-44B7-A0E0-168B39E21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en-GB"/>
          </a:p>
          <a:p>
            <a:pPr lvl="1"/>
            <a:endParaRPr lang="en-GB"/>
          </a:p>
          <a:p>
            <a:pPr lvl="1"/>
            <a:endParaRPr lang="en-GB"/>
          </a:p>
          <a:p>
            <a:pPr marL="457200" lvl="1" indent="0">
              <a:buNone/>
            </a:pP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468FB-0720-4955-9329-DDD6629AB5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74628D-FD7A-4A4B-93FC-392F1DF6D7C9}"/>
              </a:ext>
            </a:extLst>
          </p:cNvPr>
          <p:cNvSpPr/>
          <p:nvPr/>
        </p:nvSpPr>
        <p:spPr>
          <a:xfrm>
            <a:off x="1148272" y="1099295"/>
            <a:ext cx="8352928" cy="544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KA1tr1IPP_PDtoemax1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function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() {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b="1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ini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({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tc50 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log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log ec50 (mg/L)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tkout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log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0.05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log </a:t>
            </a:r>
            <a:r>
              <a:rPr lang="en-US" sz="1200" i="1" dirty="0" err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tkout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(/h)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te0  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log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100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log e0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eta.c50 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~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.5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eta.kout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~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.1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eta.e0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~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.1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eps.pdadd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100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})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model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({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c50 =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exp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(tc50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eta.c50)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=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exp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tkout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eta.kout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e0 =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exp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(te0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eta.e0)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PK parameters from input data set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=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IKTR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cl =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ICL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v =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IV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cp =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central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v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PD =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cp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(c50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cp)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effect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=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e0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kin =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e0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kout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d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(depot)   =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depot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d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(central) =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trans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cl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v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central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d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(trans)   =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depot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trans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d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(effect)  =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kin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PD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effect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effect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~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add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eps.pdadd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})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}</a:t>
            </a:r>
            <a:endParaRPr lang="en-GB" sz="12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802042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A0D86-B157-43B9-8D5F-F5ACCCB04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/>
              <a:t>Individual graphs for turnover Emax PD model with PK using EBEs
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DAAE7-384A-4933-8779-5FF3234F10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D3ABEE-15D1-4E26-B8CE-EC8BCC3C41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95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E3F1D6-6503-4D05-9118-F5FE56A372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003300"/>
            <a:ext cx="989330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77915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B90AC-3E7F-487D-872B-AB35599A2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PKPD analysis with nlmixr2: simultaneous estimation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99C222-43F7-465D-8FDA-85C0BB48D8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96</a:t>
            </a:fld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71F983-8CB4-44B7-A0E0-168B39E21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GB"/>
              <a:t>Second approach: estimate PK and PD simultaneously</a:t>
            </a:r>
          </a:p>
          <a:p>
            <a:pPr lvl="1"/>
            <a:r>
              <a:rPr lang="en-GB"/>
              <a:t>The source of observations is identified using a </a:t>
            </a:r>
            <a:r>
              <a:rPr lang="en-GB">
                <a:latin typeface="Courier New" panose="02070309020205020404" pitchFamily="49" charset="0"/>
                <a:cs typeface="Courier New" panose="02070309020205020404" pitchFamily="49" charset="0"/>
              </a:rPr>
              <a:t>dvid</a:t>
            </a:r>
            <a:r>
              <a:rPr lang="en-GB"/>
              <a:t> data item</a:t>
            </a:r>
          </a:p>
          <a:p>
            <a:pPr lvl="1"/>
            <a:r>
              <a:rPr lang="en-GB">
                <a:latin typeface="Courier New" panose="02070309020205020404" pitchFamily="49" charset="0"/>
                <a:cs typeface="Courier New" panose="02070309020205020404" pitchFamily="49" charset="0"/>
              </a:rPr>
              <a:t>dvid</a:t>
            </a:r>
            <a:r>
              <a:rPr lang="en-GB"/>
              <a:t> is coded as </a:t>
            </a:r>
            <a:r>
              <a:rPr lang="en-GB">
                <a:latin typeface="Courier New" panose="02070309020205020404" pitchFamily="49" charset="0"/>
                <a:cs typeface="Courier New" panose="02070309020205020404" pitchFamily="49" charset="0"/>
              </a:rPr>
              <a:t>central</a:t>
            </a:r>
            <a:r>
              <a:rPr lang="en-GB"/>
              <a:t> and </a:t>
            </a:r>
            <a:r>
              <a:rPr lang="en-GB">
                <a:latin typeface="Courier New" panose="02070309020205020404" pitchFamily="49" charset="0"/>
                <a:cs typeface="Courier New" panose="02070309020205020404" pitchFamily="49" charset="0"/>
              </a:rPr>
              <a:t>effect</a:t>
            </a:r>
            <a:r>
              <a:rPr lang="en-GB"/>
              <a:t> in the data object to identify the two types of observation as presented in the model code</a:t>
            </a:r>
          </a:p>
          <a:p>
            <a:pPr lvl="1"/>
            <a:r>
              <a:rPr lang="en-GB">
                <a:latin typeface="Courier New" panose="02070309020205020404" pitchFamily="49" charset="0"/>
                <a:cs typeface="Courier New" panose="02070309020205020404" pitchFamily="49" charset="0"/>
              </a:rPr>
              <a:t>dvid</a:t>
            </a:r>
            <a:r>
              <a:rPr lang="en-GB"/>
              <a:t> can also coded as </a:t>
            </a:r>
            <a:r>
              <a:rPr lang="en-GB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GB"/>
              <a:t> and </a:t>
            </a:r>
            <a:r>
              <a:rPr lang="en-GB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GB"/>
              <a:t> in the data object to identify the two types of observation as presented in the model code</a:t>
            </a:r>
          </a:p>
          <a:p>
            <a:pPr lvl="1"/>
            <a:endParaRPr lang="en-GB"/>
          </a:p>
          <a:p>
            <a:pPr lvl="1"/>
            <a:endParaRPr lang="en-GB"/>
          </a:p>
          <a:p>
            <a:pPr marL="457200" lvl="1" indent="0">
              <a:buNone/>
            </a:pP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468FB-0720-4955-9329-DDD6629AB5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</p:spTree>
    <p:extLst>
      <p:ext uri="{BB962C8B-B14F-4D97-AF65-F5344CB8AC3E}">
        <p14:creationId xmlns:p14="http://schemas.microsoft.com/office/powerpoint/2010/main" val="375733132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B90AC-3E7F-487D-872B-AB35599A2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Immediate effect simultaneous PKPD analysis with nlmixr2: </a:t>
            </a:r>
            <a:r>
              <a:rPr lang="en-US" sz="2400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ini</a:t>
            </a:r>
            <a:r>
              <a:rPr lang="en-GB" sz="2400" dirty="0"/>
              <a:t> block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99C222-43F7-465D-8FDA-85C0BB48D8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97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468FB-0720-4955-9329-DDD6629AB5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74628D-FD7A-4A4B-93FC-392F1DF6D7C9}"/>
              </a:ext>
            </a:extLst>
          </p:cNvPr>
          <p:cNvSpPr/>
          <p:nvPr/>
        </p:nvSpPr>
        <p:spPr>
          <a:xfrm>
            <a:off x="1151450" y="980728"/>
            <a:ext cx="8352928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Immediate effect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KA1tr1_PDimmemax1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function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() {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b="1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ini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({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PK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tktr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log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log </a:t>
            </a:r>
            <a:r>
              <a:rPr lang="en-US" sz="1200" i="1" dirty="0" err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(/h)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tcl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log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log CL (L/h)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tv  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log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8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log </a:t>
            </a:r>
            <a:r>
              <a:rPr lang="en-US" sz="1200" i="1" dirty="0" err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Vc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(L)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eta.ktr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~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eta.cl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~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0.1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eta.v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~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0.1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eps.pkprop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0.1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proportional error (SD/mean)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eps.pkadd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0.4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additive error (mg/L)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US" sz="12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PD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tc50 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log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#log ec50 (mg/L)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te0  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log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100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#log e0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eta.c50 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~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.5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eta.e0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~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.1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eps.pdadd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100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})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model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({</a:t>
            </a:r>
          </a:p>
          <a:p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})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}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GB" sz="12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488479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B90AC-3E7F-487D-872B-AB35599A2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Immediate effect simultaneous PKPD analysis with nlmixr2: </a:t>
            </a:r>
            <a:r>
              <a:rPr lang="en-US" sz="24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model</a:t>
            </a:r>
            <a:r>
              <a:rPr lang="en-GB" sz="2400" dirty="0"/>
              <a:t> block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99C222-43F7-465D-8FDA-85C0BB48D8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98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468FB-0720-4955-9329-DDD6629AB5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74628D-FD7A-4A4B-93FC-392F1DF6D7C9}"/>
              </a:ext>
            </a:extLst>
          </p:cNvPr>
          <p:cNvSpPr/>
          <p:nvPr/>
        </p:nvSpPr>
        <p:spPr>
          <a:xfrm>
            <a:off x="1151450" y="980728"/>
            <a:ext cx="835292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i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#Immediate effect</a:t>
            </a:r>
            <a:br>
              <a:rPr lang="en-US" sz="1200">
                <a:solidFill>
                  <a:srgbClr val="3B3B3B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b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model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({</a:t>
            </a:r>
            <a:br>
              <a:rPr lang="en-US" sz="1200">
                <a:solidFill>
                  <a:srgbClr val="3B3B3B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ktr &lt;-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exp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(tktr </a:t>
            </a:r>
            <a:r>
              <a:rPr lang="en-US" sz="1200" b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eta.ktr)</a:t>
            </a:r>
            <a:br>
              <a:rPr lang="en-US" sz="1200">
                <a:solidFill>
                  <a:srgbClr val="3B3B3B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cl  &lt;-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exp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(tcl </a:t>
            </a:r>
            <a:r>
              <a:rPr lang="en-US" sz="1200" b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eta.cl)</a:t>
            </a:r>
            <a:br>
              <a:rPr lang="en-US" sz="1200">
                <a:solidFill>
                  <a:srgbClr val="3B3B3B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v   &lt;-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exp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(tv </a:t>
            </a:r>
            <a:r>
              <a:rPr lang="en-US" sz="1200" b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eta.v)</a:t>
            </a:r>
            <a:br>
              <a:rPr lang="en-US" sz="1200">
                <a:solidFill>
                  <a:srgbClr val="3B3B3B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br>
              <a:rPr lang="en-US" sz="1200">
                <a:solidFill>
                  <a:srgbClr val="3B3B3B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c50  =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exp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(tc50 </a:t>
            </a:r>
            <a:r>
              <a:rPr lang="en-US" sz="1200" b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eta.c50)</a:t>
            </a:r>
            <a:br>
              <a:rPr lang="en-US" sz="1200">
                <a:solidFill>
                  <a:srgbClr val="3B3B3B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e0   =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exp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(te0 </a:t>
            </a:r>
            <a:r>
              <a:rPr lang="en-US" sz="1200" b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eta.e0)</a:t>
            </a:r>
            <a:br>
              <a:rPr lang="en-US" sz="1200">
                <a:solidFill>
                  <a:srgbClr val="3B3B3B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br>
              <a:rPr lang="en-US" sz="1200">
                <a:solidFill>
                  <a:srgbClr val="3B3B3B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cp           =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central</a:t>
            </a:r>
            <a:r>
              <a:rPr lang="en-US" sz="1200" b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v</a:t>
            </a:r>
            <a:br>
              <a:rPr lang="en-US" sz="1200">
                <a:solidFill>
                  <a:srgbClr val="3B3B3B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d</a:t>
            </a:r>
            <a:r>
              <a:rPr lang="en-US" sz="1200" b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200" b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dt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(depot)  =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 </a:t>
            </a:r>
            <a:r>
              <a:rPr lang="en-US" sz="1200" b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depot</a:t>
            </a:r>
            <a:br>
              <a:rPr lang="en-US" sz="1200">
                <a:solidFill>
                  <a:srgbClr val="3B3B3B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d</a:t>
            </a:r>
            <a:r>
              <a:rPr lang="en-US" sz="1200" b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200" b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dt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(central)=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 </a:t>
            </a:r>
            <a:r>
              <a:rPr lang="en-US" sz="1200" b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trans </a:t>
            </a:r>
            <a:r>
              <a:rPr lang="en-US" sz="1200" b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cl </a:t>
            </a:r>
            <a:r>
              <a:rPr lang="en-US" sz="1200" b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cp</a:t>
            </a:r>
            <a:br>
              <a:rPr lang="en-US" sz="1200">
                <a:solidFill>
                  <a:srgbClr val="3B3B3B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d</a:t>
            </a:r>
            <a:r>
              <a:rPr lang="en-US" sz="1200" b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200" b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dt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(trans)  =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 </a:t>
            </a:r>
            <a:r>
              <a:rPr lang="en-US" sz="1200" b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depot </a:t>
            </a:r>
            <a:r>
              <a:rPr lang="en-US" sz="1200" b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 </a:t>
            </a:r>
            <a:r>
              <a:rPr lang="en-US" sz="1200" b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trans</a:t>
            </a:r>
            <a:br>
              <a:rPr lang="en-US" sz="1200">
                <a:solidFill>
                  <a:srgbClr val="3B3B3B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effect       =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e0 </a:t>
            </a:r>
            <a:r>
              <a:rPr lang="en-US" sz="1200" b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cp</a:t>
            </a:r>
            <a:r>
              <a:rPr lang="en-US" sz="1200" b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(c50 </a:t>
            </a:r>
            <a:r>
              <a:rPr lang="en-US" sz="1200" b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cp))</a:t>
            </a:r>
            <a:br>
              <a:rPr lang="en-US" sz="1200">
                <a:solidFill>
                  <a:srgbClr val="3B3B3B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br>
              <a:rPr lang="en-US" sz="1200">
                <a:solidFill>
                  <a:srgbClr val="3B3B3B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cp </a:t>
            </a:r>
            <a:r>
              <a:rPr lang="en-US" sz="1200" b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~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prop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(eps.pkprop) </a:t>
            </a:r>
            <a:r>
              <a:rPr lang="en-US" sz="1200" b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add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(eps.pkadd) </a:t>
            </a:r>
            <a:r>
              <a:rPr lang="en-US" sz="1200" b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|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central</a:t>
            </a:r>
            <a:br>
              <a:rPr lang="en-US" sz="1200">
                <a:solidFill>
                  <a:srgbClr val="3B3B3B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effect </a:t>
            </a:r>
            <a:r>
              <a:rPr lang="en-US" sz="1200" b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~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add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(eps.pdadd) </a:t>
            </a:r>
            <a:r>
              <a:rPr lang="en-US" sz="1200" b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|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effect</a:t>
            </a:r>
            <a:br>
              <a:rPr lang="en-US" sz="1200">
                <a:solidFill>
                  <a:srgbClr val="3B3B3B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})</a:t>
            </a:r>
            <a:br>
              <a:rPr lang="en-US" sz="1200">
                <a:solidFill>
                  <a:srgbClr val="3B3B3B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}</a:t>
            </a:r>
            <a:br>
              <a:rPr lang="en-US" sz="1200">
                <a:solidFill>
                  <a:srgbClr val="3B3B3B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GB" sz="120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798647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B90AC-3E7F-487D-872B-AB35599A2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Simultaneous PKPD analysis with nlmixr2: examine defined model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99C222-43F7-465D-8FDA-85C0BB48D8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99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468FB-0720-4955-9329-DDD6629AB5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74628D-FD7A-4A4B-93FC-392F1DF6D7C9}"/>
              </a:ext>
            </a:extLst>
          </p:cNvPr>
          <p:cNvSpPr/>
          <p:nvPr/>
        </p:nvSpPr>
        <p:spPr>
          <a:xfrm>
            <a:off x="1151450" y="980728"/>
            <a:ext cx="835292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nlmixr2</a:t>
            </a:r>
            <a:r>
              <a:rPr lang="en-US" sz="14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(KA1tr1_PDimmemax1) </a:t>
            </a:r>
            <a:r>
              <a:rPr lang="en-US" sz="1400" i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Show initial estimates and model information:</a:t>
            </a:r>
            <a:endParaRPr lang="en-GB" sz="140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4A8582E8-FB53-E190-3760-22A6E4C84D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006" y="1278746"/>
            <a:ext cx="10440857" cy="5258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8059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46F8D-B830-4D6C-97F1-47202217A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nlmixr2 output: immediate effect simultaneous PKPD model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156CB4-23EE-4D64-B02F-86863166E4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EECF8C-CF5C-4D08-99DB-6FC0B698B1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100</a:t>
            </a:fld>
            <a:endParaRPr lang="en-GB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272FE643-6519-2509-724B-E0BA9F787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92" y="836712"/>
            <a:ext cx="11326806" cy="502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94613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00FCF-B657-4A33-B1BB-DE3CD6A4B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/>
              <a:t>VPC for immediate effect simultaneous PKPD model
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8638D7-C626-40A6-B9C4-CC25B7DF81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456BC0-3DCD-42E5-8381-C1FC6D75B1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101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3AB53C-6EA4-AEB7-D55E-697433555C4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0" y="1003300"/>
            <a:ext cx="8636000" cy="539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910990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B90AC-3E7F-487D-872B-AB35599A2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Effect compartment simultaneous PKPD analysis with nlmixr2: </a:t>
            </a:r>
            <a:r>
              <a:rPr lang="en-US" sz="2400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ini</a:t>
            </a:r>
            <a:r>
              <a:rPr lang="en-GB" sz="2400" dirty="0"/>
              <a:t> block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99C222-43F7-465D-8FDA-85C0BB48D8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102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468FB-0720-4955-9329-DDD6629AB5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74628D-FD7A-4A4B-93FC-392F1DF6D7C9}"/>
              </a:ext>
            </a:extLst>
          </p:cNvPr>
          <p:cNvSpPr/>
          <p:nvPr/>
        </p:nvSpPr>
        <p:spPr>
          <a:xfrm>
            <a:off x="1151450" y="980728"/>
            <a:ext cx="8352928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i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#Effect compartment model</a:t>
            </a: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KA1tr1_PDceemax &lt;-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function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() {</a:t>
            </a: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b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ini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({</a:t>
            </a: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i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PK</a:t>
            </a: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tktr &lt;-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log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  </a:t>
            </a:r>
            <a:r>
              <a:rPr lang="en-US" sz="1200" i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log ktr (/h)</a:t>
            </a: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tcl  &lt;-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log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0.1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</a:t>
            </a:r>
            <a:r>
              <a:rPr lang="en-US" sz="1200" i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log CL (L/h)</a:t>
            </a: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tv   &lt;-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log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8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  </a:t>
            </a:r>
            <a:r>
              <a:rPr lang="en-US" sz="1200" i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log Vc (L)</a:t>
            </a: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eta.ktr </a:t>
            </a:r>
            <a:r>
              <a:rPr lang="en-US" sz="1200" b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~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</a:t>
            </a: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eta.cl </a:t>
            </a:r>
            <a:r>
              <a:rPr lang="en-US" sz="1200" b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~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0.1</a:t>
            </a: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eta.v </a:t>
            </a:r>
            <a:r>
              <a:rPr lang="en-US" sz="1200" b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~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0.1</a:t>
            </a: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eps.pkprop &lt;-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0.1 </a:t>
            </a:r>
            <a:r>
              <a:rPr lang="en-US" sz="1200" i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#proportional error (SD/mean)</a:t>
            </a: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eps.pkadd &lt;-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0.4  </a:t>
            </a:r>
            <a:r>
              <a:rPr lang="en-US" sz="1200" i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#additive error (mg/L)</a:t>
            </a: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i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PD</a:t>
            </a: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tc50  &lt;-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log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   </a:t>
            </a:r>
            <a:r>
              <a:rPr lang="en-US" sz="1200" i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#log ec50 (mg/L)</a:t>
            </a: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tkout &lt;-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log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0.05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</a:t>
            </a:r>
            <a:r>
              <a:rPr lang="en-US" sz="1200" i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#log tkout (/h)</a:t>
            </a: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te0   &lt;-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log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100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 </a:t>
            </a:r>
            <a:r>
              <a:rPr lang="en-US" sz="1200" i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#log e0</a:t>
            </a: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eta.c50  </a:t>
            </a:r>
            <a:r>
              <a:rPr lang="en-US" sz="1200" b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~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.5</a:t>
            </a: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eta.kout </a:t>
            </a:r>
            <a:r>
              <a:rPr lang="en-US" sz="1200" b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~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.1</a:t>
            </a: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eta.e0 </a:t>
            </a:r>
            <a:r>
              <a:rPr lang="en-US" sz="1200" b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~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.1</a:t>
            </a: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eps.pdadd &lt;-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100</a:t>
            </a: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})</a:t>
            </a: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b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model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({</a:t>
            </a:r>
          </a:p>
          <a:p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})</a:t>
            </a: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}</a:t>
            </a: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GB" sz="120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265836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B90AC-3E7F-487D-872B-AB35599A2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2" y="113386"/>
            <a:ext cx="11017224" cy="985909"/>
          </a:xfrm>
        </p:spPr>
        <p:txBody>
          <a:bodyPr>
            <a:normAutofit/>
          </a:bodyPr>
          <a:lstStyle/>
          <a:p>
            <a:r>
              <a:rPr lang="en-GB" sz="2400" dirty="0"/>
              <a:t>Effect compartment simultaneous PKPD analysis with nlmixr2: </a:t>
            </a:r>
            <a:r>
              <a:rPr lang="en-US" sz="24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model</a:t>
            </a:r>
            <a:r>
              <a:rPr lang="en-GB" sz="2400" dirty="0"/>
              <a:t> block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99C222-43F7-465D-8FDA-85C0BB48D8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103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468FB-0720-4955-9329-DDD6629AB5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74628D-FD7A-4A4B-93FC-392F1DF6D7C9}"/>
              </a:ext>
            </a:extLst>
          </p:cNvPr>
          <p:cNvSpPr/>
          <p:nvPr/>
        </p:nvSpPr>
        <p:spPr>
          <a:xfrm>
            <a:off x="1151450" y="980728"/>
            <a:ext cx="835292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i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#Effect compartment model</a:t>
            </a:r>
            <a:br>
              <a:rPr lang="en-US" sz="1200">
                <a:solidFill>
                  <a:srgbClr val="3B3B3B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model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({</a:t>
            </a: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ktr &lt;-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exp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(tktr </a:t>
            </a:r>
            <a:r>
              <a:rPr lang="en-US" sz="1200" b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eta.ktr)</a:t>
            </a: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cl  &lt;-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exp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(tcl </a:t>
            </a:r>
            <a:r>
              <a:rPr lang="en-US" sz="1200" b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eta.cl)</a:t>
            </a: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v   &lt;-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exp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(tv </a:t>
            </a:r>
            <a:r>
              <a:rPr lang="en-US" sz="1200" b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eta.v)</a:t>
            </a: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c50  =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exp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(tc50 </a:t>
            </a:r>
            <a:r>
              <a:rPr lang="en-US" sz="1200" b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eta.c50)</a:t>
            </a: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kout =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exp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(tkout </a:t>
            </a:r>
            <a:r>
              <a:rPr lang="en-US" sz="1200" b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eta.kout)</a:t>
            </a: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e0   =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exp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(te0 </a:t>
            </a:r>
            <a:r>
              <a:rPr lang="en-US" sz="1200" b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eta.e0)</a:t>
            </a: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emax =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</a:t>
            </a: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cp           =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central</a:t>
            </a:r>
            <a:r>
              <a:rPr lang="en-US" sz="1200" b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v</a:t>
            </a: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d</a:t>
            </a:r>
            <a:r>
              <a:rPr lang="en-US" sz="1200" b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200" b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dt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(depot)  =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 </a:t>
            </a:r>
            <a:r>
              <a:rPr lang="en-US" sz="1200" b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depot</a:t>
            </a: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d</a:t>
            </a:r>
            <a:r>
              <a:rPr lang="en-US" sz="1200" b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200" b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dt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(central)=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 </a:t>
            </a:r>
            <a:r>
              <a:rPr lang="en-US" sz="1200" b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trans </a:t>
            </a:r>
            <a:r>
              <a:rPr lang="en-US" sz="1200" b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cl </a:t>
            </a:r>
            <a:r>
              <a:rPr lang="en-US" sz="1200" b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cp</a:t>
            </a: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d</a:t>
            </a:r>
            <a:r>
              <a:rPr lang="en-US" sz="1200" b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200" b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dt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(trans)  =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 </a:t>
            </a:r>
            <a:r>
              <a:rPr lang="en-US" sz="1200" b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depot </a:t>
            </a:r>
            <a:r>
              <a:rPr lang="en-US" sz="1200" b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 </a:t>
            </a:r>
            <a:r>
              <a:rPr lang="en-US" sz="1200" b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trans</a:t>
            </a: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d</a:t>
            </a:r>
            <a:r>
              <a:rPr lang="en-US" sz="1200" b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200" b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dt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(ce)     =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kout </a:t>
            </a:r>
            <a:r>
              <a:rPr lang="en-US" sz="1200" b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(cp </a:t>
            </a:r>
            <a:r>
              <a:rPr lang="en-US" sz="1200" b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ce)</a:t>
            </a: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effect       =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e0 </a:t>
            </a:r>
            <a:r>
              <a:rPr lang="en-US" sz="1200" b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emax </a:t>
            </a:r>
            <a:r>
              <a:rPr lang="en-US" sz="1200" b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ce</a:t>
            </a:r>
            <a:r>
              <a:rPr lang="en-US" sz="1200" b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(c50 </a:t>
            </a:r>
            <a:r>
              <a:rPr lang="en-US" sz="1200" b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ce))</a:t>
            </a: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cp </a:t>
            </a:r>
            <a:r>
              <a:rPr lang="en-US" sz="1200" b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~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prop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(eps.pkprop) </a:t>
            </a:r>
            <a:r>
              <a:rPr lang="en-US" sz="1200" b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add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(eps.pkadd) </a:t>
            </a:r>
            <a:r>
              <a:rPr lang="en-US" sz="1200" b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|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central</a:t>
            </a: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effect </a:t>
            </a:r>
            <a:r>
              <a:rPr lang="en-US" sz="1200" b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~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add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(eps.pdadd) </a:t>
            </a:r>
            <a:r>
              <a:rPr lang="en-US" sz="1200" b="1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|</a:t>
            </a:r>
            <a:r>
              <a:rPr lang="en-US" sz="120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effect</a:t>
            </a: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})</a:t>
            </a: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}</a:t>
            </a:r>
            <a:br>
              <a:rPr lang="en-US" sz="120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GB" sz="120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360025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46F8D-B830-4D6C-97F1-47202217A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nlmixr2 output: effect compartment simultaneous PKPD model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156CB4-23EE-4D64-B02F-86863166E4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EECF8C-CF5C-4D08-99DB-6FC0B698B1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104</a:t>
            </a:fld>
            <a:endParaRPr lang="en-GB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4CC8A94E-79EF-7A69-A956-66F0E683AE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770"/>
          <a:stretch>
            <a:fillRect/>
          </a:stretch>
        </p:blipFill>
        <p:spPr>
          <a:xfrm>
            <a:off x="695400" y="764704"/>
            <a:ext cx="10513168" cy="497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855144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C5BC9-7BE5-4B7A-A7C1-63B850659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/>
              <a:t>VPC for effect compartment simultaneous PKPD model 
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18B2E4-5539-4FBA-B142-6CD222E657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57BAA9-FC50-4E41-B8C3-187290D5043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105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53C04F-1231-D42C-DC98-9390F08C8A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0" y="1003300"/>
            <a:ext cx="8636000" cy="539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214399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B90AC-3E7F-487D-872B-AB35599A2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Turnover model simultaneous PKPD analysis with nlmixr2: </a:t>
            </a:r>
            <a:r>
              <a:rPr lang="en-US" sz="2400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ini</a:t>
            </a:r>
            <a:r>
              <a:rPr lang="en-GB" sz="2400" dirty="0"/>
              <a:t> block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99C222-43F7-465D-8FDA-85C0BB48D8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106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468FB-0720-4955-9329-DDD6629AB5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74628D-FD7A-4A4B-93FC-392F1DF6D7C9}"/>
              </a:ext>
            </a:extLst>
          </p:cNvPr>
          <p:cNvSpPr/>
          <p:nvPr/>
        </p:nvSpPr>
        <p:spPr>
          <a:xfrm>
            <a:off x="1151450" y="980728"/>
            <a:ext cx="8352928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Turnover simultaneous PKPD model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KA1tr1IPP_PDtoemax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function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() {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b="1" dirty="0" err="1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ini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({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PK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tktr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log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log </a:t>
            </a:r>
            <a:r>
              <a:rPr lang="en-US" sz="1200" i="1" dirty="0" err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(/h)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tcl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log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log CL (L/h)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tv  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log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8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log </a:t>
            </a:r>
            <a:r>
              <a:rPr lang="en-US" sz="1200" i="1" dirty="0" err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Vc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(L)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eta.ktr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~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eta.cl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~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0.1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eta.v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~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0.1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eps.pkprop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0.1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proportional error (SD/mean)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eps.pkadd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0.4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additive error (mg/L)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## PD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tc50 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log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 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#log ec50 (mg/L)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tkout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log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0.05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#log </a:t>
            </a:r>
            <a:r>
              <a:rPr lang="en-US" sz="1200" i="1" dirty="0" err="1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tkout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(/h)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te0  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log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100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 </a:t>
            </a:r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#log e0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eta.c50 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~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.5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eta.kout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~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.1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eta.e0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~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.1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eps.pdadd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100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})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model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({</a:t>
            </a:r>
          </a:p>
          <a:p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})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}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GB" sz="12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084359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B90AC-3E7F-487D-872B-AB35599A2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Turnover model simultaneous PKPD analysis with nlmixr2: </a:t>
            </a:r>
            <a:r>
              <a:rPr lang="en-US" sz="2400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model</a:t>
            </a:r>
            <a:r>
              <a:rPr lang="en-GB" sz="2400" dirty="0"/>
              <a:t> block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99C222-43F7-465D-8FDA-85C0BB48D8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107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468FB-0720-4955-9329-DDD6629AB5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74628D-FD7A-4A4B-93FC-392F1DF6D7C9}"/>
              </a:ext>
            </a:extLst>
          </p:cNvPr>
          <p:cNvSpPr/>
          <p:nvPr/>
        </p:nvSpPr>
        <p:spPr>
          <a:xfrm>
            <a:off x="1151450" y="980728"/>
            <a:ext cx="835292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rgbClr val="8F5902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# Turnover simultaneous PKPD model</a:t>
            </a:r>
            <a:br>
              <a:rPr lang="en-US" sz="1200" dirty="0">
                <a:solidFill>
                  <a:srgbClr val="3B3B3B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model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({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exp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tktr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eta.ktr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cl 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exp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tcl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eta.cl)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v   &lt;-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exp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(tv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eta.v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c50  =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exp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(tc50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eta.c50)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=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exp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tkout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eta.kout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e0   =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exp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(te0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eta.e0)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emax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=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cp           =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central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v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d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(depot)  =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depot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d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(central)=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trans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cl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cp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d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(trans)  =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depot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ktr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trans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effect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   =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e0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kin          =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e0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kout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PD           =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>
                <a:solidFill>
                  <a:srgbClr val="0000CF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emax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cp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(c50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cp)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d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dt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(effect) =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kin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PD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kout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*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effect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cp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~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prop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eps.pkprop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add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eps.pkadd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|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central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effect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~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204A87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add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eps.pdadd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) </a:t>
            </a:r>
            <a:r>
              <a:rPr lang="en-US" sz="1200" b="1" dirty="0">
                <a:solidFill>
                  <a:srgbClr val="CE5C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|</a:t>
            </a:r>
            <a:r>
              <a:rPr lang="en-US" sz="1200" dirty="0">
                <a:solidFill>
                  <a:srgbClr val="4E9A0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effect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})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}</a:t>
            </a:r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GB" sz="12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9072484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46F8D-B830-4D6C-97F1-47202217A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nlmixr2 output: turnover simultaneous PKPD model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156CB4-23EE-4D64-B02F-86863166E4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EECF8C-CF5C-4D08-99DB-6FC0B698B1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108</a:t>
            </a:fld>
            <a:endParaRPr lang="en-GB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1C392C9A-42D7-85B8-0CDA-B51995867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92" y="842601"/>
            <a:ext cx="8135485" cy="5172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82141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9BDEC-62AE-48E5-A424-14742F95D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/>
              <a:t>VPC for turnover simultaneous PKPD model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6C3A46-2007-4A2F-B203-8880A789ABB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5684DC-7D65-4C2D-A543-74E63666C06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109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4F6355-FB5E-274A-6048-A8336B78CFC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0" y="1003300"/>
            <a:ext cx="8636000" cy="539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791227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00625-FBF6-4EBD-8004-ACE57CA27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2000"/>
              <a:t>VPCs to compare the immediate effect model, the effect compartment model, and the turnover simultaneous PKPD model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C3AF71-E261-4246-8780-E8E1985AD5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>
                <a:solidFill>
                  <a:srgbClr val="B40000"/>
                </a:solidFill>
              </a:rPr>
              <a:t> </a:t>
            </a:r>
            <a:r>
              <a:rPr lang="en-GB"/>
              <a:t>development team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5E05C5-FC99-4A17-BE20-6B85088EBC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110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BCE713-57C7-8246-8C9C-891F1FCE7E6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800" y="1472425"/>
            <a:ext cx="11724399" cy="391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770344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FCACC-21A9-4B8E-9569-CFC6A4D3F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Code example V: running </a:t>
            </a:r>
            <a:r>
              <a:rPr lang="en-GB" dirty="0"/>
              <a:t>nlmixr2</a:t>
            </a:r>
            <a:r>
              <a:rPr lang="en-US" dirty="0"/>
              <a:t> PKPD analysis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B50F19-0241-47E0-BB7D-DA141CDB76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Examine the code in HandsOn_5.R to run the sequential or one of the simultaneous PKPD analyses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C6208-91BD-4E6C-B660-6AE2A7684EF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 baseline="30000">
                <a:solidFill>
                  <a:srgbClr val="B40000"/>
                </a:solidFill>
              </a:rPr>
              <a:t>2</a:t>
            </a:r>
            <a:r>
              <a:rPr lang="en-GB"/>
              <a:t> development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6BDDBA-7DBB-4BFD-B3B2-120656CAAE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3EA325-E17C-4431-8C79-1AEA4A396602}" type="slidenum">
              <a:rPr lang="en-GB" smtClean="0"/>
              <a:pPr/>
              <a:t>111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152569"/>
      </p:ext>
    </p:extLst>
  </p:cSld>
  <p:clrMapOvr>
    <a:masterClrMapping/>
  </p:clrMapOvr>
</p:sld>
</file>

<file path=ppt/theme/theme1.xml><?xml version="1.0" encoding="utf-8"?>
<a:theme xmlns:a="http://schemas.openxmlformats.org/drawingml/2006/main" name="OccamsPresentation">
  <a:themeElements>
    <a:clrScheme name="Custom 3">
      <a:dk1>
        <a:srgbClr val="3B3B3B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902C10"/>
      </a:accent2>
      <a:accent3>
        <a:srgbClr val="9BBB59"/>
      </a:accent3>
      <a:accent4>
        <a:srgbClr val="8064A2"/>
      </a:accent4>
      <a:accent5>
        <a:srgbClr val="4BACC6"/>
      </a:accent5>
      <a:accent6>
        <a:srgbClr val="E08836"/>
      </a:accent6>
      <a:hlink>
        <a:srgbClr val="902C10"/>
      </a:hlink>
      <a:folHlink>
        <a:srgbClr val="902C10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672098E-E704-41C2-B233-A5DE79514A81}" vid="{05D70944-1DEC-4194-BA18-DA1D17F1F2A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940</TotalTime>
  <Words>11559</Words>
  <Application>Microsoft Office PowerPoint</Application>
  <PresentationFormat>Breedbeeld</PresentationFormat>
  <Paragraphs>834</Paragraphs>
  <Slides>111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8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111</vt:i4>
      </vt:variant>
    </vt:vector>
  </HeadingPairs>
  <TitlesOfParts>
    <vt:vector size="120" baseType="lpstr">
      <vt:lpstr>Arial</vt:lpstr>
      <vt:lpstr>Calibri</vt:lpstr>
      <vt:lpstr>Cambria</vt:lpstr>
      <vt:lpstr>Cambria Math</vt:lpstr>
      <vt:lpstr>Century Gothic</vt:lpstr>
      <vt:lpstr>Consolas</vt:lpstr>
      <vt:lpstr>Courier New</vt:lpstr>
      <vt:lpstr>Wingdings</vt:lpstr>
      <vt:lpstr>OccamsPresentation</vt:lpstr>
      <vt:lpstr>Simulation and parameter estimation with rxode2 and nlmixr2</vt:lpstr>
      <vt:lpstr>Course outline: Part 1</vt:lpstr>
      <vt:lpstr>Setting the stage: some background, and rxode2</vt:lpstr>
      <vt:lpstr>                  evolution</vt:lpstr>
      <vt:lpstr>The                                    team</vt:lpstr>
      <vt:lpstr>Governance and the advisory board</vt:lpstr>
      <vt:lpstr>rxode2 simulation software in R</vt:lpstr>
      <vt:lpstr>Basic example: load the library and define the model</vt:lpstr>
      <vt:lpstr>Compile the model and set the parameter values</vt:lpstr>
      <vt:lpstr>Create an event table that defines the doses and the sampling times</vt:lpstr>
      <vt:lpstr>Then solve the equations and plot the results!</vt:lpstr>
      <vt:lpstr>Single bolus dose in the first (depot) compartment</vt:lpstr>
      <vt:lpstr>Adding extra doses (expand the existing eventTable):  three additional infusions in the central compartment</vt:lpstr>
      <vt:lpstr>Multiple doses in different compartments: only the first dose goes into the depot (first) compartment</vt:lpstr>
      <vt:lpstr>Extend the model: add a transit compartment…</vt:lpstr>
      <vt:lpstr>...adding a transit compartment between depot and central</vt:lpstr>
      <vt:lpstr>Or with five transit compartments and only bolus doses in the depot…</vt:lpstr>
      <vt:lpstr>...adding 5 transit compartments between depot and central  and giving 4 bolus doses in the 1st  (depot) compartment</vt:lpstr>
      <vt:lpstr>Alternatively: use NONMEM-style dataset as input</vt:lpstr>
      <vt:lpstr>Hands-on session I: rxode2 simulations</vt:lpstr>
      <vt:lpstr>Assess the data before you start analysis</vt:lpstr>
      <vt:lpstr>Our warfarin data file: a simple spaghetti plot to provide an overall impression</vt:lpstr>
      <vt:lpstr>Change the x-axis from hours to days and add a proper label using the xgx helper xgx_scale_x_time_units(units_dataset = "hours", units_plot = "days")
</vt:lpstr>
      <vt:lpstr>The data set has two types of profiles…
</vt:lpstr>
      <vt:lpstr>...but you can also group by rich day 1 and sparse later days...
</vt:lpstr>
      <vt:lpstr>Switch to semi-log scale using xgx helper xgx_scale_y_log10()
Any clues to what model we should use?</vt:lpstr>
      <vt:lpstr>xgx can also add nice summary information if data has nominal times:  summaries of mean plus 95% CI
xgx_geom_ci(aes(x = TIME, color = NULL, group = NULL, shape = NULL), conf_level = 0.95)</vt:lpstr>
      <vt:lpstr>On the linear scale this would result in a CI crossing zero, because CIs are assumedto be symmetrical
</vt:lpstr>
      <vt:lpstr>...so perhaps a median and 95% of the data would be more suitable
xgx_geom_pi(aes(x = TIME, color = NULL, group = NULL, shape = NULL)</vt:lpstr>
      <vt:lpstr>There appears to be a delay in absorption…</vt:lpstr>
      <vt:lpstr>You need to know how to simulate before you can estimate</vt:lpstr>
      <vt:lpstr>nlmixr2 is a family of open-source R packages</vt:lpstr>
      <vt:lpstr>nlmixr2 is the core of a thriving ecosystem</vt:lpstr>
      <vt:lpstr>nlmixr2 has some new features!</vt:lpstr>
      <vt:lpstr>Advanced functionality in testing!</vt:lpstr>
      <vt:lpstr>Performance: do I get the same results when I switch from my usual estimation tool to nlmixr2?</vt:lpstr>
      <vt:lpstr>500 sparse data sets are analysed using both NONMEM/FOCEi and nlmixr/FOCEi. Each marker is a single paired data set result for clearance for NONMEM on the x-axis and nlmixr/FOCEi on the y-axis: results are highly correlated (r=1.00), and lie on the line of identity (diagonal black line)</vt:lpstr>
      <vt:lpstr>Central volume (Vc): Top panel: FOCEi estimates, bottom panel: SAEM estimates
Dark lines: NONMEM/MONOLIX, light lines: nlmixr</vt:lpstr>
      <vt:lpstr>SE of theta estimates for Vc: very good match across software packages  Top panel: FOCEi estimates, bottom panel: SAEM estimates
Dark lines: NONMEM/MONOLIX, light lines: nlmixr</vt:lpstr>
      <vt:lpstr>Models in nlmixr2</vt:lpstr>
      <vt:lpstr>Defining nlmixr2 models</vt:lpstr>
      <vt:lpstr>Defining nlmixr2 models</vt:lpstr>
      <vt:lpstr>Defining nlmixr2 models</vt:lpstr>
      <vt:lpstr>Running nlmixr2 models: the full model</vt:lpstr>
      <vt:lpstr>Running nlmixr2 models: check the model code</vt:lpstr>
      <vt:lpstr>Running nlmixr2 models: check the model code</vt:lpstr>
      <vt:lpstr>Running nlmixr2 models with the nlmixr2 command</vt:lpstr>
      <vt:lpstr>nlmixr2 output for SAEM</vt:lpstr>
      <vt:lpstr>The labels in the ini block end up in the output, and the log-transformed parameters are returned with a back-transformation and 95%CIs</vt:lpstr>
      <vt:lpstr>Running nlmixr2 models: save the object, and examine parameter trace plots when using SAEM to check convergence</vt:lpstr>
      <vt:lpstr>Traceplot for SAEM parameter estimates using traceplot() function
</vt:lpstr>
      <vt:lpstr>nlmixr2 works well with ggPMX</vt:lpstr>
      <vt:lpstr>nlmixr2 works well with ggPMX</vt:lpstr>
      <vt:lpstr>nlmixr2 works well with ggPMX</vt:lpstr>
      <vt:lpstr>nlmixr2 works well with ggPMX</vt:lpstr>
      <vt:lpstr>nlmixr2 works well with ggPMX</vt:lpstr>
      <vt:lpstr>nlmixr2 works well with xpose</vt:lpstr>
      <vt:lpstr>nlmixr2 works well with xpose</vt:lpstr>
      <vt:lpstr>DV vs IPRED using xpose
</vt:lpstr>
      <vt:lpstr>nlmixr2 is tightly integrated with the vpc package</vt:lpstr>
      <vt:lpstr>VPC for the base model on linear scale...
</vt:lpstr>
      <vt:lpstr>...and on log scale </vt:lpstr>
      <vt:lpstr>...and on the log scale. It’s wicked fast </vt:lpstr>
      <vt:lpstr>Alternatively, using native vpc code so you only need to simulate once</vt:lpstr>
      <vt:lpstr>nlmixr2 can generate smooth individual plots using augPred</vt:lpstr>
      <vt:lpstr>nlmixr2 can generate smooth individual plots using augPred</vt:lpstr>
      <vt:lpstr>use augPred output to plot using your favourite package…</vt:lpstr>
      <vt:lpstr>..like lattice, for example
</vt:lpstr>
      <vt:lpstr>Solved systems and ODEs…</vt:lpstr>
      <vt:lpstr>Running nlmixr2 for a system of ODEs using FOCEI</vt:lpstr>
      <vt:lpstr>nlmixr2 output for FOCEI with ODEs</vt:lpstr>
      <vt:lpstr>Hands-on session II: running nlmixr2 and diagnostics</vt:lpstr>
      <vt:lpstr>Running nlmixr2: 1 transit compartment</vt:lpstr>
      <vt:lpstr>nlmixr2 output: 1 transit compartment with ODEs using FOCEI</vt:lpstr>
      <vt:lpstr>VPC for one compartment model with a transit compartment using FOCEI
</vt:lpstr>
      <vt:lpstr>Running nlmixr2: 5 transit compartments</vt:lpstr>
      <vt:lpstr>nlmixr2 output: 5 transit compartments with ODEs using FOCEI</vt:lpstr>
      <vt:lpstr>VPC for first order absorption with 5 transit compartments using FOCEI
</vt:lpstr>
      <vt:lpstr>Comparing the VPCs for the first 12 hours to see if absorption is described better using zero, one, or five transit compartments
</vt:lpstr>
      <vt:lpstr>Code example III: FOCEI in nlmixr2</vt:lpstr>
      <vt:lpstr>For examination at home: simulations of paediatric posology</vt:lpstr>
      <vt:lpstr>nlmixr2 can generate empirical Bayes estimates for Bayesian feedback: individual EBEs for a new data set using existing population parameters</vt:lpstr>
      <vt:lpstr>Individual graphs for the five transit compartment model estimated using Bayesian feedback; perfect fit even though there was no population parameter estimation
</vt:lpstr>
      <vt:lpstr>Parameterisation and mu-referencing</vt:lpstr>
      <vt:lpstr>Corresponding nlmixr2 code</vt:lpstr>
      <vt:lpstr>nlmixr2 output: mu-referenced sex on V (log-scale)</vt:lpstr>
      <vt:lpstr>Parameterisation and mu-referencing</vt:lpstr>
      <vt:lpstr>mu-referencing and allometric scaling</vt:lpstr>
      <vt:lpstr>Corresponding nlmixr2 code: allometric scaling</vt:lpstr>
      <vt:lpstr>nlmixr2 output: allometric scaling ODEs using FOCEI Change in OFV compared to model without allometric scaling: -31.60</vt:lpstr>
      <vt:lpstr>Code example IV: running an nlmixr2 posthoc analysis and implementing covariates using mu-referencing</vt:lpstr>
      <vt:lpstr>nlmixr2 output: allometric scaling ODEs using FOCEI Freely estimated exponents: drop of 5.30 points</vt:lpstr>
      <vt:lpstr>PKPD analysis with nlmixr2: sequential estimation</vt:lpstr>
      <vt:lpstr>PKPD analysis with nlmixr2: define turnover model using PK EBEs</vt:lpstr>
      <vt:lpstr>Individual graphs for turnover Emax PD model with PK using EBEs
</vt:lpstr>
      <vt:lpstr>PKPD analysis with nlmixr2: simultaneous estimation</vt:lpstr>
      <vt:lpstr>Immediate effect simultaneous PKPD analysis with nlmixr2: ini block</vt:lpstr>
      <vt:lpstr>Immediate effect simultaneous PKPD analysis with nlmixr2: model block</vt:lpstr>
      <vt:lpstr>Simultaneous PKPD analysis with nlmixr2: examine defined model</vt:lpstr>
      <vt:lpstr>nlmixr2 output: immediate effect simultaneous PKPD model</vt:lpstr>
      <vt:lpstr>VPC for immediate effect simultaneous PKPD model
</vt:lpstr>
      <vt:lpstr>Effect compartment simultaneous PKPD analysis with nlmixr2: ini block</vt:lpstr>
      <vt:lpstr>Effect compartment simultaneous PKPD analysis with nlmixr2: model block</vt:lpstr>
      <vt:lpstr>nlmixr2 output: effect compartment simultaneous PKPD model</vt:lpstr>
      <vt:lpstr>VPC for effect compartment simultaneous PKPD model 
</vt:lpstr>
      <vt:lpstr>Turnover model simultaneous PKPD analysis with nlmixr2: ini block</vt:lpstr>
      <vt:lpstr>Turnover model simultaneous PKPD analysis with nlmixr2: model block</vt:lpstr>
      <vt:lpstr>nlmixr2 output: turnover simultaneous PKPD model</vt:lpstr>
      <vt:lpstr>VPC for turnover simultaneous PKPD model </vt:lpstr>
      <vt:lpstr>VPCs to compare the immediate effect model, the effect compartment model, and the turnover simultaneous PKPD model </vt:lpstr>
      <vt:lpstr>Code example V: running nlmixr2 PKPD analysis</vt:lpstr>
    </vt:vector>
  </TitlesOfParts>
  <Manager/>
  <Company>Occams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Rik Schoemaker</dc:creator>
  <cp:keywords/>
  <dc:description/>
  <cp:lastModifiedBy>Anne Keunecke</cp:lastModifiedBy>
  <cp:revision>252</cp:revision>
  <dcterms:created xsi:type="dcterms:W3CDTF">2016-11-23T19:12:10Z</dcterms:created>
  <dcterms:modified xsi:type="dcterms:W3CDTF">2026-05-29T10:19:44Z</dcterms:modified>
  <cp:category/>
</cp:coreProperties>
</file>