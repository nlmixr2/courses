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530" r:id="rId2"/>
    <p:sldId id="544" r:id="rId3"/>
    <p:sldId id="533" r:id="rId4"/>
    <p:sldId id="536" r:id="rId5"/>
    <p:sldId id="374" r:id="rId6"/>
    <p:sldId id="534" r:id="rId7"/>
    <p:sldId id="54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40000"/>
    <a:srgbClr val="424C59"/>
    <a:srgbClr val="A50021"/>
    <a:srgbClr val="57A83A"/>
    <a:srgbClr val="76C65A"/>
    <a:srgbClr val="FF8000"/>
    <a:srgbClr val="808080"/>
    <a:srgbClr val="305480"/>
    <a:srgbClr val="E08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89535" autoAdjust="0"/>
  </p:normalViewPr>
  <p:slideViewPr>
    <p:cSldViewPr>
      <p:cViewPr varScale="1">
        <p:scale>
          <a:sx n="74" d="100"/>
          <a:sy n="74" d="100"/>
        </p:scale>
        <p:origin x="78" y="534"/>
      </p:cViewPr>
      <p:guideLst>
        <p:guide orient="horz" pos="19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1" d="100"/>
          <a:sy n="101" d="100"/>
        </p:scale>
        <p:origin x="5154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B5575-5396-4903-B001-2952BE6B9F1B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2CCE1-13AB-4907-8C53-954A4412C1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6156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547EB-7C1B-40A0-9C00-7392B48D9156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989F4-5BC7-45C8-8C9A-BD913442709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248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With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nlmixr2targets</a:t>
            </a:r>
            <a:r>
              <a:rPr lang="en-US" dirty="0"/>
              <a:t>, we solve the classic issue of accidentally rerunning a model that takes four hours to converge. It checks your data and model code </a:t>
            </a:r>
            <a:r>
              <a:rPr lang="en-US" sz="1200" dirty="0">
                <a:solidFill>
                  <a:srgbClr val="1C2B3A"/>
                </a:solidFill>
              </a:rPr>
              <a:t>Whether you have 5 models or 50, the targets engine manages all dependencies, </a:t>
            </a:r>
            <a:r>
              <a:rPr lang="en-US" sz="1200" dirty="0" err="1">
                <a:solidFill>
                  <a:srgbClr val="1C2B3A"/>
                </a:solidFill>
              </a:rPr>
              <a:t>parallelisation</a:t>
            </a:r>
            <a:r>
              <a:rPr lang="en-US" sz="1200" dirty="0">
                <a:solidFill>
                  <a:srgbClr val="1C2B3A"/>
                </a:solidFill>
              </a:rPr>
              <a:t>, and incremental updates transparently.</a:t>
            </a:r>
            <a:endParaRPr lang="en-US" sz="1200" dirty="0"/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29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019400"/>
            <a:ext cx="8534400" cy="17057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-204936"/>
            <a:ext cx="12192000" cy="1556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37312"/>
            <a:ext cx="12192000" cy="62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2" y="476672"/>
            <a:ext cx="10945216" cy="2448272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rgbClr val="B4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9D51947-24F4-C4DC-5885-9F67B2093E4F}"/>
              </a:ext>
            </a:extLst>
          </p:cNvPr>
          <p:cNvGrpSpPr/>
          <p:nvPr userDrawn="1"/>
        </p:nvGrpSpPr>
        <p:grpSpPr>
          <a:xfrm>
            <a:off x="4339232" y="4819600"/>
            <a:ext cx="3589360" cy="1763448"/>
            <a:chOff x="4339232" y="4819600"/>
            <a:chExt cx="3589360" cy="176344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3E4E562-3F63-307A-0740-45B3E73A09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9232" y="4819600"/>
              <a:ext cx="3513536" cy="176344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C4A0EA-E478-7F0A-1EEC-46DA78AFE7EE}"/>
                </a:ext>
              </a:extLst>
            </p:cNvPr>
            <p:cNvSpPr txBox="1"/>
            <p:nvPr userDrawn="1"/>
          </p:nvSpPr>
          <p:spPr>
            <a:xfrm>
              <a:off x="7568552" y="5538903"/>
              <a:ext cx="36004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900" b="1">
                  <a:solidFill>
                    <a:srgbClr val="C00000"/>
                  </a:solidFill>
                </a:rPr>
                <a:t>2</a:t>
              </a:r>
              <a:endParaRPr lang="en-NL" sz="19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638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/>
            </a:lvl1pPr>
          </a:lstStyle>
          <a:p>
            <a:fld id="{133EA325-E17C-4431-8C79-1AEA4A396602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310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3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</p:spTree>
    <p:extLst>
      <p:ext uri="{BB962C8B-B14F-4D97-AF65-F5344CB8AC3E}">
        <p14:creationId xmlns:p14="http://schemas.microsoft.com/office/powerpoint/2010/main" val="1208292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884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20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2" y="113386"/>
            <a:ext cx="10945216" cy="985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59563" y="6564883"/>
            <a:ext cx="7392821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>
                    <a:lumMod val="75000"/>
                  </a:schemeClr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3392" y="6564883"/>
            <a:ext cx="1056117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B40000"/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fld id="{133EA325-E17C-4431-8C79-1AEA4A396602}" type="slidenum">
              <a:rPr lang="en-GB" smtClean="0"/>
              <a:pPr/>
              <a:t>‹nr.›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3B2648-2988-DDF5-3B00-2C50D9961258}"/>
              </a:ext>
            </a:extLst>
          </p:cNvPr>
          <p:cNvGrpSpPr/>
          <p:nvPr userDrawn="1"/>
        </p:nvGrpSpPr>
        <p:grpSpPr>
          <a:xfrm>
            <a:off x="10598596" y="6318101"/>
            <a:ext cx="1066119" cy="524043"/>
            <a:chOff x="10598596" y="6318101"/>
            <a:chExt cx="1066119" cy="52404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7B45EA-DF08-9BD8-0E65-7B7CF845E1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8596" y="6318101"/>
              <a:ext cx="1044116" cy="52404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15425DF-E504-86F9-34AC-3D4EE1BA0992}"/>
                </a:ext>
              </a:extLst>
            </p:cNvPr>
            <p:cNvSpPr txBox="1"/>
            <p:nvPr userDrawn="1"/>
          </p:nvSpPr>
          <p:spPr>
            <a:xfrm>
              <a:off x="11557722" y="6435742"/>
              <a:ext cx="1069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>
                  <a:solidFill>
                    <a:srgbClr val="C00000"/>
                  </a:solidFill>
                </a:rPr>
                <a:t>2</a:t>
              </a:r>
              <a:endParaRPr lang="en-NL" sz="12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5295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B40000"/>
          </a:solidFill>
          <a:latin typeface="+mn-lt"/>
          <a:ea typeface="Tahoma" pitchFamily="34" charset="0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4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2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0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18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16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lmixr2.github.io/nlmixr2target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nlmixr2.org/articles/modelPiping.html" TargetMode="External"/><Relationship Id="rId5" Type="http://schemas.openxmlformats.org/officeDocument/2006/relationships/hyperlink" Target="https://wlandau.github.io/targetopia/packages.html" TargetMode="External"/><Relationship Id="rId4" Type="http://schemas.openxmlformats.org/officeDocument/2006/relationships/hyperlink" Target="https://docs.ropensci.org/target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lmixr2.org/" TargetMode="External"/><Relationship Id="rId2" Type="http://schemas.openxmlformats.org/officeDocument/2006/relationships/hyperlink" Target="https://nlmixr2.github.io/nlmixr2save/index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hyperlink" Target="https://nlmixrdevelopment.github.io/RxODE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richardhooijmaijers.github.io/shinyMixR/articles/shinyMixR-vignette.html" TargetMode="External"/><Relationship Id="rId13" Type="http://schemas.openxmlformats.org/officeDocument/2006/relationships/image" Target="../media/image6.png"/><Relationship Id="rId3" Type="http://schemas.openxmlformats.org/officeDocument/2006/relationships/hyperlink" Target="https://nlmixr2.github.io/nlmixr2" TargetMode="External"/><Relationship Id="rId7" Type="http://schemas.openxmlformats.org/officeDocument/2006/relationships/hyperlink" Target="https://github.com/RichardHooijmaijers/shinyMixR" TargetMode="External"/><Relationship Id="rId12" Type="http://schemas.openxmlformats.org/officeDocument/2006/relationships/hyperlink" Target="https://github.com/RichardHooijmaijers/R3port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gplot2.tidyverse.org/" TargetMode="External"/><Relationship Id="rId11" Type="http://schemas.openxmlformats.org/officeDocument/2006/relationships/hyperlink" Target="https://cran.r-project.org/web/packages/R3port/index.html" TargetMode="External"/><Relationship Id="rId5" Type="http://schemas.openxmlformats.org/officeDocument/2006/relationships/hyperlink" Target="https://cran.r-project.org/packages/xpose.nlmixr2" TargetMode="External"/><Relationship Id="rId10" Type="http://schemas.openxmlformats.org/officeDocument/2006/relationships/hyperlink" Target="https://rstudio.github.io/shinydashboard/" TargetMode="External"/><Relationship Id="rId4" Type="http://schemas.openxmlformats.org/officeDocument/2006/relationships/hyperlink" Target="https://github.com/nlmixr2/xpose.nlmixr2" TargetMode="External"/><Relationship Id="rId9" Type="http://schemas.openxmlformats.org/officeDocument/2006/relationships/hyperlink" Target="https://shiny.posit.co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s://cloud.r-project.org/web/packages/nlmixr2lib/index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nlmixr2.github.io/nlmixr2lib/" TargetMode="External"/><Relationship Id="rId5" Type="http://schemas.openxmlformats.org/officeDocument/2006/relationships/hyperlink" Target="https://github.com/nlmixr2/nlmixr2shiny" TargetMode="Externa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2967608" y="2204864"/>
            <a:ext cx="6400800" cy="2664296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 </a:t>
            </a:r>
            <a:r>
              <a:rPr lang="en-US" i="1" dirty="0"/>
              <a:t>nlmixr2targets · nlmixr2shiny · nlmixr2save · </a:t>
            </a:r>
            <a:r>
              <a:rPr lang="en-US" i="1" dirty="0" err="1"/>
              <a:t>shinyMixR</a:t>
            </a:r>
            <a:endParaRPr lang="en-US" i="1" dirty="0"/>
          </a:p>
          <a:p>
            <a:endParaRPr lang="en-NL" dirty="0"/>
          </a:p>
          <a:p>
            <a:r>
              <a:rPr lang="en-GB" dirty="0"/>
              <a:t>rxode2/nlmixr2 Course </a:t>
            </a:r>
            <a:br>
              <a:rPr lang="en-GB" dirty="0"/>
            </a:br>
            <a:r>
              <a:rPr lang="en-GB" dirty="0"/>
              <a:t>PAGE 2026, Dubrovnik, Croatia 
Anne Keunecke</a:t>
            </a:r>
            <a:r>
              <a:rPr lang="en-GB"/>
              <a:t>, PhD</a:t>
            </a:r>
          </a:p>
          <a:p>
            <a:br>
              <a:rPr lang="en-GB" dirty="0"/>
            </a:b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On behalf of the </a:t>
            </a:r>
            <a:r>
              <a:rPr lang="en-GB" dirty="0" err="1">
                <a:solidFill>
                  <a:srgbClr val="B40000"/>
                </a:solidFill>
              </a:rPr>
              <a:t>nlmixr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 development team: </a:t>
            </a:r>
          </a:p>
          <a:p>
            <a:pPr lvl="0">
              <a:defRPr/>
            </a:pP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Matt Fidler, Bill Denney, John Harrold, Richard </a:t>
            </a:r>
            <a:r>
              <a:rPr lang="en-GB" dirty="0" err="1">
                <a:solidFill>
                  <a:srgbClr val="1F497D">
                    <a:lumMod val="50000"/>
                  </a:srgbClr>
                </a:solidFill>
              </a:rPr>
              <a:t>Hooijmaijers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, Mutaz Jaber, Anne Keunecke, Theo Papathanasiou, Rik Schoemaker, Max Taubert, Mirjam Trame, Justin Wilkins, Brendan Bender</a:t>
            </a:r>
          </a:p>
          <a:p>
            <a:pPr lvl="0"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063552" y="620688"/>
            <a:ext cx="8208912" cy="1296144"/>
          </a:xfrm>
        </p:spPr>
        <p:txBody>
          <a:bodyPr>
            <a:normAutofit fontScale="90000"/>
          </a:bodyPr>
          <a:lstStyle/>
          <a:p>
            <a:r>
              <a:rPr lang="en-US" dirty="0"/>
              <a:t>Extending </a:t>
            </a:r>
            <a:r>
              <a:rPr lang="en-US" dirty="0">
                <a:solidFill>
                  <a:schemeClr val="tx2"/>
                </a:solidFill>
              </a:rPr>
              <a:t>nlmix</a:t>
            </a:r>
            <a:r>
              <a:rPr lang="en-US" dirty="0"/>
              <a:t>r2: Tools for Reproducibility, Interactivity, and Collaboration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40310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8323FE-305A-DFA4-68A9-314C45B4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Reproducibility, Interactivity, and Collaboration</a:t>
            </a:r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E042D0B-4B53-C9D1-0B08-6EA6A06316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159A1B-EEAF-04C8-3A82-E3DCB1F012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</a:t>
            </a:fld>
            <a:endParaRPr lang="en-GB"/>
          </a:p>
        </p:txBody>
      </p:sp>
      <p:grpSp>
        <p:nvGrpSpPr>
          <p:cNvPr id="37" name="Groep 36">
            <a:extLst>
              <a:ext uri="{FF2B5EF4-FFF2-40B4-BE49-F238E27FC236}">
                <a16:creationId xmlns:a16="http://schemas.microsoft.com/office/drawing/2014/main" id="{FA2C733B-7CBF-6395-CF0A-BD9F02683C0B}"/>
              </a:ext>
            </a:extLst>
          </p:cNvPr>
          <p:cNvGrpSpPr/>
          <p:nvPr/>
        </p:nvGrpSpPr>
        <p:grpSpPr>
          <a:xfrm>
            <a:off x="452147" y="2048001"/>
            <a:ext cx="11163341" cy="3792303"/>
            <a:chOff x="452147" y="2048001"/>
            <a:chExt cx="11163341" cy="3792303"/>
          </a:xfrm>
        </p:grpSpPr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A212C9FB-7CD5-DCF6-865D-77F8BB0B4696}"/>
                </a:ext>
              </a:extLst>
            </p:cNvPr>
            <p:cNvGrpSpPr/>
            <p:nvPr/>
          </p:nvGrpSpPr>
          <p:grpSpPr>
            <a:xfrm>
              <a:off x="452147" y="2060304"/>
              <a:ext cx="2700000" cy="3780000"/>
              <a:chOff x="452147" y="2060304"/>
              <a:chExt cx="2700000" cy="3780000"/>
            </a:xfrm>
          </p:grpSpPr>
          <p:grpSp>
            <p:nvGrpSpPr>
              <p:cNvPr id="15" name="Groep 14">
                <a:extLst>
                  <a:ext uri="{FF2B5EF4-FFF2-40B4-BE49-F238E27FC236}">
                    <a16:creationId xmlns:a16="http://schemas.microsoft.com/office/drawing/2014/main" id="{6B16A58F-324A-2C7C-5ACE-AF66D3883F78}"/>
                  </a:ext>
                </a:extLst>
              </p:cNvPr>
              <p:cNvGrpSpPr/>
              <p:nvPr/>
            </p:nvGrpSpPr>
            <p:grpSpPr>
              <a:xfrm>
                <a:off x="452147" y="2060304"/>
                <a:ext cx="2700000" cy="3780000"/>
                <a:chOff x="8915488" y="2048001"/>
                <a:chExt cx="2700000" cy="3780000"/>
              </a:xfrm>
            </p:grpSpPr>
            <p:sp>
              <p:nvSpPr>
                <p:cNvPr id="16" name="Shape 15">
                  <a:extLst>
                    <a:ext uri="{FF2B5EF4-FFF2-40B4-BE49-F238E27FC236}">
                      <a16:creationId xmlns:a16="http://schemas.microsoft.com/office/drawing/2014/main" id="{DC4CAD24-A4BA-8DCE-5C11-ADEAE825B5FE}"/>
                    </a:ext>
                  </a:extLst>
                </p:cNvPr>
                <p:cNvSpPr/>
                <p:nvPr/>
              </p:nvSpPr>
              <p:spPr>
                <a:xfrm>
                  <a:off x="8915488" y="2048001"/>
                  <a:ext cx="2700000" cy="37800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0DCE8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nl-NL" sz="1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7" name="Shape 16">
                  <a:extLst>
                    <a:ext uri="{FF2B5EF4-FFF2-40B4-BE49-F238E27FC236}">
                      <a16:creationId xmlns:a16="http://schemas.microsoft.com/office/drawing/2014/main" id="{4D3BD7B7-4CFC-143D-697C-B814720C7080}"/>
                    </a:ext>
                  </a:extLst>
                </p:cNvPr>
                <p:cNvSpPr/>
                <p:nvPr/>
              </p:nvSpPr>
              <p:spPr>
                <a:xfrm>
                  <a:off x="8925482" y="2060304"/>
                  <a:ext cx="2678400" cy="411480"/>
                </a:xfrm>
                <a:prstGeom prst="rect">
                  <a:avLst/>
                </a:prstGeom>
                <a:solidFill>
                  <a:schemeClr val="accent2"/>
                </a:solidFill>
                <a:ln w="12700">
                  <a:solidFill>
                    <a:schemeClr val="accent2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sz="1600" b="1" kern="0" spc="100" dirty="0">
                      <a:solidFill>
                        <a:srgbClr val="FFFFFF"/>
                      </a:solidFill>
                      <a:latin typeface="Calibri" panose="020F0502020204030204"/>
                    </a:rPr>
                    <a:t>REPRODUCIBILITY</a:t>
                  </a:r>
                  <a:endParaRPr lang="en-US" sz="16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18" name="Text 6">
                <a:extLst>
                  <a:ext uri="{FF2B5EF4-FFF2-40B4-BE49-F238E27FC236}">
                    <a16:creationId xmlns:a16="http://schemas.microsoft.com/office/drawing/2014/main" id="{24270BA2-AFA6-6E65-BFE1-36FA5471264F}"/>
                  </a:ext>
                </a:extLst>
              </p:cNvPr>
              <p:cNvSpPr/>
              <p:nvPr/>
            </p:nvSpPr>
            <p:spPr>
              <a:xfrm>
                <a:off x="796307" y="2683768"/>
                <a:ext cx="201168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600" b="1" dirty="0">
                    <a:solidFill>
                      <a:schemeClr val="accent2"/>
                    </a:solidFill>
                    <a:latin typeface="Calibri" panose="020F0502020204030204"/>
                  </a:rPr>
                  <a:t>nlmixr2targets</a:t>
                </a:r>
                <a:endParaRPr lang="en-US" sz="1600" dirty="0">
                  <a:solidFill>
                    <a:schemeClr val="accent2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C7B41F74-E250-1794-D66F-BF25714310E2}"/>
                </a:ext>
              </a:extLst>
            </p:cNvPr>
            <p:cNvGrpSpPr/>
            <p:nvPr/>
          </p:nvGrpSpPr>
          <p:grpSpPr>
            <a:xfrm>
              <a:off x="3276513" y="2048001"/>
              <a:ext cx="2700000" cy="3780000"/>
              <a:chOff x="3276513" y="2048001"/>
              <a:chExt cx="2700000" cy="3780000"/>
            </a:xfrm>
          </p:grpSpPr>
          <p:grpSp>
            <p:nvGrpSpPr>
              <p:cNvPr id="12" name="Groep 11">
                <a:extLst>
                  <a:ext uri="{FF2B5EF4-FFF2-40B4-BE49-F238E27FC236}">
                    <a16:creationId xmlns:a16="http://schemas.microsoft.com/office/drawing/2014/main" id="{627AEB9E-7E05-2B3B-4254-8CF20961047F}"/>
                  </a:ext>
                </a:extLst>
              </p:cNvPr>
              <p:cNvGrpSpPr/>
              <p:nvPr/>
            </p:nvGrpSpPr>
            <p:grpSpPr>
              <a:xfrm>
                <a:off x="3276513" y="2048001"/>
                <a:ext cx="2700000" cy="3780000"/>
                <a:chOff x="8915488" y="2048001"/>
                <a:chExt cx="2700000" cy="3780000"/>
              </a:xfrm>
            </p:grpSpPr>
            <p:sp>
              <p:nvSpPr>
                <p:cNvPr id="13" name="Shape 15">
                  <a:extLst>
                    <a:ext uri="{FF2B5EF4-FFF2-40B4-BE49-F238E27FC236}">
                      <a16:creationId xmlns:a16="http://schemas.microsoft.com/office/drawing/2014/main" id="{D6BF252F-3A6A-AE58-9962-0C8928DE773C}"/>
                    </a:ext>
                  </a:extLst>
                </p:cNvPr>
                <p:cNvSpPr/>
                <p:nvPr/>
              </p:nvSpPr>
              <p:spPr>
                <a:xfrm>
                  <a:off x="8915488" y="2048001"/>
                  <a:ext cx="2700000" cy="37800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0DCE8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nl-NL" sz="1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" name="Shape 16">
                  <a:extLst>
                    <a:ext uri="{FF2B5EF4-FFF2-40B4-BE49-F238E27FC236}">
                      <a16:creationId xmlns:a16="http://schemas.microsoft.com/office/drawing/2014/main" id="{167F02C6-9DB8-85C7-8D84-73C26D383342}"/>
                    </a:ext>
                  </a:extLst>
                </p:cNvPr>
                <p:cNvSpPr/>
                <p:nvPr/>
              </p:nvSpPr>
              <p:spPr>
                <a:xfrm>
                  <a:off x="8925482" y="2060304"/>
                  <a:ext cx="2678400" cy="411480"/>
                </a:xfrm>
                <a:prstGeom prst="rect">
                  <a:avLst/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sz="1600" b="1" kern="0" spc="100" dirty="0">
                      <a:solidFill>
                        <a:srgbClr val="FFFFFF"/>
                      </a:solidFill>
                      <a:latin typeface="Calibri" panose="020F0502020204030204"/>
                    </a:rPr>
                    <a:t>PERSISTENCE</a:t>
                  </a:r>
                  <a:endParaRPr lang="en-US" sz="16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19" name="Text 12">
                <a:extLst>
                  <a:ext uri="{FF2B5EF4-FFF2-40B4-BE49-F238E27FC236}">
                    <a16:creationId xmlns:a16="http://schemas.microsoft.com/office/drawing/2014/main" id="{402E5569-1DC4-5E1F-B1FC-AC2F099EDE01}"/>
                  </a:ext>
                </a:extLst>
              </p:cNvPr>
              <p:cNvSpPr/>
              <p:nvPr/>
            </p:nvSpPr>
            <p:spPr>
              <a:xfrm>
                <a:off x="3620673" y="2683768"/>
                <a:ext cx="201168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600" b="1" dirty="0">
                    <a:solidFill>
                      <a:srgbClr val="3D6680"/>
                    </a:solidFill>
                    <a:latin typeface="Calibri" panose="020F0502020204030204"/>
                  </a:rPr>
                  <a:t>nlmixr2save</a:t>
                </a:r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D994C0F9-B496-286F-860F-D26ABA388E8A}"/>
                </a:ext>
              </a:extLst>
            </p:cNvPr>
            <p:cNvGrpSpPr/>
            <p:nvPr/>
          </p:nvGrpSpPr>
          <p:grpSpPr>
            <a:xfrm>
              <a:off x="8915488" y="2048001"/>
              <a:ext cx="2700000" cy="3780000"/>
              <a:chOff x="8915488" y="2048001"/>
              <a:chExt cx="2700000" cy="3780000"/>
            </a:xfrm>
          </p:grpSpPr>
          <p:grpSp>
            <p:nvGrpSpPr>
              <p:cNvPr id="6" name="Groep 5">
                <a:extLst>
                  <a:ext uri="{FF2B5EF4-FFF2-40B4-BE49-F238E27FC236}">
                    <a16:creationId xmlns:a16="http://schemas.microsoft.com/office/drawing/2014/main" id="{1D0F59D2-0F01-D381-4689-76C229F53ACD}"/>
                  </a:ext>
                </a:extLst>
              </p:cNvPr>
              <p:cNvGrpSpPr/>
              <p:nvPr/>
            </p:nvGrpSpPr>
            <p:grpSpPr>
              <a:xfrm>
                <a:off x="8915488" y="2048001"/>
                <a:ext cx="2700000" cy="3780000"/>
                <a:chOff x="8915488" y="2048001"/>
                <a:chExt cx="2700000" cy="3780000"/>
              </a:xfrm>
            </p:grpSpPr>
            <p:sp>
              <p:nvSpPr>
                <p:cNvPr id="7" name="Shape 15">
                  <a:extLst>
                    <a:ext uri="{FF2B5EF4-FFF2-40B4-BE49-F238E27FC236}">
                      <a16:creationId xmlns:a16="http://schemas.microsoft.com/office/drawing/2014/main" id="{1B81FA0D-3D4D-24D4-EA63-AA28A47461BA}"/>
                    </a:ext>
                  </a:extLst>
                </p:cNvPr>
                <p:cNvSpPr/>
                <p:nvPr/>
              </p:nvSpPr>
              <p:spPr>
                <a:xfrm>
                  <a:off x="8915488" y="2048001"/>
                  <a:ext cx="2700000" cy="37800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0DCE8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nl-NL" sz="1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" name="Shape 16">
                  <a:extLst>
                    <a:ext uri="{FF2B5EF4-FFF2-40B4-BE49-F238E27FC236}">
                      <a16:creationId xmlns:a16="http://schemas.microsoft.com/office/drawing/2014/main" id="{BC3A9C6B-1488-93BB-85E6-79ECB1B042C9}"/>
                    </a:ext>
                  </a:extLst>
                </p:cNvPr>
                <p:cNvSpPr/>
                <p:nvPr/>
              </p:nvSpPr>
              <p:spPr>
                <a:xfrm>
                  <a:off x="8925482" y="2060304"/>
                  <a:ext cx="2678400" cy="411480"/>
                </a:xfrm>
                <a:prstGeom prst="rect">
                  <a:avLst/>
                </a:prstGeom>
                <a:solidFill>
                  <a:schemeClr val="accent6"/>
                </a:solidFill>
                <a:ln w="12700">
                  <a:solidFill>
                    <a:schemeClr val="accent6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sz="1600" b="1" kern="0" spc="100" dirty="0">
                      <a:solidFill>
                        <a:srgbClr val="FFFFFF"/>
                      </a:solidFill>
                      <a:latin typeface="Calibri" panose="020F0502020204030204"/>
                    </a:rPr>
                    <a:t>MODEL LIBRARY UI</a:t>
                  </a:r>
                  <a:endParaRPr lang="nl-NL" sz="16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20" name="Text 18">
                <a:extLst>
                  <a:ext uri="{FF2B5EF4-FFF2-40B4-BE49-F238E27FC236}">
                    <a16:creationId xmlns:a16="http://schemas.microsoft.com/office/drawing/2014/main" id="{E49035E8-3BC3-CC3A-0DB3-392AD4FEF4FD}"/>
                  </a:ext>
                </a:extLst>
              </p:cNvPr>
              <p:cNvSpPr/>
              <p:nvPr/>
            </p:nvSpPr>
            <p:spPr>
              <a:xfrm>
                <a:off x="9259648" y="2683768"/>
                <a:ext cx="201168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600" b="1" dirty="0">
                    <a:solidFill>
                      <a:srgbClr val="E07B3A"/>
                    </a:solidFill>
                    <a:latin typeface="Calibri" panose="020F0502020204030204"/>
                  </a:rPr>
                  <a:t>nlmixr2shiny</a:t>
                </a:r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BCD0D417-1082-F81F-E5D8-0B68DCA081CF}"/>
                </a:ext>
              </a:extLst>
            </p:cNvPr>
            <p:cNvGrpSpPr/>
            <p:nvPr/>
          </p:nvGrpSpPr>
          <p:grpSpPr>
            <a:xfrm>
              <a:off x="6096000" y="2060304"/>
              <a:ext cx="2700000" cy="3780000"/>
              <a:chOff x="6096000" y="2060304"/>
              <a:chExt cx="2700000" cy="3780000"/>
            </a:xfrm>
          </p:grpSpPr>
          <p:grpSp>
            <p:nvGrpSpPr>
              <p:cNvPr id="9" name="Groep 8">
                <a:extLst>
                  <a:ext uri="{FF2B5EF4-FFF2-40B4-BE49-F238E27FC236}">
                    <a16:creationId xmlns:a16="http://schemas.microsoft.com/office/drawing/2014/main" id="{7F3EE503-1D89-39B0-DD34-6BBC8FA41DEA}"/>
                  </a:ext>
                </a:extLst>
              </p:cNvPr>
              <p:cNvGrpSpPr/>
              <p:nvPr/>
            </p:nvGrpSpPr>
            <p:grpSpPr>
              <a:xfrm>
                <a:off x="6096000" y="2060304"/>
                <a:ext cx="2700000" cy="3780000"/>
                <a:chOff x="8915488" y="2048001"/>
                <a:chExt cx="2700000" cy="3780000"/>
              </a:xfrm>
            </p:grpSpPr>
            <p:sp>
              <p:nvSpPr>
                <p:cNvPr id="10" name="Shape 15">
                  <a:extLst>
                    <a:ext uri="{FF2B5EF4-FFF2-40B4-BE49-F238E27FC236}">
                      <a16:creationId xmlns:a16="http://schemas.microsoft.com/office/drawing/2014/main" id="{177B192C-7DCF-CDB1-743F-4B9240E12086}"/>
                    </a:ext>
                  </a:extLst>
                </p:cNvPr>
                <p:cNvSpPr/>
                <p:nvPr/>
              </p:nvSpPr>
              <p:spPr>
                <a:xfrm>
                  <a:off x="8915488" y="2048001"/>
                  <a:ext cx="2700000" cy="37800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0DCE8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nl-NL" sz="1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1" name="Shape 16">
                  <a:extLst>
                    <a:ext uri="{FF2B5EF4-FFF2-40B4-BE49-F238E27FC236}">
                      <a16:creationId xmlns:a16="http://schemas.microsoft.com/office/drawing/2014/main" id="{7C184170-EE72-AB66-E5A6-7E003F9BB6F0}"/>
                    </a:ext>
                  </a:extLst>
                </p:cNvPr>
                <p:cNvSpPr/>
                <p:nvPr/>
              </p:nvSpPr>
              <p:spPr>
                <a:xfrm>
                  <a:off x="8925482" y="2060304"/>
                  <a:ext cx="2678400" cy="411480"/>
                </a:xfrm>
                <a:prstGeom prst="rect">
                  <a:avLst/>
                </a:prstGeom>
                <a:solidFill>
                  <a:schemeClr val="accent5"/>
                </a:solidFill>
                <a:ln w="12700">
                  <a:solidFill>
                    <a:schemeClr val="accent5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sz="1600" b="1" kern="0" spc="100" dirty="0">
                      <a:solidFill>
                        <a:srgbClr val="FFFFFF"/>
                      </a:solidFill>
                      <a:latin typeface="Calibri" panose="020F0502020204030204"/>
                    </a:rPr>
                    <a:t>PROJECT MANAGER</a:t>
                  </a:r>
                  <a:endParaRPr lang="en-US" sz="16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21" name="Text 24">
                <a:extLst>
                  <a:ext uri="{FF2B5EF4-FFF2-40B4-BE49-F238E27FC236}">
                    <a16:creationId xmlns:a16="http://schemas.microsoft.com/office/drawing/2014/main" id="{D6401499-6C68-D254-C0A0-EEC5DED476F8}"/>
                  </a:ext>
                </a:extLst>
              </p:cNvPr>
              <p:cNvSpPr/>
              <p:nvPr/>
            </p:nvSpPr>
            <p:spPr>
              <a:xfrm>
                <a:off x="6440160" y="2683768"/>
                <a:ext cx="201168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600" b="1" dirty="0">
                    <a:solidFill>
                      <a:schemeClr val="accent5"/>
                    </a:solidFill>
                    <a:latin typeface="Calibri" panose="020F0502020204030204"/>
                  </a:rPr>
                  <a:t>shinyMixR</a:t>
                </a:r>
                <a:endParaRPr lang="en-US" sz="1600" dirty="0">
                  <a:solidFill>
                    <a:schemeClr val="accent5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6" name="Text 7">
              <a:extLst>
                <a:ext uri="{FF2B5EF4-FFF2-40B4-BE49-F238E27FC236}">
                  <a16:creationId xmlns:a16="http://schemas.microsoft.com/office/drawing/2014/main" id="{5539860E-D8E1-C35D-EA77-988A6B263EB3}"/>
                </a:ext>
              </a:extLst>
            </p:cNvPr>
            <p:cNvSpPr/>
            <p:nvPr/>
          </p:nvSpPr>
          <p:spPr>
            <a:xfrm>
              <a:off x="683295" y="3417560"/>
              <a:ext cx="2237704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solidFill>
                    <a:srgbClr val="1C2B3A"/>
                  </a:solidFill>
                  <a:latin typeface="Calibri" panose="020F0502020204030204"/>
                </a:rPr>
                <a:t>Pipeline automation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/>
              <a:r>
                <a:rPr lang="en-US" sz="1600" dirty="0">
                  <a:solidFill>
                    <a:srgbClr val="1C2B3A"/>
                  </a:solidFill>
                  <a:latin typeface="Calibri" panose="020F0502020204030204"/>
                </a:rPr>
                <a:t>with the targets package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1C09A143-C355-99D1-2FA0-E79DB3DBB7AA}"/>
                </a:ext>
              </a:extLst>
            </p:cNvPr>
            <p:cNvSpPr/>
            <p:nvPr/>
          </p:nvSpPr>
          <p:spPr>
            <a:xfrm>
              <a:off x="3417989" y="3417560"/>
              <a:ext cx="2417048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solidFill>
                    <a:srgbClr val="1C2B3A"/>
                  </a:solidFill>
                  <a:latin typeface="Calibri" panose="020F0502020204030204"/>
                </a:rPr>
                <a:t>Automatic save &amp; reload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/>
              <a:r>
                <a:rPr lang="en-US" sz="1600" dirty="0">
                  <a:solidFill>
                    <a:srgbClr val="1C2B3A"/>
                  </a:solidFill>
                  <a:latin typeface="Calibri" panose="020F0502020204030204"/>
                </a:rPr>
                <a:t>of fit objects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" name="Text 19">
              <a:extLst>
                <a:ext uri="{FF2B5EF4-FFF2-40B4-BE49-F238E27FC236}">
                  <a16:creationId xmlns:a16="http://schemas.microsoft.com/office/drawing/2014/main" id="{670492D4-AC02-BABF-A7A7-EF36022DBFED}"/>
                </a:ext>
              </a:extLst>
            </p:cNvPr>
            <p:cNvSpPr/>
            <p:nvPr/>
          </p:nvSpPr>
          <p:spPr>
            <a:xfrm>
              <a:off x="9305368" y="3417560"/>
              <a:ext cx="192024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solidFill>
                    <a:srgbClr val="1C2B3A"/>
                  </a:solidFill>
                  <a:latin typeface="Calibri" panose="020F0502020204030204"/>
                </a:rPr>
                <a:t>Shiny UI for the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/>
              <a:r>
                <a:rPr lang="en-US" sz="1600" dirty="0">
                  <a:solidFill>
                    <a:srgbClr val="1C2B3A"/>
                  </a:solidFill>
                  <a:latin typeface="Calibri" panose="020F0502020204030204"/>
                </a:rPr>
                <a:t>nlmixr2lib model library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" name="Text 25">
              <a:extLst>
                <a:ext uri="{FF2B5EF4-FFF2-40B4-BE49-F238E27FC236}">
                  <a16:creationId xmlns:a16="http://schemas.microsoft.com/office/drawing/2014/main" id="{04C62263-7271-790E-F1B0-AF5389F85619}"/>
                </a:ext>
              </a:extLst>
            </p:cNvPr>
            <p:cNvSpPr/>
            <p:nvPr/>
          </p:nvSpPr>
          <p:spPr>
            <a:xfrm>
              <a:off x="6485880" y="3417560"/>
              <a:ext cx="192024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solidFill>
                    <a:srgbClr val="1C2B3A"/>
                  </a:solidFill>
                  <a:latin typeface="Calibri" panose="020F0502020204030204"/>
                </a:rPr>
                <a:t>Full project dashboard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/>
              <a:r>
                <a:rPr lang="en-US" sz="1600" dirty="0">
                  <a:solidFill>
                    <a:srgbClr val="1C2B3A"/>
                  </a:solidFill>
                  <a:latin typeface="Calibri" panose="020F0502020204030204"/>
                </a:rPr>
                <a:t>for managing runs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83F07187-9109-9012-9ABD-BAF0140E3AC3}"/>
                </a:ext>
              </a:extLst>
            </p:cNvPr>
            <p:cNvSpPr/>
            <p:nvPr/>
          </p:nvSpPr>
          <p:spPr>
            <a:xfrm>
              <a:off x="623392" y="5128116"/>
              <a:ext cx="2184595" cy="317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solidFill>
                    <a:srgbClr val="6B8BA4"/>
                  </a:solidFill>
                  <a:latin typeface="Calibri" panose="020F0502020204030204"/>
                </a:rPr>
                <a:t>https://nlmixr2.github.io/nlmixr2targets/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" name="Text 8">
              <a:extLst>
                <a:ext uri="{FF2B5EF4-FFF2-40B4-BE49-F238E27FC236}">
                  <a16:creationId xmlns:a16="http://schemas.microsoft.com/office/drawing/2014/main" id="{F9A46A45-3D0C-A9BF-0AFC-88404971AB55}"/>
                </a:ext>
              </a:extLst>
            </p:cNvPr>
            <p:cNvSpPr/>
            <p:nvPr/>
          </p:nvSpPr>
          <p:spPr>
            <a:xfrm>
              <a:off x="3438720" y="4912689"/>
              <a:ext cx="2219881" cy="6998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solidFill>
                    <a:srgbClr val="6B8BA4"/>
                  </a:solidFill>
                  <a:latin typeface="Calibri" panose="020F0502020204030204"/>
                </a:rPr>
                <a:t>https://nlmixr2.github.io/nlmixr2save/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5" name="Tekstvak 34">
              <a:extLst>
                <a:ext uri="{FF2B5EF4-FFF2-40B4-BE49-F238E27FC236}">
                  <a16:creationId xmlns:a16="http://schemas.microsoft.com/office/drawing/2014/main" id="{F8720371-61E6-D073-13AD-275CCDC7C137}"/>
                </a:ext>
              </a:extLst>
            </p:cNvPr>
            <p:cNvSpPr txBox="1"/>
            <p:nvPr/>
          </p:nvSpPr>
          <p:spPr>
            <a:xfrm>
              <a:off x="6246432" y="4970243"/>
              <a:ext cx="25495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nl-NL" sz="1600" dirty="0">
                  <a:solidFill>
                    <a:srgbClr val="6B8BA4"/>
                  </a:solidFill>
                  <a:latin typeface="Calibri" panose="020F0502020204030204"/>
                </a:rPr>
                <a:t>https://richardhooijmaijers.github.io/shinyMixR/</a:t>
              </a:r>
            </a:p>
          </p:txBody>
        </p:sp>
        <p:sp>
          <p:nvSpPr>
            <p:cNvPr id="36" name="Tekstvak 35">
              <a:extLst>
                <a:ext uri="{FF2B5EF4-FFF2-40B4-BE49-F238E27FC236}">
                  <a16:creationId xmlns:a16="http://schemas.microsoft.com/office/drawing/2014/main" id="{EB76F02C-53EA-510C-CE58-58E3C2C40B1A}"/>
                </a:ext>
              </a:extLst>
            </p:cNvPr>
            <p:cNvSpPr txBox="1"/>
            <p:nvPr/>
          </p:nvSpPr>
          <p:spPr>
            <a:xfrm>
              <a:off x="9019040" y="4996970"/>
              <a:ext cx="25495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nl-NL" sz="1600" dirty="0">
                  <a:solidFill>
                    <a:srgbClr val="6B8BA4"/>
                  </a:solidFill>
                  <a:latin typeface="Calibri" panose="020F0502020204030204"/>
                </a:rPr>
                <a:t>https://github.com/nlmixr2/nlmixr2shiny</a:t>
              </a:r>
            </a:p>
          </p:txBody>
        </p:sp>
      </p:grpSp>
      <p:sp>
        <p:nvSpPr>
          <p:cNvPr id="38" name="Text 27">
            <a:extLst>
              <a:ext uri="{FF2B5EF4-FFF2-40B4-BE49-F238E27FC236}">
                <a16:creationId xmlns:a16="http://schemas.microsoft.com/office/drawing/2014/main" id="{BBF5DC45-B5D4-F29A-383A-A41C942B2C87}"/>
              </a:ext>
            </a:extLst>
          </p:cNvPr>
          <p:cNvSpPr/>
          <p:nvPr/>
        </p:nvSpPr>
        <p:spPr>
          <a:xfrm>
            <a:off x="452147" y="1543456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package addresses a specific gap in the pharmacometric modeling workflow.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F70B7C-DB7D-056C-8EAA-5EA2D99A6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193" y="4113055"/>
            <a:ext cx="808933" cy="808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5">
            <a:extLst>
              <a:ext uri="{FF2B5EF4-FFF2-40B4-BE49-F238E27FC236}">
                <a16:creationId xmlns:a16="http://schemas.microsoft.com/office/drawing/2014/main" id="{2AB61B86-127E-881A-859E-796AEBABDD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717" y="4239992"/>
            <a:ext cx="1341185" cy="45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38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3992-E6F6-3E5D-E5EF-57A3E9B9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</a:rPr>
              <a:t>nlmix</a:t>
            </a:r>
            <a:r>
              <a:rPr lang="en-US" dirty="0"/>
              <a:t>r2targets</a:t>
            </a:r>
            <a:r>
              <a:rPr lang="en-US" b="0" baseline="30000" dirty="0"/>
              <a:t>a</a:t>
            </a:r>
            <a:r>
              <a:rPr lang="en-US" dirty="0"/>
              <a:t> – Improves reproducibility in your model development workflow </a:t>
            </a:r>
            <a:br>
              <a:rPr lang="en-US" dirty="0"/>
            </a:br>
            <a:r>
              <a:rPr lang="en-US" b="0" dirty="0">
                <a:solidFill>
                  <a:schemeClr val="accent1">
                    <a:lumMod val="50000"/>
                  </a:schemeClr>
                </a:solidFill>
              </a:rPr>
              <a:t>Bill Denney</a:t>
            </a:r>
            <a:endParaRPr lang="en-GB" b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3CAE1-AC4D-0F10-48A0-9FA128BEA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392" y="1239801"/>
            <a:ext cx="5472608" cy="5184576"/>
          </a:xfrm>
        </p:spPr>
        <p:txBody>
          <a:bodyPr>
            <a:normAutofit/>
          </a:bodyPr>
          <a:lstStyle/>
          <a:p>
            <a:r>
              <a:rPr lang="en-US" sz="1800" dirty="0"/>
              <a:t>Seamlessly integrates </a:t>
            </a:r>
            <a:r>
              <a:rPr lang="en-US" sz="1800" dirty="0">
                <a:solidFill>
                  <a:srgbClr val="4A5568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>
                <a:solidFill>
                  <a:srgbClr val="C0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nlmixr2</a:t>
            </a:r>
            <a:r>
              <a:rPr lang="en-US" sz="1800" dirty="0">
                <a:solidFill>
                  <a:srgbClr val="4A5568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>
                <a:ea typeface="Calibri" pitchFamily="34" charset="-122"/>
                <a:cs typeface="Calibri" pitchFamily="34" charset="-120"/>
              </a:rPr>
              <a:t>with Will Landau's {</a:t>
            </a:r>
            <a:r>
              <a:rPr lang="en-US" sz="1800" b="1" dirty="0" err="1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targets</a:t>
            </a:r>
            <a:r>
              <a:rPr lang="en-US" sz="1800" baseline="30000" dirty="0" err="1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b</a:t>
            </a:r>
            <a:r>
              <a:rPr lang="en-US" sz="1800" dirty="0">
                <a:ea typeface="Calibri" pitchFamily="34" charset="-122"/>
                <a:cs typeface="Calibri" pitchFamily="34" charset="-120"/>
              </a:rPr>
              <a:t>} pipeline toolkit</a:t>
            </a:r>
          </a:p>
          <a:p>
            <a:endParaRPr lang="en-US" sz="1800" dirty="0">
              <a:ea typeface="Calibri" pitchFamily="34" charset="-122"/>
              <a:cs typeface="Calibri" pitchFamily="34" charset="-120"/>
            </a:endParaRPr>
          </a:p>
          <a:p>
            <a:r>
              <a:rPr lang="en-US" sz="1800" b="1" dirty="0">
                <a:ea typeface="Calibri" pitchFamily="34" charset="-122"/>
                <a:cs typeface="Calibri" pitchFamily="34" charset="-120"/>
              </a:rPr>
              <a:t>Avoid re-running completed models</a:t>
            </a:r>
          </a:p>
          <a:p>
            <a:pPr lvl="1"/>
            <a:r>
              <a:rPr lang="en-US" sz="1600" dirty="0">
                <a:ea typeface="Calibri" pitchFamily="34" charset="-122"/>
                <a:cs typeface="Calibri" pitchFamily="34" charset="-120"/>
              </a:rPr>
              <a:t>Detects code/data changes — only re-runs what's out of date</a:t>
            </a:r>
          </a:p>
          <a:p>
            <a:pPr lvl="1"/>
            <a:endParaRPr lang="en-US" sz="1600" dirty="0">
              <a:ea typeface="Calibri" pitchFamily="34" charset="-122"/>
              <a:cs typeface="Calibri" pitchFamily="34" charset="-120"/>
            </a:endParaRPr>
          </a:p>
          <a:p>
            <a:r>
              <a:rPr lang="en-US" sz="1800" b="1" dirty="0">
                <a:ea typeface="Calibri" pitchFamily="34" charset="-122"/>
                <a:cs typeface="Calibri" pitchFamily="34" charset="-120"/>
              </a:rPr>
              <a:t>Guaranteed reproducibility</a:t>
            </a:r>
          </a:p>
          <a:p>
            <a:pPr lvl="1"/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tar_nlmixr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()</a:t>
            </a:r>
            <a:r>
              <a:rPr lang="en-US" sz="1600" dirty="0">
                <a:ea typeface="Calibri" pitchFamily="34" charset="-122"/>
                <a:cs typeface="Calibri" pitchFamily="34" charset="-120"/>
              </a:rPr>
              <a:t>wraps model + data + estimation into one target.</a:t>
            </a:r>
          </a:p>
          <a:p>
            <a:pPr lvl="1"/>
            <a:endParaRPr lang="en-US" sz="1600" dirty="0">
              <a:ea typeface="Calibri" pitchFamily="34" charset="-122"/>
              <a:cs typeface="Calibri" pitchFamily="34" charset="-120"/>
            </a:endParaRPr>
          </a:p>
          <a:p>
            <a:r>
              <a:rPr lang="en-US" sz="1800" b="1" dirty="0">
                <a:ea typeface="Calibri" pitchFamily="34" charset="-122"/>
                <a:cs typeface="Calibri" pitchFamily="34" charset="-120"/>
              </a:rPr>
              <a:t>Scales to large projects:</a:t>
            </a:r>
          </a:p>
          <a:p>
            <a:pPr lvl="1"/>
            <a:r>
              <a:rPr lang="nl-NL" sz="1600" b="1" dirty="0" err="1">
                <a:solidFill>
                  <a:srgbClr val="C0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tar_nlmixr_multimodel</a:t>
            </a:r>
            <a:r>
              <a:rPr lang="nl-NL" sz="1600" b="1" dirty="0">
                <a:solidFill>
                  <a:srgbClr val="C0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()</a:t>
            </a:r>
            <a:r>
              <a:rPr lang="nl-NL" sz="1600" dirty="0" err="1">
                <a:ea typeface="Calibri" pitchFamily="34" charset="-122"/>
                <a:cs typeface="Calibri" pitchFamily="34" charset="-120"/>
              </a:rPr>
              <a:t>to</a:t>
            </a:r>
            <a:r>
              <a:rPr lang="nl-NL" sz="1600" dirty="0">
                <a:ea typeface="Calibri" pitchFamily="34" charset="-122"/>
                <a:cs typeface="Calibri" pitchFamily="34" charset="-120"/>
              </a:rPr>
              <a:t> run multiple </a:t>
            </a:r>
            <a:r>
              <a:rPr lang="nl-NL" sz="1600" dirty="0" err="1">
                <a:ea typeface="Calibri" pitchFamily="34" charset="-122"/>
                <a:cs typeface="Calibri" pitchFamily="34" charset="-120"/>
              </a:rPr>
              <a:t>models</a:t>
            </a:r>
            <a:r>
              <a:rPr lang="nl-NL" sz="1600" dirty="0">
                <a:ea typeface="Calibri" pitchFamily="34" charset="-122"/>
                <a:cs typeface="Calibri" pitchFamily="34" charset="-120"/>
              </a:rPr>
              <a:t> </a:t>
            </a:r>
            <a:r>
              <a:rPr lang="nl-NL" sz="1600" dirty="0" err="1">
                <a:ea typeface="Calibri" pitchFamily="34" charset="-122"/>
                <a:cs typeface="Calibri" pitchFamily="34" charset="-120"/>
              </a:rPr>
              <a:t>with</a:t>
            </a:r>
            <a:r>
              <a:rPr lang="nl-NL" sz="1600" dirty="0">
                <a:ea typeface="Calibri" pitchFamily="34" charset="-122"/>
                <a:cs typeface="Calibri" pitchFamily="34" charset="-120"/>
              </a:rPr>
              <a:t> </a:t>
            </a:r>
            <a:r>
              <a:rPr lang="nl-NL" sz="1600" dirty="0" err="1">
                <a:ea typeface="Calibri" pitchFamily="34" charset="-122"/>
                <a:cs typeface="Calibri" pitchFamily="34" charset="-120"/>
              </a:rPr>
              <a:t>one</a:t>
            </a:r>
            <a:r>
              <a:rPr lang="nl-NL" sz="1600" dirty="0">
                <a:ea typeface="Calibri" pitchFamily="34" charset="-122"/>
                <a:cs typeface="Calibri" pitchFamily="34" charset="-120"/>
              </a:rPr>
              <a:t> dataset.</a:t>
            </a:r>
          </a:p>
          <a:p>
            <a:pPr lvl="1"/>
            <a:r>
              <a:rPr lang="nl-NL" sz="1600" b="1" dirty="0" err="1">
                <a:solidFill>
                  <a:srgbClr val="C0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tar_nlmixr_multimodel</a:t>
            </a:r>
            <a:r>
              <a:rPr lang="nl-NL" sz="1600" b="1" dirty="0">
                <a:solidFill>
                  <a:srgbClr val="C0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()</a:t>
            </a:r>
            <a:r>
              <a:rPr lang="nl-NL" sz="1600" dirty="0">
                <a:ea typeface="Calibri" pitchFamily="34" charset="-122"/>
                <a:cs typeface="Calibri" pitchFamily="34" charset="-120"/>
              </a:rPr>
              <a:t>supports model </a:t>
            </a:r>
            <a:r>
              <a:rPr lang="nl-NL" sz="1600" dirty="0" err="1">
                <a:ea typeface="Calibri" pitchFamily="34" charset="-122"/>
                <a:cs typeface="Calibri" pitchFamily="34" charset="-120"/>
              </a:rPr>
              <a:t>piping</a:t>
            </a:r>
            <a:r>
              <a:rPr lang="nl-NL" sz="1600" dirty="0">
                <a:ea typeface="Calibri" pitchFamily="34" charset="-122"/>
                <a:cs typeface="Calibri" pitchFamily="34" charset="-120"/>
              </a:rPr>
              <a:t> </a:t>
            </a:r>
            <a:r>
              <a:rPr lang="nl-NL" sz="1600" dirty="0" err="1">
                <a:ea typeface="Calibri" pitchFamily="34" charset="-122"/>
                <a:cs typeface="Calibri" pitchFamily="34" charset="-120"/>
              </a:rPr>
              <a:t>for</a:t>
            </a:r>
            <a:r>
              <a:rPr lang="nl-NL" sz="1600" b="1" dirty="0">
                <a:solidFill>
                  <a:srgbClr val="C0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 </a:t>
            </a:r>
            <a:r>
              <a:rPr lang="nl-NL" sz="1600" b="1" dirty="0">
                <a:solidFill>
                  <a:schemeClr val="tx2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nlmix</a:t>
            </a:r>
            <a:r>
              <a:rPr lang="nl-NL" sz="1600" b="1" dirty="0">
                <a:solidFill>
                  <a:srgbClr val="C0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r2</a:t>
            </a:r>
            <a:r>
              <a:rPr lang="nl-NL" sz="1600" b="1" baseline="30000" dirty="0">
                <a:solidFill>
                  <a:srgbClr val="C0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d</a:t>
            </a:r>
            <a:endParaRPr lang="en-US" sz="1600" baseline="30000" dirty="0"/>
          </a:p>
          <a:p>
            <a:endParaRPr lang="en-US" sz="1800" dirty="0"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BDE83-8C73-F04B-1234-54C8256C6B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D5023-82C8-D113-AA5D-5C84FF01DA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EB7202-A873-8393-F8BC-78FF87F6CC37}"/>
              </a:ext>
            </a:extLst>
          </p:cNvPr>
          <p:cNvSpPr txBox="1"/>
          <p:nvPr/>
        </p:nvSpPr>
        <p:spPr>
          <a:xfrm>
            <a:off x="6312024" y="762885"/>
            <a:ext cx="5260739" cy="56400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library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(targets)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library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(nlmixr2targets)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Define model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pheno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&lt;- 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function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() {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</a:t>
            </a:r>
            <a:r>
              <a:rPr lang="en-US" sz="1000" b="1" dirty="0" err="1">
                <a:solidFill>
                  <a:srgbClr val="B4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ini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({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tcl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&lt;- 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log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(0.008)  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clearance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tv  &lt;- 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log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(0.6)    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volume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eta.cl + </a:t>
            </a:r>
            <a:r>
              <a:rPr lang="en-US" sz="10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eta.v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~ c(1, 0.01, 1)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add.err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&lt;- 0.1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})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rgbClr val="B4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</a:t>
            </a:r>
            <a:r>
              <a:rPr lang="en-US" sz="1000" b="1" dirty="0">
                <a:solidFill>
                  <a:srgbClr val="B4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model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({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cl &lt;- 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exp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</a:t>
            </a:r>
            <a:r>
              <a:rPr lang="en-US" sz="10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tcl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+ eta.cl)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v  &lt;- 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exp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(tv  + </a:t>
            </a:r>
            <a:r>
              <a:rPr lang="en-US" sz="10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eta.v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)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ke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&lt;- cl / v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d/dt(A1) = -</a:t>
            </a:r>
            <a:r>
              <a:rPr lang="en-US" sz="10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ke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* A1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cp = A1 / v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cp ~ 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add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</a:t>
            </a:r>
            <a:r>
              <a:rPr lang="en-US" sz="10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add.err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)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})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}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Build targets pipeline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list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</a:t>
            </a:r>
            <a:r>
              <a:rPr lang="en-US" sz="1000" b="1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tar_nlmixr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name  = </a:t>
            </a:r>
            <a:r>
              <a:rPr lang="en-US" sz="10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pheno_model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,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object = </a:t>
            </a:r>
            <a:r>
              <a:rPr lang="en-US" sz="10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pheno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,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data   = nlmixr2data::</a:t>
            </a:r>
            <a:r>
              <a:rPr lang="en-US" sz="10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pheno_sd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,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est    = "</a:t>
            </a:r>
            <a:r>
              <a:rPr lang="en-US" sz="1000" b="1" dirty="0" err="1">
                <a:solidFill>
                  <a:srgbClr val="B4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saem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"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)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)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Fit the model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mod1 &lt;- </a:t>
            </a:r>
            <a:r>
              <a:rPr lang="en-US" sz="1000" b="1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suppressMessages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</a:t>
            </a:r>
            <a:r>
              <a:rPr lang="en-US" sz="1000" b="1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nlmixr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</a:t>
            </a:r>
            <a:r>
              <a:rPr lang="en-US" sz="10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pheno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, </a:t>
            </a:r>
            <a:r>
              <a:rPr lang="nl-NL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pheno_sd</a:t>
            </a:r>
            <a:r>
              <a:rPr lang="nl-NL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</a:t>
            </a:r>
            <a:r>
              <a:rPr lang="nl-NL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nl-NL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saem</a:t>
            </a:r>
            <a:r>
              <a:rPr lang="nl-NL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, </a:t>
            </a:r>
          </a:p>
          <a:p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control=list(print=0, compress=FALSE))</a:t>
            </a:r>
          </a:p>
          <a:p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)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Run — only re-fits if code/data changed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5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A18769BE-B29C-E4EF-D524-364A846A3B78}"/>
              </a:ext>
            </a:extLst>
          </p:cNvPr>
          <p:cNvSpPr txBox="1"/>
          <p:nvPr/>
        </p:nvSpPr>
        <p:spPr>
          <a:xfrm>
            <a:off x="619237" y="5858688"/>
            <a:ext cx="60975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[a] </a:t>
            </a:r>
            <a:r>
              <a:rPr lang="en-US" sz="105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https://nlmixr2.github.io/nlmixr2targets/</a:t>
            </a:r>
            <a:endParaRPr lang="en-US" sz="105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5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[b] </a:t>
            </a:r>
            <a:r>
              <a:rPr lang="en-US" sz="105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</a:t>
            </a:r>
            <a:r>
              <a:rPr lang="en-US" sz="105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://docs.ropensci.org/targets/</a:t>
            </a:r>
            <a:endParaRPr lang="en-US" sz="1050" b="0" i="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5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[c] </a:t>
            </a:r>
            <a:r>
              <a:rPr lang="en-US" sz="105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https://wlandau.github.io/targetopia/packages.html</a:t>
            </a:r>
            <a:endParaRPr lang="en-US" sz="1050" b="0" i="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5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[d] </a:t>
            </a:r>
            <a:r>
              <a:rPr lang="en-US" sz="105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https://nlmixr2.org/articles/modelPiping.html</a:t>
            </a:r>
            <a:endParaRPr lang="en-US" sz="1050" b="0" i="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2D397CDE-1564-2904-02CA-68D5FD3B2600}"/>
              </a:ext>
            </a:extLst>
          </p:cNvPr>
          <p:cNvSpPr/>
          <p:nvPr/>
        </p:nvSpPr>
        <p:spPr>
          <a:xfrm>
            <a:off x="172353" y="313719"/>
            <a:ext cx="442729" cy="6230561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nl-NL" sz="1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0701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85E7F-C4DE-B4C9-22F2-CC49DA0BD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nlmix</a:t>
            </a:r>
            <a:r>
              <a:rPr lang="en-US" dirty="0"/>
              <a:t>r2</a:t>
            </a:r>
            <a:r>
              <a:rPr lang="nl-NL" dirty="0" err="1"/>
              <a:t>save</a:t>
            </a:r>
            <a:r>
              <a:rPr lang="nl-NL" baseline="30000" dirty="0" err="1"/>
              <a:t>a</a:t>
            </a:r>
            <a:r>
              <a:rPr lang="nl-NL" dirty="0"/>
              <a:t> - </a:t>
            </a:r>
            <a:r>
              <a:rPr lang="en-US" dirty="0"/>
              <a:t>Persistent save and restore of nlmixr2 fit objects</a:t>
            </a:r>
            <a:br>
              <a:rPr lang="en-US" dirty="0"/>
            </a:br>
            <a:r>
              <a:rPr lang="en-US" sz="2200" b="0" dirty="0">
                <a:solidFill>
                  <a:schemeClr val="accent1">
                    <a:lumMod val="50000"/>
                  </a:schemeClr>
                </a:solidFill>
              </a:rPr>
              <a:t>Matt Fidler</a:t>
            </a:r>
            <a:endParaRPr lang="en-GB" sz="2200" b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724A6-C77B-3421-EF78-2158F8F6B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392" y="1196752"/>
            <a:ext cx="5760640" cy="5184576"/>
          </a:xfrm>
        </p:spPr>
        <p:txBody>
          <a:bodyPr>
            <a:normAutofit/>
          </a:bodyPr>
          <a:lstStyle/>
          <a:p>
            <a:r>
              <a:rPr lang="nl-NL" sz="1800" b="1" dirty="0"/>
              <a:t>Smart Model Storage &amp; Retrieval</a:t>
            </a:r>
            <a:endParaRPr lang="en-NL" sz="1800" b="1" dirty="0"/>
          </a:p>
          <a:p>
            <a:pPr lvl="1"/>
            <a:r>
              <a:rPr lang="en-US" sz="1800" dirty="0"/>
              <a:t>Save </a:t>
            </a:r>
            <a:r>
              <a:rPr lang="en-US" sz="1600" b="1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nlmixr2</a:t>
            </a:r>
            <a:r>
              <a:rPr lang="en-US" sz="1600" b="1" baseline="30000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b</a:t>
            </a:r>
            <a:r>
              <a:rPr lang="en-US" sz="1600" b="1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 </a:t>
            </a:r>
            <a:r>
              <a:rPr lang="en-US" sz="1800" dirty="0"/>
              <a:t>fit objects in a compact, portable format that can be read outside R.</a:t>
            </a:r>
          </a:p>
          <a:p>
            <a:pPr lvl="1"/>
            <a:r>
              <a:rPr lang="en-US" sz="1800" dirty="0"/>
              <a:t>Model version saved </a:t>
            </a:r>
            <a:r>
              <a:rPr lang="en-US" sz="1800" b="1" dirty="0"/>
              <a:t>should</a:t>
            </a:r>
            <a:r>
              <a:rPr lang="en-US" sz="1800" dirty="0"/>
              <a:t> be independent of the version of </a:t>
            </a:r>
            <a:r>
              <a:rPr lang="en-US" sz="1600" b="1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rxode2</a:t>
            </a:r>
            <a:r>
              <a:rPr lang="en-US" sz="1800" b="1" baseline="30000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c</a:t>
            </a:r>
            <a:r>
              <a:rPr lang="en-US" sz="1800" dirty="0"/>
              <a:t>and </a:t>
            </a:r>
            <a:r>
              <a:rPr lang="en-US" sz="1600" b="1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nlmixr2</a:t>
            </a:r>
            <a:r>
              <a:rPr lang="en-US" sz="1600" b="1" baseline="30000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b</a:t>
            </a:r>
            <a:endParaRPr lang="en-US" sz="1600" b="1" dirty="0">
              <a:solidFill>
                <a:srgbClr val="B40000"/>
              </a:solidFill>
              <a:latin typeface="Courier New" panose="020703090202050204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pPr lvl="1"/>
            <a:r>
              <a:rPr lang="en-US" sz="1800" dirty="0"/>
              <a:t>Load models instantly without re-fitting</a:t>
            </a:r>
            <a:endParaRPr lang="en-NL" sz="1800" dirty="0"/>
          </a:p>
          <a:p>
            <a:pPr lvl="1"/>
            <a:r>
              <a:rPr lang="en-US" sz="1800" dirty="0"/>
              <a:t>Preserves full fit metadata for downstream use</a:t>
            </a:r>
          </a:p>
          <a:p>
            <a:pPr lvl="1"/>
            <a:r>
              <a:rPr lang="en-US" sz="1800" dirty="0"/>
              <a:t>Automatic Caching: The := operator caches </a:t>
            </a:r>
            <a:r>
              <a:rPr lang="en-US" sz="2000" dirty="0"/>
              <a:t> </a:t>
            </a:r>
            <a:r>
              <a:rPr lang="en-US" sz="1800" b="1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nlmixr2</a:t>
            </a:r>
            <a:r>
              <a:rPr lang="en-US" sz="1800" b="1" baseline="30000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b</a:t>
            </a:r>
            <a:r>
              <a:rPr lang="en-US" sz="1800" b="1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 </a:t>
            </a:r>
            <a:r>
              <a:rPr lang="en-US" sz="1800" dirty="0"/>
              <a:t> fits as R-independent zip files.</a:t>
            </a:r>
          </a:p>
          <a:p>
            <a:r>
              <a:rPr lang="nl-NL" sz="1800" b="1" dirty="0" err="1"/>
              <a:t>Use</a:t>
            </a:r>
            <a:r>
              <a:rPr lang="nl-NL" sz="1800" b="1" dirty="0"/>
              <a:t> cases:</a:t>
            </a:r>
            <a:endParaRPr lang="en-NL" sz="1800" b="1" dirty="0"/>
          </a:p>
          <a:p>
            <a:pPr lvl="1"/>
            <a:r>
              <a:rPr lang="nl-NL" sz="1800" dirty="0"/>
              <a:t>Share fitted models with collaborators</a:t>
            </a:r>
            <a:endParaRPr lang="en-NL" sz="1800" dirty="0"/>
          </a:p>
          <a:p>
            <a:pPr lvl="1"/>
            <a:r>
              <a:rPr lang="nl-NL" sz="1800" dirty="0"/>
              <a:t>Archive models for regulatory documentation</a:t>
            </a:r>
            <a:endParaRPr lang="en-NL" sz="1800" dirty="0"/>
          </a:p>
          <a:p>
            <a:pPr lvl="1"/>
            <a:r>
              <a:rPr lang="en-US" sz="1800" dirty="0"/>
              <a:t>Speed up iterative workflows — fit once, reload many times</a:t>
            </a:r>
          </a:p>
          <a:p>
            <a:pPr lvl="1"/>
            <a:r>
              <a:rPr lang="en-US" sz="1800" dirty="0"/>
              <a:t>Save/restore seed based on simulations</a:t>
            </a:r>
          </a:p>
          <a:p>
            <a:pPr lvl="1"/>
            <a:endParaRPr lang="en-NL" sz="2000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EA3CE3-0C0F-E332-C5B2-093CF84D39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nlmix</a:t>
            </a:r>
            <a:r>
              <a:rPr lang="en-GB" dirty="0">
                <a:solidFill>
                  <a:srgbClr val="B40000"/>
                </a:solidFill>
              </a:rPr>
              <a:t>r</a:t>
            </a:r>
            <a:r>
              <a:rPr lang="en-GB" baseline="30000" dirty="0">
                <a:solidFill>
                  <a:srgbClr val="B40000"/>
                </a:solidFill>
              </a:rPr>
              <a:t>2</a:t>
            </a:r>
            <a:r>
              <a:rPr lang="en-GB" dirty="0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55343-74A8-1716-AEC0-FDC62B4DDF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E1893E3-579B-5E2B-76A4-8EFDC524F4D1}"/>
              </a:ext>
            </a:extLst>
          </p:cNvPr>
          <p:cNvSpPr txBox="1"/>
          <p:nvPr/>
        </p:nvSpPr>
        <p:spPr>
          <a:xfrm>
            <a:off x="6384032" y="806581"/>
            <a:ext cx="5184576" cy="48628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library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(nlmixr2) </a:t>
            </a:r>
          </a:p>
          <a:p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ea typeface="Courier New" pitchFamily="34" charset="-122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install the development version of nlmixr2save from GitHub with:</a:t>
            </a:r>
          </a:p>
          <a:p>
            <a:r>
              <a:rPr lang="en-US" sz="1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remotes::</a:t>
            </a:r>
            <a:r>
              <a:rPr lang="en-US" sz="10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install_github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000" dirty="0">
                <a:solidFill>
                  <a:srgbClr val="B4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nlmixr2/nlmixr2save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library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(nlmixr2save)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Define model</a:t>
            </a:r>
          </a:p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endParaRPr lang="en-US" sz="10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Courier New" pitchFamily="34" charset="-122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Build targets pipeline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mod1 &lt;- </a:t>
            </a:r>
            <a:r>
              <a:rPr lang="en-US" sz="1000" b="1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suppressMessages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</a:t>
            </a:r>
            <a:r>
              <a:rPr lang="en-US" sz="1000" b="1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nlmixr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</a:t>
            </a:r>
            <a:r>
              <a:rPr lang="en-US" sz="10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pheno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, </a:t>
            </a:r>
            <a:r>
              <a:rPr lang="nl-NL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pheno_sd</a:t>
            </a:r>
            <a:r>
              <a:rPr lang="nl-NL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</a:t>
            </a:r>
            <a:r>
              <a:rPr lang="nl-NL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nl-NL" sz="1000" dirty="0" err="1">
                <a:solidFill>
                  <a:srgbClr val="B4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saem</a:t>
            </a:r>
            <a:r>
              <a:rPr lang="nl-NL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, </a:t>
            </a:r>
          </a:p>
          <a:p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		        control=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list(print=0,</a:t>
            </a: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			         compress=FALSE)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))</a:t>
            </a:r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Run — only re-fits if code/data changed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saveFit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mod1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) 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stores everything in a zip folder with the </a:t>
            </a:r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as the model.</a:t>
            </a:r>
          </a:p>
          <a:p>
            <a:endParaRPr lang="en-US" sz="1000" b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b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b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b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b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automatically load a fit if the arguments for nlmixr2 do not change by using the := cached assignment operator introduced in this package</a:t>
            </a:r>
          </a:p>
          <a:p>
            <a:endParaRPr lang="en-US" sz="1000" b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fitF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US" sz="1000" b="1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nlmixr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</a:t>
            </a:r>
            <a:r>
              <a:rPr lang="en-US" sz="10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pheno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, </a:t>
            </a:r>
            <a:r>
              <a:rPr lang="nl-NL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pheno_sd</a:t>
            </a:r>
            <a:r>
              <a:rPr lang="nl-NL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</a:t>
            </a:r>
            <a:r>
              <a:rPr lang="nl-NL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nl-NL" sz="1000" dirty="0" err="1">
                <a:solidFill>
                  <a:srgbClr val="B4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saem</a:t>
            </a:r>
            <a:r>
              <a:rPr lang="nl-NL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, </a:t>
            </a:r>
          </a:p>
          <a:p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		        control=</a:t>
            </a: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list(print=0,</a:t>
            </a:r>
          </a:p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			         compress=FALSE)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))</a:t>
            </a:r>
          </a:p>
          <a:p>
            <a:endParaRPr lang="en-US" sz="10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B1F8E898-4056-D002-DAF7-881042C21055}"/>
              </a:ext>
            </a:extLst>
          </p:cNvPr>
          <p:cNvSpPr txBox="1"/>
          <p:nvPr/>
        </p:nvSpPr>
        <p:spPr>
          <a:xfrm>
            <a:off x="658640" y="5947050"/>
            <a:ext cx="609750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[a] </a:t>
            </a:r>
            <a:r>
              <a:rPr lang="en-US" sz="105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https://nlmixr2.github.io/nlmixr2save/index.html</a:t>
            </a:r>
            <a:endParaRPr lang="en-US" sz="1050" b="0" i="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5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[b] </a:t>
            </a:r>
            <a:r>
              <a:rPr lang="en-US" sz="105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https://nlmixr2.org/</a:t>
            </a:r>
            <a:endParaRPr lang="en-US" sz="105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5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[c} </a:t>
            </a:r>
            <a:r>
              <a:rPr lang="en-US" sz="105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https://nlmixrdevelopment.github.io/RxODE/</a:t>
            </a:r>
            <a:endParaRPr lang="en-US" sz="1050" b="0" i="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97D4BC4C-E0B2-FFF2-8433-0CBEF6F8D4B0}"/>
              </a:ext>
            </a:extLst>
          </p:cNvPr>
          <p:cNvSpPr/>
          <p:nvPr/>
        </p:nvSpPr>
        <p:spPr>
          <a:xfrm>
            <a:off x="172353" y="313719"/>
            <a:ext cx="442729" cy="6230561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nl-NL" sz="1600">
              <a:solidFill>
                <a:schemeClr val="tx2"/>
              </a:solidFill>
              <a:latin typeface="Calibri" panose="020F0502020204030204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165454-37DE-D232-AC3E-F7CCFE7E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287" y="111650"/>
            <a:ext cx="1282352" cy="1282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960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2415-8621-486E-99CB-52E2AFFAC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1" y="55725"/>
            <a:ext cx="10070439" cy="985909"/>
          </a:xfrm>
        </p:spPr>
        <p:txBody>
          <a:bodyPr>
            <a:normAutofit fontScale="90000"/>
          </a:bodyPr>
          <a:lstStyle/>
          <a:p>
            <a:r>
              <a:rPr lang="en-GB" sz="2400" i="1" dirty="0" err="1">
                <a:solidFill>
                  <a:schemeClr val="tx2"/>
                </a:solidFill>
                <a:latin typeface="+mn-lt"/>
              </a:rPr>
              <a:t>shiny</a:t>
            </a:r>
            <a:r>
              <a:rPr lang="en-GB" sz="2400" dirty="0" err="1">
                <a:solidFill>
                  <a:schemeClr val="tx2"/>
                </a:solidFill>
                <a:latin typeface="+mn-lt"/>
              </a:rPr>
              <a:t>Mix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nl-NL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0" lang="nl-NL" sz="2000" b="0" i="0" u="none" strike="noStrike" kern="1200" cap="none" spc="0" normalizeH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nl-NL" sz="2400" dirty="0">
                <a:latin typeface="+mn-lt"/>
              </a:rPr>
              <a:t>- </a:t>
            </a:r>
            <a:r>
              <a:rPr lang="en-US" sz="2200" dirty="0">
                <a:latin typeface="+mn-lt"/>
              </a:rPr>
              <a:t>Interactive Shiny dashboard for project-centric </a:t>
            </a:r>
            <a:r>
              <a:rPr lang="en-US" sz="2200" dirty="0">
                <a:solidFill>
                  <a:schemeClr val="tx2"/>
                </a:solidFill>
              </a:rPr>
              <a:t>nlmix</a:t>
            </a:r>
            <a:r>
              <a:rPr lang="en-US" sz="2200" dirty="0"/>
              <a:t>r2</a:t>
            </a:r>
            <a:r>
              <a:rPr lang="en-US" sz="2200" dirty="0">
                <a:latin typeface="+mn-lt"/>
              </a:rPr>
              <a:t> workflows </a:t>
            </a:r>
            <a:br>
              <a:rPr lang="en-US" sz="2400" dirty="0">
                <a:latin typeface="+mn-lt"/>
              </a:rPr>
            </a:br>
            <a:r>
              <a:rPr lang="en-GB" sz="24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Richard </a:t>
            </a:r>
            <a:r>
              <a:rPr lang="en-GB" sz="2400" b="0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Hooijmaijers</a:t>
            </a:r>
            <a:r>
              <a:rPr lang="en-GB" sz="24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63FCAC-4DF6-42BA-9DE4-03BEBB350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7AE42-719F-4269-950A-C78ABB219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124743"/>
            <a:ext cx="4752529" cy="5229647"/>
          </a:xfrm>
        </p:spPr>
        <p:txBody>
          <a:bodyPr>
            <a:normAutofit/>
          </a:bodyPr>
          <a:lstStyle/>
          <a:p>
            <a:r>
              <a:rPr lang="en-US" sz="1800" dirty="0"/>
              <a:t>Manage, edit, run, compare, </a:t>
            </a:r>
            <a:r>
              <a:rPr lang="en-US" sz="1800" dirty="0" err="1"/>
              <a:t>analyse</a:t>
            </a:r>
            <a:r>
              <a:rPr lang="en-US" sz="1800" dirty="0"/>
              <a:t> and report </a:t>
            </a:r>
            <a:r>
              <a:rPr lang="en-US" sz="1800" b="1" dirty="0">
                <a:solidFill>
                  <a:srgbClr val="B4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nlmixr2</a:t>
            </a:r>
            <a:r>
              <a:rPr lang="nl-NL" sz="1800" baseline="30000" dirty="0"/>
              <a:t>b</a:t>
            </a:r>
            <a:r>
              <a:rPr lang="en-US" sz="1800" dirty="0"/>
              <a:t> models from a </a:t>
            </a:r>
            <a:r>
              <a:rPr lang="en-US" sz="1800" b="1" dirty="0"/>
              <a:t>GUI</a:t>
            </a:r>
          </a:p>
          <a:p>
            <a:pPr marL="285750"/>
            <a:r>
              <a:rPr lang="en-US" sz="1800" dirty="0"/>
              <a:t>Built-in GOF and fit plots via </a:t>
            </a:r>
            <a:r>
              <a:rPr lang="en-GB" sz="1800" b="1" dirty="0">
                <a:solidFill>
                  <a:srgbClr val="B4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xpose.nlmixr2</a:t>
            </a:r>
            <a:r>
              <a:rPr lang="nl-NL" sz="1800" baseline="30000" dirty="0"/>
              <a:t>c</a:t>
            </a:r>
            <a:r>
              <a:rPr lang="en-GB" sz="1800" b="1" dirty="0">
                <a:solidFill>
                  <a:srgbClr val="B4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/>
              <a:t>package (or </a:t>
            </a:r>
            <a:r>
              <a:rPr lang="en-GB" sz="1800" b="1" dirty="0">
                <a:solidFill>
                  <a:srgbClr val="B4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ggplot2</a:t>
            </a:r>
            <a:r>
              <a:rPr lang="nl-NL" sz="1800" baseline="30000" dirty="0"/>
              <a:t>d</a:t>
            </a:r>
            <a:r>
              <a:rPr lang="en-GB" sz="1800" dirty="0"/>
              <a:t>)</a:t>
            </a:r>
          </a:p>
          <a:p>
            <a:r>
              <a:rPr lang="en-GB" sz="1800" dirty="0"/>
              <a:t>The interface is created using the </a:t>
            </a:r>
            <a:r>
              <a:rPr lang="en-GB" sz="1800" b="1" dirty="0">
                <a:solidFill>
                  <a:srgbClr val="B4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shiny</a:t>
            </a:r>
            <a:r>
              <a:rPr lang="nl-NL" sz="1800" baseline="30000" dirty="0"/>
              <a:t> e </a:t>
            </a:r>
            <a:r>
              <a:rPr lang="en-GB" sz="1800" dirty="0"/>
              <a:t>and </a:t>
            </a:r>
            <a:r>
              <a:rPr lang="en-GB" sz="1800" b="1" dirty="0" err="1">
                <a:solidFill>
                  <a:srgbClr val="B4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shinydasboard</a:t>
            </a:r>
            <a:r>
              <a:rPr lang="nl-NL" sz="1800" baseline="30000" dirty="0"/>
              <a:t>f</a:t>
            </a:r>
            <a:r>
              <a:rPr lang="en-GB" sz="1800" dirty="0"/>
              <a:t> packages</a:t>
            </a:r>
          </a:p>
          <a:p>
            <a:r>
              <a:rPr lang="en-US" sz="1800" dirty="0"/>
              <a:t>Project-centric structure: models / data / runs</a:t>
            </a:r>
            <a:r>
              <a:rPr lang="en-GB" sz="1800" dirty="0"/>
              <a:t>.</a:t>
            </a:r>
          </a:p>
          <a:p>
            <a:r>
              <a:rPr lang="en-US" sz="1800" dirty="0"/>
              <a:t>Model tree view to track model development lineage</a:t>
            </a:r>
          </a:p>
          <a:p>
            <a:r>
              <a:rPr lang="en-US" sz="1800" dirty="0"/>
              <a:t>Update initial estimates from previous model run</a:t>
            </a:r>
          </a:p>
          <a:p>
            <a:r>
              <a:rPr lang="en-US" sz="1800" dirty="0"/>
              <a:t>Export reports in PDF and HTML via </a:t>
            </a:r>
            <a:r>
              <a:rPr lang="en-US" sz="1800" b="1" dirty="0">
                <a:solidFill>
                  <a:srgbClr val="B4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R3port</a:t>
            </a:r>
            <a:r>
              <a:rPr lang="nl-NL" sz="2000" baseline="30000" dirty="0"/>
              <a:t>g</a:t>
            </a:r>
            <a:br>
              <a:rPr lang="en-US" dirty="0"/>
            </a:br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B61D-D92A-47FE-B759-B4A779B0E0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488" y="123830"/>
            <a:ext cx="1341185" cy="450638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932BD006-0EE2-E574-083A-DDBF2E132C87}"/>
              </a:ext>
            </a:extLst>
          </p:cNvPr>
          <p:cNvSpPr txBox="1"/>
          <p:nvPr/>
        </p:nvSpPr>
        <p:spPr>
          <a:xfrm>
            <a:off x="5497761" y="4421125"/>
            <a:ext cx="1156860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[a] 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https://nlmixr2.github.io/nlmixr2 </a:t>
            </a:r>
            <a:endParaRPr lang="en-US" sz="1100" b="0" i="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None/>
            </a:pPr>
            <a:r>
              <a:rPr lang="en-US" sz="110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[b] </a:t>
            </a:r>
            <a:r>
              <a:rPr lang="en-US" sz="110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https://github.com/nlmixr2/xpose.nlmixr2</a:t>
            </a:r>
            <a:r>
              <a:rPr lang="en-US" sz="110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10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https://cran.r-project.org/packages/xpose.nlmixr2 </a:t>
            </a:r>
            <a:br>
              <a:rPr lang="en-US" sz="110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[c] </a:t>
            </a:r>
            <a:r>
              <a:rPr lang="en-US" sz="110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https://ggplot2.tidyverse.org/</a:t>
            </a:r>
            <a:endParaRPr lang="en-US" sz="1100" b="0" i="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[d] </a:t>
            </a:r>
            <a:r>
              <a:rPr lang="en-US" sz="110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https://github.com/RichardHooijmaijers/shinyMixR 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</a:p>
          <a:p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     https://richardhooijmaijers.github.io/shinyMixR/articles/shinyMixR-vignette.html </a:t>
            </a:r>
            <a:br>
              <a:rPr lang="en-US" sz="110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[e] </a:t>
            </a:r>
            <a:r>
              <a:rPr lang="en-US" sz="110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9"/>
              </a:rPr>
              <a:t>https://shiny.posit.co/</a:t>
            </a:r>
            <a:endParaRPr lang="en-US" sz="1100" b="0" i="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[f] 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0"/>
              </a:rPr>
              <a:t>https://rstudio.github.io/shinydashboard/</a:t>
            </a:r>
            <a:endParaRPr lang="en-US" sz="11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[g] 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1"/>
              </a:rPr>
              <a:t>https://cran.r-project.org/web/packages/R3port/index.html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 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2"/>
              </a:rPr>
              <a:t>https://github.com/RichardHooijmaijers/R3port</a:t>
            </a:r>
            <a:endParaRPr lang="nl-NL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16D8FF2-1BFF-EF4D-DDE7-64962DAD7088}"/>
              </a:ext>
            </a:extLst>
          </p:cNvPr>
          <p:cNvSpPr/>
          <p:nvPr/>
        </p:nvSpPr>
        <p:spPr>
          <a:xfrm>
            <a:off x="202839" y="123830"/>
            <a:ext cx="442729" cy="6230561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nl-NL" sz="1600">
              <a:solidFill>
                <a:schemeClr val="tx2"/>
              </a:solidFill>
              <a:latin typeface="Calibri" panose="020F0502020204030204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717A817-40A8-47BA-B426-B4DF0FBB6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7969" y="956260"/>
            <a:ext cx="6241704" cy="311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123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515DB-B361-35D5-00C3-16440AB4F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2"/>
                </a:solidFill>
              </a:rPr>
              <a:t>nlmix</a:t>
            </a:r>
            <a:r>
              <a:rPr lang="en-US" dirty="0" err="1"/>
              <a:t>r</a:t>
            </a:r>
            <a:r>
              <a:rPr lang="nl-NL" dirty="0"/>
              <a:t>2shiny</a:t>
            </a:r>
            <a:r>
              <a:rPr lang="nl-NL" baseline="30000" dirty="0"/>
              <a:t>a</a:t>
            </a:r>
            <a:r>
              <a:rPr lang="nl-NL" dirty="0"/>
              <a:t> - </a:t>
            </a:r>
            <a:r>
              <a:rPr lang="en-US" dirty="0"/>
              <a:t>Shiny UI for the nlmixr2lib model library</a:t>
            </a:r>
            <a:br>
              <a:rPr lang="en-US" dirty="0"/>
            </a:br>
            <a:r>
              <a:rPr lang="en-US" b="0" dirty="0">
                <a:solidFill>
                  <a:schemeClr val="accent1">
                    <a:lumMod val="50000"/>
                  </a:schemeClr>
                </a:solidFill>
              </a:rPr>
              <a:t>Matt Fidler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073DEE-AEFD-1F04-06E0-ED76CC13F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EEADA2-57EA-838C-878B-6A4E1D3CB4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0BA296-FEFA-8145-792C-2BF7C3BBF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392" y="1196752"/>
            <a:ext cx="5472608" cy="5184576"/>
          </a:xfrm>
        </p:spPr>
        <p:txBody>
          <a:bodyPr>
            <a:normAutofit fontScale="55000" lnSpcReduction="20000"/>
          </a:bodyPr>
          <a:lstStyle/>
          <a:p>
            <a:r>
              <a:rPr lang="en-US" sz="2900" b="1" dirty="0">
                <a:ea typeface="Calibri" panose="020F0502020204030204" pitchFamily="34" charset="0"/>
                <a:cs typeface="Calibri" panose="020F0502020204030204" pitchFamily="34" charset="0"/>
              </a:rPr>
              <a:t>Point-and-click interface </a:t>
            </a:r>
            <a:r>
              <a:rPr lang="en-US" sz="2900" dirty="0">
                <a:ea typeface="Calibri" panose="020F0502020204030204" pitchFamily="34" charset="0"/>
                <a:cs typeface="Calibri" panose="020F0502020204030204" pitchFamily="34" charset="0"/>
              </a:rPr>
              <a:t>to the </a:t>
            </a:r>
            <a:r>
              <a:rPr lang="en-US" sz="2900" b="1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nlmixr2lib</a:t>
            </a:r>
            <a:r>
              <a:rPr lang="en-US" sz="2900" b="1" baseline="30000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b</a:t>
            </a:r>
            <a:r>
              <a:rPr lang="en-US" sz="2900" b="1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 </a:t>
            </a:r>
            <a:r>
              <a:rPr lang="en-US" sz="2900" dirty="0">
                <a:ea typeface="Calibri" panose="020F0502020204030204" pitchFamily="34" charset="0"/>
                <a:cs typeface="Calibri" panose="020F0502020204030204" pitchFamily="34" charset="0"/>
              </a:rPr>
              <a:t>library — no model code required.</a:t>
            </a:r>
          </a:p>
          <a:p>
            <a:pPr marL="0" indent="0">
              <a:buNone/>
            </a:pPr>
            <a:endParaRPr lang="en-US" sz="29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900" b="1" dirty="0">
                <a:ea typeface="Calibri" panose="020F0502020204030204" pitchFamily="34" charset="0"/>
                <a:cs typeface="Calibri" panose="020F0502020204030204" pitchFamily="34" charset="0"/>
              </a:rPr>
              <a:t>Modular model builder </a:t>
            </a:r>
            <a:r>
              <a:rPr lang="en-US" sz="2900" dirty="0">
                <a:ea typeface="Calibri" panose="020F0502020204030204" pitchFamily="34" charset="0"/>
                <a:cs typeface="Calibri" panose="020F0502020204030204" pitchFamily="34" charset="0"/>
              </a:rPr>
              <a:t>for simple PK/PD models:</a:t>
            </a:r>
          </a:p>
          <a:p>
            <a:pPr lvl="1"/>
            <a:r>
              <a:rPr lang="en-US" sz="2900" dirty="0">
                <a:ea typeface="Calibri" panose="020F0502020204030204" pitchFamily="34" charset="0"/>
                <a:cs typeface="Calibri" panose="020F0502020204030204" pitchFamily="34" charset="0"/>
              </a:rPr>
              <a:t>1-3 compartment models </a:t>
            </a:r>
          </a:p>
          <a:p>
            <a:pPr lvl="1"/>
            <a:r>
              <a:rPr lang="en-US" sz="2900" dirty="0">
                <a:ea typeface="Calibri" panose="020F0502020204030204" pitchFamily="34" charset="0"/>
                <a:cs typeface="Calibri" panose="020F0502020204030204" pitchFamily="34" charset="0"/>
              </a:rPr>
              <a:t>Various absorption models: IV bolus / infusion, first order, Weibull and transit compartment models.</a:t>
            </a:r>
          </a:p>
          <a:p>
            <a:pPr lvl="1"/>
            <a:r>
              <a:rPr lang="en-US" sz="2900" dirty="0">
                <a:ea typeface="Calibri" panose="020F0502020204030204" pitchFamily="34" charset="0"/>
                <a:cs typeface="Calibri" panose="020F0502020204030204" pitchFamily="34" charset="0"/>
              </a:rPr>
              <a:t>Simple link to PD with direct effect models, indirect effects models and effect compartment model.</a:t>
            </a:r>
          </a:p>
          <a:p>
            <a:endParaRPr lang="en-US" sz="29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900" b="1" dirty="0">
                <a:ea typeface="Calibri" panose="020F0502020204030204" pitchFamily="34" charset="0"/>
                <a:cs typeface="Calibri" panose="020F0502020204030204" pitchFamily="34" charset="0"/>
              </a:rPr>
              <a:t>Explore the </a:t>
            </a:r>
            <a:r>
              <a:rPr lang="en-US" sz="2900" b="1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nlmixr2lib</a:t>
            </a:r>
            <a:r>
              <a:rPr lang="en-US" sz="2900" b="1" baseline="30000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b</a:t>
            </a:r>
            <a:r>
              <a:rPr lang="en-US" sz="2900" b="1" dirty="0">
                <a:ea typeface="Calibri" panose="020F0502020204030204" pitchFamily="34" charset="0"/>
                <a:cs typeface="Calibri" panose="020F0502020204030204" pitchFamily="34" charset="0"/>
              </a:rPr>
              <a:t> library interactively</a:t>
            </a:r>
          </a:p>
          <a:p>
            <a:pPr lvl="1"/>
            <a:r>
              <a:rPr lang="en-US" sz="2900" b="1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nlmixr2shiny</a:t>
            </a:r>
            <a:r>
              <a:rPr lang="en-US" sz="2900" b="1" baseline="30000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a</a:t>
            </a:r>
            <a:r>
              <a:rPr lang="en-US" sz="2900" dirty="0">
                <a:solidFill>
                  <a:srgbClr val="1C2B3A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provides Shiny interface to the PK/PD/disease model library in </a:t>
            </a:r>
            <a:r>
              <a:rPr lang="en-US" sz="2900" b="1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nlmixr2lib</a:t>
            </a:r>
            <a:r>
              <a:rPr lang="en-US" sz="2900" b="1" baseline="30000" dirty="0">
                <a:solidFill>
                  <a:srgbClr val="B40000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b</a:t>
            </a:r>
            <a:r>
              <a:rPr lang="en-US" sz="2900" dirty="0">
                <a:solidFill>
                  <a:srgbClr val="1C2B3A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— browse, configure, and launch models without writing model code from scratch.</a:t>
            </a:r>
          </a:p>
          <a:p>
            <a:pPr lvl="1"/>
            <a:endParaRPr lang="en-US" sz="2900" dirty="0">
              <a:solidFill>
                <a:srgbClr val="1C2B3A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900" b="1" dirty="0">
                <a:ea typeface="Calibri" panose="020F0502020204030204" pitchFamily="34" charset="0"/>
                <a:cs typeface="Calibri" panose="020F0502020204030204" pitchFamily="34" charset="0"/>
              </a:rPr>
              <a:t>Easy exploration </a:t>
            </a:r>
            <a:r>
              <a:rPr lang="en-US" sz="2900" dirty="0"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900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900" dirty="0">
                <a:ea typeface="Calibri" panose="020F0502020204030204" pitchFamily="34" charset="0"/>
                <a:cs typeface="Calibri" panose="020F0502020204030204" pitchFamily="34" charset="0"/>
              </a:rPr>
              <a:t>the impact of changing model parameters.</a:t>
            </a:r>
          </a:p>
          <a:p>
            <a:pPr marL="0" indent="0">
              <a:buNone/>
            </a:pPr>
            <a:b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nl-NL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9718259-5DFF-7F3C-664E-41D3574C0D5F}"/>
              </a:ext>
            </a:extLst>
          </p:cNvPr>
          <p:cNvSpPr/>
          <p:nvPr/>
        </p:nvSpPr>
        <p:spPr>
          <a:xfrm>
            <a:off x="152039" y="313719"/>
            <a:ext cx="442729" cy="6230561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nl-NL" sz="1600">
              <a:solidFill>
                <a:schemeClr val="tx2"/>
              </a:solidFill>
              <a:latin typeface="Calibri" panose="020F0502020204030204"/>
            </a:endParaRPr>
          </a:p>
        </p:txBody>
      </p:sp>
      <p:grpSp>
        <p:nvGrpSpPr>
          <p:cNvPr id="17" name="Groep 16">
            <a:extLst>
              <a:ext uri="{FF2B5EF4-FFF2-40B4-BE49-F238E27FC236}">
                <a16:creationId xmlns:a16="http://schemas.microsoft.com/office/drawing/2014/main" id="{D471BA89-7E54-FCE5-CE32-403D2D6E128E}"/>
              </a:ext>
            </a:extLst>
          </p:cNvPr>
          <p:cNvGrpSpPr/>
          <p:nvPr/>
        </p:nvGrpSpPr>
        <p:grpSpPr>
          <a:xfrm>
            <a:off x="6497378" y="641806"/>
            <a:ext cx="4470667" cy="2041101"/>
            <a:chOff x="6469093" y="896299"/>
            <a:chExt cx="5472608" cy="2021927"/>
          </a:xfrm>
        </p:grpSpPr>
        <p:sp>
          <p:nvSpPr>
            <p:cNvPr id="11" name="Shape 21">
              <a:extLst>
                <a:ext uri="{FF2B5EF4-FFF2-40B4-BE49-F238E27FC236}">
                  <a16:creationId xmlns:a16="http://schemas.microsoft.com/office/drawing/2014/main" id="{C1EABBBC-C90A-E0A7-F0E8-7726CDAB4C1F}"/>
                </a:ext>
              </a:extLst>
            </p:cNvPr>
            <p:cNvSpPr/>
            <p:nvPr/>
          </p:nvSpPr>
          <p:spPr>
            <a:xfrm>
              <a:off x="6469093" y="896299"/>
              <a:ext cx="5472608" cy="202192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CE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nl-NL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9" name="Picture 71">
              <a:extLst>
                <a:ext uri="{FF2B5EF4-FFF2-40B4-BE49-F238E27FC236}">
                  <a16:creationId xmlns:a16="http://schemas.microsoft.com/office/drawing/2014/main" id="{DD8DAE3E-5B2F-BAFC-FE59-CF6F773EB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39233" y="969982"/>
              <a:ext cx="5089544" cy="1824451"/>
            </a:xfrm>
            <a:prstGeom prst="rect">
              <a:avLst/>
            </a:prstGeom>
          </p:spPr>
        </p:pic>
      </p:grpSp>
      <p:grpSp>
        <p:nvGrpSpPr>
          <p:cNvPr id="18" name="Groep 17">
            <a:extLst>
              <a:ext uri="{FF2B5EF4-FFF2-40B4-BE49-F238E27FC236}">
                <a16:creationId xmlns:a16="http://schemas.microsoft.com/office/drawing/2014/main" id="{E1477C6D-4440-2483-FACE-ADC072BA5CD4}"/>
              </a:ext>
            </a:extLst>
          </p:cNvPr>
          <p:cNvGrpSpPr/>
          <p:nvPr/>
        </p:nvGrpSpPr>
        <p:grpSpPr>
          <a:xfrm>
            <a:off x="7721333" y="2364721"/>
            <a:ext cx="4470667" cy="2041101"/>
            <a:chOff x="6469093" y="3063770"/>
            <a:chExt cx="5472608" cy="2021927"/>
          </a:xfrm>
        </p:grpSpPr>
        <p:sp>
          <p:nvSpPr>
            <p:cNvPr id="12" name="Shape 21">
              <a:extLst>
                <a:ext uri="{FF2B5EF4-FFF2-40B4-BE49-F238E27FC236}">
                  <a16:creationId xmlns:a16="http://schemas.microsoft.com/office/drawing/2014/main" id="{00361BFD-5026-78F0-AB9F-6053C784F466}"/>
                </a:ext>
              </a:extLst>
            </p:cNvPr>
            <p:cNvSpPr/>
            <p:nvPr/>
          </p:nvSpPr>
          <p:spPr>
            <a:xfrm>
              <a:off x="6469093" y="3063770"/>
              <a:ext cx="5472608" cy="202192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CE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nl-NL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13" name="Picture 73">
              <a:extLst>
                <a:ext uri="{FF2B5EF4-FFF2-40B4-BE49-F238E27FC236}">
                  <a16:creationId xmlns:a16="http://schemas.microsoft.com/office/drawing/2014/main" id="{00F9EAC3-549C-7E78-7E7F-8D3164556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0426" y="3188680"/>
              <a:ext cx="4509922" cy="1772105"/>
            </a:xfrm>
            <a:prstGeom prst="rect">
              <a:avLst/>
            </a:prstGeom>
          </p:spPr>
        </p:pic>
      </p:grpSp>
      <p:grpSp>
        <p:nvGrpSpPr>
          <p:cNvPr id="16" name="Groep 15">
            <a:extLst>
              <a:ext uri="{FF2B5EF4-FFF2-40B4-BE49-F238E27FC236}">
                <a16:creationId xmlns:a16="http://schemas.microsoft.com/office/drawing/2014/main" id="{B01C6F5B-B458-BEF6-AA43-2C2D87F9B692}"/>
              </a:ext>
            </a:extLst>
          </p:cNvPr>
          <p:cNvGrpSpPr/>
          <p:nvPr/>
        </p:nvGrpSpPr>
        <p:grpSpPr>
          <a:xfrm>
            <a:off x="6323436" y="4405821"/>
            <a:ext cx="4470667" cy="2041101"/>
            <a:chOff x="6432590" y="5872778"/>
            <a:chExt cx="5472608" cy="2021927"/>
          </a:xfrm>
        </p:grpSpPr>
        <p:sp>
          <p:nvSpPr>
            <p:cNvPr id="15" name="Shape 21">
              <a:extLst>
                <a:ext uri="{FF2B5EF4-FFF2-40B4-BE49-F238E27FC236}">
                  <a16:creationId xmlns:a16="http://schemas.microsoft.com/office/drawing/2014/main" id="{7BB44E22-F7AB-3507-1E64-6BFFA36CA7F7}"/>
                </a:ext>
              </a:extLst>
            </p:cNvPr>
            <p:cNvSpPr/>
            <p:nvPr/>
          </p:nvSpPr>
          <p:spPr>
            <a:xfrm>
              <a:off x="6432590" y="5872778"/>
              <a:ext cx="5472608" cy="202192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CE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nl-NL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14" name="Picture 10">
              <a:extLst>
                <a:ext uri="{FF2B5EF4-FFF2-40B4-BE49-F238E27FC236}">
                  <a16:creationId xmlns:a16="http://schemas.microsoft.com/office/drawing/2014/main" id="{A2968642-D1DA-02E6-268C-E857BF7C3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23427" y="5930789"/>
              <a:ext cx="4360400" cy="1838349"/>
            </a:xfrm>
            <a:prstGeom prst="rect">
              <a:avLst/>
            </a:prstGeom>
          </p:spPr>
        </p:pic>
      </p:grpSp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CEBCD41A-7C8F-7B33-499C-5E518F51ED0A}"/>
              </a:ext>
            </a:extLst>
          </p:cNvPr>
          <p:cNvCxnSpPr/>
          <p:nvPr/>
        </p:nvCxnSpPr>
        <p:spPr>
          <a:xfrm flipV="1">
            <a:off x="5870165" y="2109217"/>
            <a:ext cx="936000" cy="648072"/>
          </a:xfrm>
          <a:prstGeom prst="straightConnector1">
            <a:avLst/>
          </a:prstGeom>
          <a:ln w="8572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75A0229C-1220-E11E-587D-A98840907E03}"/>
              </a:ext>
            </a:extLst>
          </p:cNvPr>
          <p:cNvCxnSpPr>
            <a:cxnSpLocks/>
          </p:cNvCxnSpPr>
          <p:nvPr/>
        </p:nvCxnSpPr>
        <p:spPr>
          <a:xfrm flipV="1">
            <a:off x="5870165" y="3669754"/>
            <a:ext cx="2026035" cy="263302"/>
          </a:xfrm>
          <a:prstGeom prst="straightConnector1">
            <a:avLst/>
          </a:prstGeom>
          <a:ln w="8572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F4BC2ECE-16F9-4096-5818-3FA7BC0E1D36}"/>
              </a:ext>
            </a:extLst>
          </p:cNvPr>
          <p:cNvCxnSpPr>
            <a:cxnSpLocks/>
          </p:cNvCxnSpPr>
          <p:nvPr/>
        </p:nvCxnSpPr>
        <p:spPr>
          <a:xfrm>
            <a:off x="5375920" y="5426371"/>
            <a:ext cx="1121458" cy="263302"/>
          </a:xfrm>
          <a:prstGeom prst="straightConnector1">
            <a:avLst/>
          </a:prstGeom>
          <a:ln w="8572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kstvak 24">
            <a:extLst>
              <a:ext uri="{FF2B5EF4-FFF2-40B4-BE49-F238E27FC236}">
                <a16:creationId xmlns:a16="http://schemas.microsoft.com/office/drawing/2014/main" id="{BBB966C8-2B2F-E5BF-9D78-6A2C5ABA6B3E}"/>
              </a:ext>
            </a:extLst>
          </p:cNvPr>
          <p:cNvSpPr txBox="1"/>
          <p:nvPr/>
        </p:nvSpPr>
        <p:spPr>
          <a:xfrm>
            <a:off x="594768" y="6077675"/>
            <a:ext cx="746407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[a] </a:t>
            </a:r>
            <a:r>
              <a:rPr lang="en-US" sz="1050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https://github.com/nlmixr2/nlmixr2shiny</a:t>
            </a:r>
            <a:endParaRPr lang="en-US" sz="1050" b="0" i="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5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[b] </a:t>
            </a:r>
            <a:r>
              <a:rPr lang="nl-N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https://nlmixr2.github.io/nlmixr2lib/</a:t>
            </a:r>
            <a:r>
              <a:rPr lang="nl-N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NL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nl-N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nl-NL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https://cloud.r-project.org/web/packages/nlmixr2lib/index.html</a:t>
            </a:r>
            <a:endParaRPr lang="nl-NL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50" b="0" i="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092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800A0F-D00C-8CEB-F1CD-53597C411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7" y="103316"/>
            <a:ext cx="10945216" cy="985909"/>
          </a:xfrm>
        </p:spPr>
        <p:txBody>
          <a:bodyPr/>
          <a:lstStyle/>
          <a:p>
            <a:r>
              <a:rPr lang="nl-NL"/>
              <a:t>Tool Comparison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D83C53-415A-C3DE-AB8B-81A7E98172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2611C2E-6DB2-E48D-5724-2BFCB13F38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45C990B-21D7-BC64-0AAE-8B67C0E60B85}"/>
              </a:ext>
            </a:extLst>
          </p:cNvPr>
          <p:cNvSpPr/>
          <p:nvPr/>
        </p:nvSpPr>
        <p:spPr>
          <a:xfrm>
            <a:off x="623391" y="1230992"/>
            <a:ext cx="3417466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nl-NL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75F3A9F-DEA0-B466-6620-F1C54DCA62A3}"/>
              </a:ext>
            </a:extLst>
          </p:cNvPr>
          <p:cNvSpPr/>
          <p:nvPr/>
        </p:nvSpPr>
        <p:spPr>
          <a:xfrm>
            <a:off x="669112" y="1249280"/>
            <a:ext cx="2987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9" name="Groep 58">
            <a:extLst>
              <a:ext uri="{FF2B5EF4-FFF2-40B4-BE49-F238E27FC236}">
                <a16:creationId xmlns:a16="http://schemas.microsoft.com/office/drawing/2014/main" id="{E34C8449-8C01-9E6B-15E8-B4B8B8354D53}"/>
              </a:ext>
            </a:extLst>
          </p:cNvPr>
          <p:cNvGrpSpPr/>
          <p:nvPr/>
        </p:nvGrpSpPr>
        <p:grpSpPr>
          <a:xfrm>
            <a:off x="4161097" y="1221359"/>
            <a:ext cx="1845720" cy="347472"/>
            <a:chOff x="4604805" y="1238100"/>
            <a:chExt cx="1845720" cy="347472"/>
          </a:xfrm>
          <a:solidFill>
            <a:schemeClr val="accent2"/>
          </a:solidFill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53889646-85F9-D78B-BC36-B2B9CDE2020D}"/>
                </a:ext>
              </a:extLst>
            </p:cNvPr>
            <p:cNvSpPr/>
            <p:nvPr/>
          </p:nvSpPr>
          <p:spPr>
            <a:xfrm>
              <a:off x="4604805" y="1238100"/>
              <a:ext cx="1800000" cy="347472"/>
            </a:xfrm>
            <a:prstGeom prst="rect">
              <a:avLst/>
            </a:prstGeom>
            <a:grpFill/>
            <a:ln w="1270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nl-NL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267379FE-3359-D24B-A25B-06544864E69C}"/>
                </a:ext>
              </a:extLst>
            </p:cNvPr>
            <p:cNvSpPr/>
            <p:nvPr/>
          </p:nvSpPr>
          <p:spPr>
            <a:xfrm>
              <a:off x="4650525" y="1256388"/>
              <a:ext cx="180000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nlmixr2targets</a:t>
              </a:r>
              <a:endPara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0" name="Groep 59">
            <a:extLst>
              <a:ext uri="{FF2B5EF4-FFF2-40B4-BE49-F238E27FC236}">
                <a16:creationId xmlns:a16="http://schemas.microsoft.com/office/drawing/2014/main" id="{86B65A0A-37BB-9EF9-2718-F1B8918953C6}"/>
              </a:ext>
            </a:extLst>
          </p:cNvPr>
          <p:cNvGrpSpPr/>
          <p:nvPr/>
        </p:nvGrpSpPr>
        <p:grpSpPr>
          <a:xfrm>
            <a:off x="6031657" y="1221359"/>
            <a:ext cx="1845720" cy="347472"/>
            <a:chOff x="6444908" y="1221359"/>
            <a:chExt cx="1845720" cy="347472"/>
          </a:xfrm>
        </p:grpSpPr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981F6EBA-141A-5F95-36E2-7E17D2A33446}"/>
                </a:ext>
              </a:extLst>
            </p:cNvPr>
            <p:cNvSpPr/>
            <p:nvPr/>
          </p:nvSpPr>
          <p:spPr>
            <a:xfrm>
              <a:off x="6444908" y="1221359"/>
              <a:ext cx="1800000" cy="347472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nl-NL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F3952065-F216-557F-9681-540727A7C4E4}"/>
                </a:ext>
              </a:extLst>
            </p:cNvPr>
            <p:cNvSpPr/>
            <p:nvPr/>
          </p:nvSpPr>
          <p:spPr>
            <a:xfrm>
              <a:off x="6490628" y="1239647"/>
              <a:ext cx="18000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nlmixr2save</a:t>
              </a:r>
              <a:endPara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1" name="Groep 60">
            <a:extLst>
              <a:ext uri="{FF2B5EF4-FFF2-40B4-BE49-F238E27FC236}">
                <a16:creationId xmlns:a16="http://schemas.microsoft.com/office/drawing/2014/main" id="{9C303470-EB6D-E37F-0006-CCBC00F4F600}"/>
              </a:ext>
            </a:extLst>
          </p:cNvPr>
          <p:cNvGrpSpPr/>
          <p:nvPr/>
        </p:nvGrpSpPr>
        <p:grpSpPr>
          <a:xfrm>
            <a:off x="9768408" y="1221359"/>
            <a:ext cx="1845720" cy="347472"/>
            <a:chOff x="8210400" y="1212704"/>
            <a:chExt cx="1845720" cy="347472"/>
          </a:xfrm>
        </p:grpSpPr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C1D2BBDE-E732-D51A-607D-773DB152E132}"/>
                </a:ext>
              </a:extLst>
            </p:cNvPr>
            <p:cNvSpPr/>
            <p:nvPr/>
          </p:nvSpPr>
          <p:spPr>
            <a:xfrm>
              <a:off x="8210400" y="1212704"/>
              <a:ext cx="1800000" cy="347472"/>
            </a:xfrm>
            <a:prstGeom prst="rect">
              <a:avLst/>
            </a:prstGeom>
            <a:solidFill>
              <a:srgbClr val="E07B3A"/>
            </a:solidFill>
            <a:ln w="12700">
              <a:solidFill>
                <a:srgbClr val="E07B3A"/>
              </a:solidFill>
              <a:prstDash val="solid"/>
            </a:ln>
          </p:spPr>
          <p:txBody>
            <a:bodyPr/>
            <a:lstStyle/>
            <a:p>
              <a:endParaRPr lang="nl-NL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25E2E79A-3567-1EA8-9E72-3CEA331131C1}"/>
                </a:ext>
              </a:extLst>
            </p:cNvPr>
            <p:cNvSpPr/>
            <p:nvPr/>
          </p:nvSpPr>
          <p:spPr>
            <a:xfrm>
              <a:off x="8256120" y="1230992"/>
              <a:ext cx="18000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nlmixr2shiny</a:t>
              </a:r>
              <a:endPara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2" name="Groep 61">
            <a:extLst>
              <a:ext uri="{FF2B5EF4-FFF2-40B4-BE49-F238E27FC236}">
                <a16:creationId xmlns:a16="http://schemas.microsoft.com/office/drawing/2014/main" id="{070DBBDD-51BF-1546-68FB-C6F840200158}"/>
              </a:ext>
            </a:extLst>
          </p:cNvPr>
          <p:cNvGrpSpPr/>
          <p:nvPr/>
        </p:nvGrpSpPr>
        <p:grpSpPr>
          <a:xfrm>
            <a:off x="7896200" y="1221359"/>
            <a:ext cx="1845720" cy="347472"/>
            <a:chOff x="10066339" y="1206503"/>
            <a:chExt cx="1845720" cy="347472"/>
          </a:xfrm>
          <a:solidFill>
            <a:schemeClr val="accent5"/>
          </a:solidFill>
        </p:grpSpPr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1FB35E21-6006-8D6A-2F3F-6DD63A0FB731}"/>
                </a:ext>
              </a:extLst>
            </p:cNvPr>
            <p:cNvSpPr/>
            <p:nvPr/>
          </p:nvSpPr>
          <p:spPr>
            <a:xfrm>
              <a:off x="10066339" y="1206503"/>
              <a:ext cx="1800000" cy="347472"/>
            </a:xfrm>
            <a:prstGeom prst="rect">
              <a:avLst/>
            </a:prstGeom>
            <a:grpFill/>
            <a:ln w="12700">
              <a:solidFill>
                <a:schemeClr val="accent5"/>
              </a:solidFill>
              <a:prstDash val="solid"/>
            </a:ln>
          </p:spPr>
          <p:txBody>
            <a:bodyPr/>
            <a:lstStyle/>
            <a:p>
              <a:endParaRPr lang="nl-NL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3841441D-F5E1-FD1E-C221-919078CEE856}"/>
                </a:ext>
              </a:extLst>
            </p:cNvPr>
            <p:cNvSpPr/>
            <p:nvPr/>
          </p:nvSpPr>
          <p:spPr>
            <a:xfrm>
              <a:off x="10112059" y="1224791"/>
              <a:ext cx="180000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shinyMixR</a:t>
              </a:r>
              <a:endPara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" name="Shape 13">
            <a:extLst>
              <a:ext uri="{FF2B5EF4-FFF2-40B4-BE49-F238E27FC236}">
                <a16:creationId xmlns:a16="http://schemas.microsoft.com/office/drawing/2014/main" id="{0BF02496-6C17-E233-B6B8-B0B3D83C0F15}"/>
              </a:ext>
            </a:extLst>
          </p:cNvPr>
          <p:cNvSpPr/>
          <p:nvPr/>
        </p:nvSpPr>
        <p:spPr>
          <a:xfrm>
            <a:off x="623392" y="1643366"/>
            <a:ext cx="10945216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nl-NL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324E7FF-251D-FA36-4D81-58AAF4AC309D}"/>
              </a:ext>
            </a:extLst>
          </p:cNvPr>
          <p:cNvSpPr/>
          <p:nvPr/>
        </p:nvSpPr>
        <p:spPr>
          <a:xfrm>
            <a:off x="703567" y="1765175"/>
            <a:ext cx="32164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 re-running unchanged models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BDB219A-B34B-2AB7-4DDC-04C93078C73D}"/>
              </a:ext>
            </a:extLst>
          </p:cNvPr>
          <p:cNvSpPr/>
          <p:nvPr/>
        </p:nvSpPr>
        <p:spPr>
          <a:xfrm>
            <a:off x="4398157" y="174877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✓✓</a:t>
            </a:r>
            <a:endParaRPr lang="en-US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4DBDF9A-9CCD-D15E-F529-27F36B062D85}"/>
              </a:ext>
            </a:extLst>
          </p:cNvPr>
          <p:cNvSpPr/>
          <p:nvPr/>
        </p:nvSpPr>
        <p:spPr>
          <a:xfrm>
            <a:off x="6247861" y="174877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EA5F6DB-D878-B07E-0A94-A3BAA9B31A90}"/>
              </a:ext>
            </a:extLst>
          </p:cNvPr>
          <p:cNvSpPr/>
          <p:nvPr/>
        </p:nvSpPr>
        <p:spPr>
          <a:xfrm>
            <a:off x="10005468" y="174877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0D8A2F4-A400-6494-CC5A-C703748C162F}"/>
              </a:ext>
            </a:extLst>
          </p:cNvPr>
          <p:cNvSpPr/>
          <p:nvPr/>
        </p:nvSpPr>
        <p:spPr>
          <a:xfrm>
            <a:off x="8133260" y="174877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1C18779-AD7F-3F12-7FEA-85895C34BAFB}"/>
              </a:ext>
            </a:extLst>
          </p:cNvPr>
          <p:cNvSpPr/>
          <p:nvPr/>
        </p:nvSpPr>
        <p:spPr>
          <a:xfrm>
            <a:off x="623392" y="2174444"/>
            <a:ext cx="10945216" cy="54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nl-NL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2FAD21A-6D59-942B-ED1B-9B25A4DBE876}"/>
              </a:ext>
            </a:extLst>
          </p:cNvPr>
          <p:cNvSpPr/>
          <p:nvPr/>
        </p:nvSpPr>
        <p:spPr>
          <a:xfrm>
            <a:off x="699766" y="2283707"/>
            <a:ext cx="30919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Save/reload fit objects to disk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2860843E-AD0A-CA44-9815-818A4161177C}"/>
              </a:ext>
            </a:extLst>
          </p:cNvPr>
          <p:cNvSpPr/>
          <p:nvPr/>
        </p:nvSpPr>
        <p:spPr>
          <a:xfrm>
            <a:off x="6247861" y="22765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✓✓</a:t>
            </a:r>
            <a:endParaRPr lang="en-US" sz="16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BEFEBE16-BED7-AA0C-BF99-9DB761D5991B}"/>
              </a:ext>
            </a:extLst>
          </p:cNvPr>
          <p:cNvSpPr/>
          <p:nvPr/>
        </p:nvSpPr>
        <p:spPr>
          <a:xfrm>
            <a:off x="10005468" y="22765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8CDBF0A-3389-6C0A-3FDC-F2DDADD5F2C3}"/>
              </a:ext>
            </a:extLst>
          </p:cNvPr>
          <p:cNvSpPr/>
          <p:nvPr/>
        </p:nvSpPr>
        <p:spPr>
          <a:xfrm>
            <a:off x="8133260" y="22765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6265E6E0-322B-1C3B-2ACC-2569E952D5AE}"/>
              </a:ext>
            </a:extLst>
          </p:cNvPr>
          <p:cNvSpPr/>
          <p:nvPr/>
        </p:nvSpPr>
        <p:spPr>
          <a:xfrm>
            <a:off x="623392" y="2714444"/>
            <a:ext cx="10945216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nl-NL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41EFFB0C-6AC8-E4B0-907E-3CD633B689DE}"/>
              </a:ext>
            </a:extLst>
          </p:cNvPr>
          <p:cNvSpPr/>
          <p:nvPr/>
        </p:nvSpPr>
        <p:spPr>
          <a:xfrm>
            <a:off x="669112" y="2809672"/>
            <a:ext cx="29878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Graphical User Interface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FFAC6209-3FBE-2BCB-DE1B-F045D6CB85B7}"/>
              </a:ext>
            </a:extLst>
          </p:cNvPr>
          <p:cNvSpPr/>
          <p:nvPr/>
        </p:nvSpPr>
        <p:spPr>
          <a:xfrm>
            <a:off x="4398157" y="275782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F5D0796A-FBB5-4CDF-BBED-4E4E3A2FA102}"/>
              </a:ext>
            </a:extLst>
          </p:cNvPr>
          <p:cNvSpPr/>
          <p:nvPr/>
        </p:nvSpPr>
        <p:spPr>
          <a:xfrm>
            <a:off x="6247861" y="275782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A6562827-14FE-27EB-4A7B-9F307B8F5A42}"/>
              </a:ext>
            </a:extLst>
          </p:cNvPr>
          <p:cNvSpPr/>
          <p:nvPr/>
        </p:nvSpPr>
        <p:spPr>
          <a:xfrm>
            <a:off x="10005468" y="275782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7B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✓✓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136895EA-1414-0032-40B0-ACB225AA8A1D}"/>
              </a:ext>
            </a:extLst>
          </p:cNvPr>
          <p:cNvSpPr/>
          <p:nvPr/>
        </p:nvSpPr>
        <p:spPr>
          <a:xfrm>
            <a:off x="8133260" y="275782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✓✓</a:t>
            </a:r>
            <a:endParaRPr lang="en-US" sz="1600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88612F83-519D-9FB1-76DA-3553451750EA}"/>
              </a:ext>
            </a:extLst>
          </p:cNvPr>
          <p:cNvSpPr/>
          <p:nvPr/>
        </p:nvSpPr>
        <p:spPr>
          <a:xfrm>
            <a:off x="623392" y="3254444"/>
            <a:ext cx="10945216" cy="54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nl-NL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A37DBAAE-399C-E0D0-1791-4104DFD3B5BD}"/>
              </a:ext>
            </a:extLst>
          </p:cNvPr>
          <p:cNvSpPr/>
          <p:nvPr/>
        </p:nvSpPr>
        <p:spPr>
          <a:xfrm>
            <a:off x="688339" y="3362123"/>
            <a:ext cx="31034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project/run management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651FECD5-26A3-540B-A06D-FC1FA647E951}"/>
              </a:ext>
            </a:extLst>
          </p:cNvPr>
          <p:cNvSpPr/>
          <p:nvPr/>
        </p:nvSpPr>
        <p:spPr>
          <a:xfrm>
            <a:off x="4398157" y="3386191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80CC55BD-8163-71F5-1D7C-319279FBD3BB}"/>
              </a:ext>
            </a:extLst>
          </p:cNvPr>
          <p:cNvSpPr/>
          <p:nvPr/>
        </p:nvSpPr>
        <p:spPr>
          <a:xfrm>
            <a:off x="6247861" y="3386191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865AF5A8-B46A-D585-6B1D-33DBFB67D4C4}"/>
              </a:ext>
            </a:extLst>
          </p:cNvPr>
          <p:cNvSpPr/>
          <p:nvPr/>
        </p:nvSpPr>
        <p:spPr>
          <a:xfrm>
            <a:off x="10005468" y="3386191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FFEC14DA-80D7-C12D-9314-E1F43DFD64E7}"/>
              </a:ext>
            </a:extLst>
          </p:cNvPr>
          <p:cNvSpPr/>
          <p:nvPr/>
        </p:nvSpPr>
        <p:spPr>
          <a:xfrm>
            <a:off x="8133260" y="3386191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✓✓</a:t>
            </a:r>
            <a:endParaRPr lang="en-US" sz="1600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7F8B877F-EB8B-7887-8BCB-7840A5E69EE3}"/>
              </a:ext>
            </a:extLst>
          </p:cNvPr>
          <p:cNvSpPr/>
          <p:nvPr/>
        </p:nvSpPr>
        <p:spPr>
          <a:xfrm>
            <a:off x="623392" y="3787361"/>
            <a:ext cx="10945216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nl-NL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ACC94CFE-9180-7495-AA6B-CB976E66338C}"/>
              </a:ext>
            </a:extLst>
          </p:cNvPr>
          <p:cNvSpPr/>
          <p:nvPr/>
        </p:nvSpPr>
        <p:spPr>
          <a:xfrm>
            <a:off x="688339" y="3900312"/>
            <a:ext cx="31622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Structured folder organisation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46593424-C8E1-45F1-F1C5-4588317BB2D8}"/>
              </a:ext>
            </a:extLst>
          </p:cNvPr>
          <p:cNvSpPr/>
          <p:nvPr/>
        </p:nvSpPr>
        <p:spPr>
          <a:xfrm>
            <a:off x="4398157" y="389302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4CAF4372-90C5-2512-6059-82619B48281D}"/>
              </a:ext>
            </a:extLst>
          </p:cNvPr>
          <p:cNvSpPr/>
          <p:nvPr/>
        </p:nvSpPr>
        <p:spPr>
          <a:xfrm>
            <a:off x="6247861" y="389302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C94244DC-A6F4-D649-E107-86ABFACA78A6}"/>
              </a:ext>
            </a:extLst>
          </p:cNvPr>
          <p:cNvSpPr/>
          <p:nvPr/>
        </p:nvSpPr>
        <p:spPr>
          <a:xfrm>
            <a:off x="10005468" y="389302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27529553-6C83-6E10-2422-E8FFDEB073EB}"/>
              </a:ext>
            </a:extLst>
          </p:cNvPr>
          <p:cNvSpPr/>
          <p:nvPr/>
        </p:nvSpPr>
        <p:spPr>
          <a:xfrm>
            <a:off x="8133260" y="389302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✓✓</a:t>
            </a:r>
            <a:endParaRPr lang="en-US" sz="1600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8EAA9852-1B00-AAEB-6F16-B68D5C6A5065}"/>
              </a:ext>
            </a:extLst>
          </p:cNvPr>
          <p:cNvSpPr/>
          <p:nvPr/>
        </p:nvSpPr>
        <p:spPr>
          <a:xfrm>
            <a:off x="623392" y="4332803"/>
            <a:ext cx="10945216" cy="54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nl-NL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AB841457-77F4-32A4-33CB-395ED813AE81}"/>
              </a:ext>
            </a:extLst>
          </p:cNvPr>
          <p:cNvSpPr/>
          <p:nvPr/>
        </p:nvSpPr>
        <p:spPr>
          <a:xfrm>
            <a:off x="699766" y="4419150"/>
            <a:ext cx="3091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PK/PD model library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8081C989-868E-9E26-036F-EDC11D4A85D4}"/>
              </a:ext>
            </a:extLst>
          </p:cNvPr>
          <p:cNvSpPr/>
          <p:nvPr/>
        </p:nvSpPr>
        <p:spPr>
          <a:xfrm>
            <a:off x="4398157" y="441141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FF0C06F2-084C-7BB3-E3CF-6700F8536B39}"/>
              </a:ext>
            </a:extLst>
          </p:cNvPr>
          <p:cNvSpPr/>
          <p:nvPr/>
        </p:nvSpPr>
        <p:spPr>
          <a:xfrm>
            <a:off x="6247861" y="441141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4CCECC17-2BA3-B1A1-4974-2F21EC924833}"/>
              </a:ext>
            </a:extLst>
          </p:cNvPr>
          <p:cNvSpPr/>
          <p:nvPr/>
        </p:nvSpPr>
        <p:spPr>
          <a:xfrm>
            <a:off x="10005468" y="441141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7B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✓✓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3A28C2A8-9C23-F0D4-3784-E297D01C4DE6}"/>
              </a:ext>
            </a:extLst>
          </p:cNvPr>
          <p:cNvSpPr/>
          <p:nvPr/>
        </p:nvSpPr>
        <p:spPr>
          <a:xfrm>
            <a:off x="8133260" y="441141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E1E94057-00F3-52B8-CB9F-E9B9CBB68EB4}"/>
              </a:ext>
            </a:extLst>
          </p:cNvPr>
          <p:cNvSpPr/>
          <p:nvPr/>
        </p:nvSpPr>
        <p:spPr>
          <a:xfrm>
            <a:off x="623392" y="4875192"/>
            <a:ext cx="10945216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nl-NL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03863555-6EB3-8652-B6EB-38D06556ECBC}"/>
              </a:ext>
            </a:extLst>
          </p:cNvPr>
          <p:cNvSpPr/>
          <p:nvPr/>
        </p:nvSpPr>
        <p:spPr>
          <a:xfrm>
            <a:off x="701828" y="4993995"/>
            <a:ext cx="29551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Reproducible workflow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B949E116-4079-282E-0676-E35B53BBEC3F}"/>
              </a:ext>
            </a:extLst>
          </p:cNvPr>
          <p:cNvSpPr/>
          <p:nvPr/>
        </p:nvSpPr>
        <p:spPr>
          <a:xfrm>
            <a:off x="4398157" y="4980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✓✓</a:t>
            </a:r>
            <a:endParaRPr lang="en-US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E7F594B5-6EC7-6772-EA07-8810F9D3219B}"/>
              </a:ext>
            </a:extLst>
          </p:cNvPr>
          <p:cNvSpPr/>
          <p:nvPr/>
        </p:nvSpPr>
        <p:spPr>
          <a:xfrm>
            <a:off x="6247861" y="4980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7643F329-2F6B-42F6-8970-0373B3544F39}"/>
              </a:ext>
            </a:extLst>
          </p:cNvPr>
          <p:cNvSpPr/>
          <p:nvPr/>
        </p:nvSpPr>
        <p:spPr>
          <a:xfrm>
            <a:off x="10005468" y="4980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FBEA5FF4-3159-2F0A-C17C-A312C204AA5C}"/>
              </a:ext>
            </a:extLst>
          </p:cNvPr>
          <p:cNvSpPr/>
          <p:nvPr/>
        </p:nvSpPr>
        <p:spPr>
          <a:xfrm>
            <a:off x="8133260" y="4980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endParaRPr lang="en-US" sz="1600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A27BDD01-AC17-32B6-EA13-D0FBBCE8F776}"/>
              </a:ext>
            </a:extLst>
          </p:cNvPr>
          <p:cNvSpPr/>
          <p:nvPr/>
        </p:nvSpPr>
        <p:spPr>
          <a:xfrm>
            <a:off x="2953076" y="6165245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8BA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✓✓ = primary use case   ✓ = supported   — = not the focus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Shape 43">
            <a:extLst>
              <a:ext uri="{FF2B5EF4-FFF2-40B4-BE49-F238E27FC236}">
                <a16:creationId xmlns:a16="http://schemas.microsoft.com/office/drawing/2014/main" id="{6CC044FE-46C3-756D-22C1-ACAB5EC9F532}"/>
              </a:ext>
            </a:extLst>
          </p:cNvPr>
          <p:cNvSpPr/>
          <p:nvPr/>
        </p:nvSpPr>
        <p:spPr>
          <a:xfrm>
            <a:off x="623392" y="5426776"/>
            <a:ext cx="10945216" cy="54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nl-NL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44">
            <a:extLst>
              <a:ext uri="{FF2B5EF4-FFF2-40B4-BE49-F238E27FC236}">
                <a16:creationId xmlns:a16="http://schemas.microsoft.com/office/drawing/2014/main" id="{1F88A25E-C221-990F-2850-7FCB9214A607}"/>
              </a:ext>
            </a:extLst>
          </p:cNvPr>
          <p:cNvSpPr/>
          <p:nvPr/>
        </p:nvSpPr>
        <p:spPr>
          <a:xfrm>
            <a:off x="699766" y="5513123"/>
            <a:ext cx="3091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model building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 45">
            <a:extLst>
              <a:ext uri="{FF2B5EF4-FFF2-40B4-BE49-F238E27FC236}">
                <a16:creationId xmlns:a16="http://schemas.microsoft.com/office/drawing/2014/main" id="{FB7CB0AF-E2A7-6BF5-C2C0-BA9EEFE44F65}"/>
              </a:ext>
            </a:extLst>
          </p:cNvPr>
          <p:cNvSpPr/>
          <p:nvPr/>
        </p:nvSpPr>
        <p:spPr>
          <a:xfrm>
            <a:off x="4367808" y="5548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Text 46">
            <a:extLst>
              <a:ext uri="{FF2B5EF4-FFF2-40B4-BE49-F238E27FC236}">
                <a16:creationId xmlns:a16="http://schemas.microsoft.com/office/drawing/2014/main" id="{E74F7A56-0E5A-DB6D-F956-BA3353E97B06}"/>
              </a:ext>
            </a:extLst>
          </p:cNvPr>
          <p:cNvSpPr/>
          <p:nvPr/>
        </p:nvSpPr>
        <p:spPr>
          <a:xfrm>
            <a:off x="6217512" y="5548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Text 47">
            <a:extLst>
              <a:ext uri="{FF2B5EF4-FFF2-40B4-BE49-F238E27FC236}">
                <a16:creationId xmlns:a16="http://schemas.microsoft.com/office/drawing/2014/main" id="{0858D2A9-3AB4-0EF1-48FE-9EA604F1E9FE}"/>
              </a:ext>
            </a:extLst>
          </p:cNvPr>
          <p:cNvSpPr/>
          <p:nvPr/>
        </p:nvSpPr>
        <p:spPr>
          <a:xfrm>
            <a:off x="9975119" y="5548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7B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✓✓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Text 48">
            <a:extLst>
              <a:ext uri="{FF2B5EF4-FFF2-40B4-BE49-F238E27FC236}">
                <a16:creationId xmlns:a16="http://schemas.microsoft.com/office/drawing/2014/main" id="{CFD77398-6388-C88B-C749-DFA23957422A}"/>
              </a:ext>
            </a:extLst>
          </p:cNvPr>
          <p:cNvSpPr/>
          <p:nvPr/>
        </p:nvSpPr>
        <p:spPr>
          <a:xfrm>
            <a:off x="8102911" y="5548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1">
            <a:extLst>
              <a:ext uri="{FF2B5EF4-FFF2-40B4-BE49-F238E27FC236}">
                <a16:creationId xmlns:a16="http://schemas.microsoft.com/office/drawing/2014/main" id="{A81CC802-793C-841D-32D8-D4CF8D0071B9}"/>
              </a:ext>
            </a:extLst>
          </p:cNvPr>
          <p:cNvSpPr/>
          <p:nvPr/>
        </p:nvSpPr>
        <p:spPr>
          <a:xfrm>
            <a:off x="4398157" y="22765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✓✓</a:t>
            </a:r>
            <a:endParaRPr lang="en-US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419721"/>
      </p:ext>
    </p:extLst>
  </p:cSld>
  <p:clrMapOvr>
    <a:masterClrMapping/>
  </p:clrMapOvr>
</p:sld>
</file>

<file path=ppt/theme/theme1.xml><?xml version="1.0" encoding="utf-8"?>
<a:theme xmlns:a="http://schemas.openxmlformats.org/drawingml/2006/main" name="OccamsPresentation">
  <a:themeElements>
    <a:clrScheme name="Custom 3">
      <a:dk1>
        <a:srgbClr val="3B3B3B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902C10"/>
      </a:accent2>
      <a:accent3>
        <a:srgbClr val="9BBB59"/>
      </a:accent3>
      <a:accent4>
        <a:srgbClr val="8064A2"/>
      </a:accent4>
      <a:accent5>
        <a:srgbClr val="4BACC6"/>
      </a:accent5>
      <a:accent6>
        <a:srgbClr val="E08836"/>
      </a:accent6>
      <a:hlink>
        <a:srgbClr val="902C10"/>
      </a:hlink>
      <a:folHlink>
        <a:srgbClr val="902C1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672098E-E704-41C2-B233-A5DE79514A81}" vid="{05D70944-1DEC-4194-BA18-DA1D17F1F2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c9bec58-8084-492e-8360-0e1cfe36408c}" enabled="1" method="Standard" siteId="{f35a6974-607f-47d4-82d7-ff31d7dc53a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3765</TotalTime>
  <Words>1375</Words>
  <Application>Microsoft Office PowerPoint</Application>
  <PresentationFormat>Breedbeeld</PresentationFormat>
  <Paragraphs>209</Paragraphs>
  <Slides>7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Courier New</vt:lpstr>
      <vt:lpstr>OccamsPresentation</vt:lpstr>
      <vt:lpstr>Extending nlmixr2: Tools for Reproducibility, Interactivity, and Collaboration</vt:lpstr>
      <vt:lpstr>Tools for Reproducibility, Interactivity, and Collaboration</vt:lpstr>
      <vt:lpstr>nlmixr2targetsa – Improves reproducibility in your model development workflow  Bill Denney</vt:lpstr>
      <vt:lpstr>nlmixr2savea - Persistent save and restore of nlmixr2 fit objects Matt Fidler</vt:lpstr>
      <vt:lpstr>shinyMixRa - Interactive Shiny dashboard for project-centric nlmixr2 workflows  Richard Hooijmaijers </vt:lpstr>
      <vt:lpstr>nlmixr2shinya - Shiny UI for the nlmixr2lib model library Matt Fidler</vt:lpstr>
      <vt:lpstr>Tool Comparison</vt:lpstr>
    </vt:vector>
  </TitlesOfParts>
  <Manager/>
  <Company>Occams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Rik Schoemaker</dc:creator>
  <cp:keywords/>
  <dc:description/>
  <cp:lastModifiedBy>Anne Keunecke</cp:lastModifiedBy>
  <cp:revision>257</cp:revision>
  <dcterms:created xsi:type="dcterms:W3CDTF">2016-11-23T19:12:10Z</dcterms:created>
  <dcterms:modified xsi:type="dcterms:W3CDTF">2026-05-29T10:34:43Z</dcterms:modified>
  <cp:category/>
</cp:coreProperties>
</file>