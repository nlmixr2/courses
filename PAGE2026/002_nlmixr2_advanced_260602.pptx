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530" r:id="rId2"/>
    <p:sldId id="397" r:id="rId3"/>
    <p:sldId id="531" r:id="rId4"/>
    <p:sldId id="532" r:id="rId5"/>
    <p:sldId id="533" r:id="rId6"/>
    <p:sldId id="534" r:id="rId7"/>
    <p:sldId id="537" r:id="rId8"/>
    <p:sldId id="539" r:id="rId9"/>
    <p:sldId id="535" r:id="rId10"/>
    <p:sldId id="536" r:id="rId11"/>
    <p:sldId id="538" r:id="rId12"/>
    <p:sldId id="540" r:id="rId13"/>
    <p:sldId id="541" r:id="rId14"/>
    <p:sldId id="542" r:id="rId15"/>
    <p:sldId id="543" r:id="rId16"/>
    <p:sldId id="544" r:id="rId17"/>
    <p:sldId id="545" r:id="rId18"/>
    <p:sldId id="546" r:id="rId19"/>
    <p:sldId id="547" r:id="rId20"/>
    <p:sldId id="548" r:id="rId21"/>
    <p:sldId id="549" r:id="rId22"/>
    <p:sldId id="550" r:id="rId23"/>
    <p:sldId id="551" r:id="rId24"/>
    <p:sldId id="552" r:id="rId25"/>
    <p:sldId id="553" r:id="rId26"/>
    <p:sldId id="555" r:id="rId27"/>
    <p:sldId id="560" r:id="rId28"/>
    <p:sldId id="554" r:id="rId29"/>
    <p:sldId id="556" r:id="rId30"/>
    <p:sldId id="557" r:id="rId31"/>
    <p:sldId id="558" r:id="rId32"/>
    <p:sldId id="559" r:id="rId33"/>
    <p:sldId id="569" r:id="rId34"/>
    <p:sldId id="566" r:id="rId35"/>
    <p:sldId id="567" r:id="rId36"/>
    <p:sldId id="565" r:id="rId37"/>
    <p:sldId id="56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A83A"/>
    <a:srgbClr val="B40000"/>
    <a:srgbClr val="76C65A"/>
    <a:srgbClr val="FF8000"/>
    <a:srgbClr val="808080"/>
    <a:srgbClr val="305480"/>
    <a:srgbClr val="E08836"/>
    <a:srgbClr val="DE8400"/>
    <a:srgbClr val="902C1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7" autoAdjust="0"/>
    <p:restoredTop sz="96405"/>
  </p:normalViewPr>
  <p:slideViewPr>
    <p:cSldViewPr>
      <p:cViewPr varScale="1">
        <p:scale>
          <a:sx n="113" d="100"/>
          <a:sy n="113" d="100"/>
        </p:scale>
        <p:origin x="228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01" d="100"/>
          <a:sy n="101" d="100"/>
        </p:scale>
        <p:origin x="5154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5B5575-5396-4903-B001-2952BE6B9F1B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2CCE1-13AB-4907-8C53-954A4412C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96156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547EB-7C1B-40A0-9C00-7392B48D9156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3989F4-5BC7-45C8-8C9A-BD91344270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3248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019400"/>
            <a:ext cx="8534400" cy="170574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-204936"/>
            <a:ext cx="12192000" cy="1556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37312"/>
            <a:ext cx="12192000" cy="62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3392" y="476672"/>
            <a:ext cx="10945216" cy="2448272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rgbClr val="B4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9D51947-24F4-C4DC-5885-9F67B2093E4F}"/>
              </a:ext>
            </a:extLst>
          </p:cNvPr>
          <p:cNvGrpSpPr/>
          <p:nvPr userDrawn="1"/>
        </p:nvGrpSpPr>
        <p:grpSpPr>
          <a:xfrm>
            <a:off x="4339232" y="4819600"/>
            <a:ext cx="3589360" cy="1763448"/>
            <a:chOff x="4339232" y="4819600"/>
            <a:chExt cx="3589360" cy="176344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3E4E562-3F63-307A-0740-45B3E73A09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9232" y="4819600"/>
              <a:ext cx="3513536" cy="176344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C4A0EA-E478-7F0A-1EEC-46DA78AFE7EE}"/>
                </a:ext>
              </a:extLst>
            </p:cNvPr>
            <p:cNvSpPr txBox="1"/>
            <p:nvPr userDrawn="1"/>
          </p:nvSpPr>
          <p:spPr>
            <a:xfrm>
              <a:off x="7568552" y="5538903"/>
              <a:ext cx="360040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900" b="1">
                  <a:solidFill>
                    <a:srgbClr val="C00000"/>
                  </a:solidFill>
                </a:rPr>
                <a:t>2</a:t>
              </a:r>
              <a:endParaRPr lang="en-NL" sz="1900" b="1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6382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800"/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310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B40000"/>
                </a:solidFill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623392" y="1196752"/>
            <a:ext cx="10945216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159563" y="6564883"/>
            <a:ext cx="7392821" cy="23040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</p:spTree>
    <p:extLst>
      <p:ext uri="{BB962C8B-B14F-4D97-AF65-F5344CB8AC3E}">
        <p14:creationId xmlns:p14="http://schemas.microsoft.com/office/powerpoint/2010/main" val="1208292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884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2207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3392" y="113386"/>
            <a:ext cx="10945216" cy="985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1196752"/>
            <a:ext cx="10945216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59563" y="6564883"/>
            <a:ext cx="7392821" cy="23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2">
                    <a:lumMod val="75000"/>
                  </a:schemeClr>
                </a:solidFill>
                <a:latin typeface="+mn-lt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3392" y="6564883"/>
            <a:ext cx="1056117" cy="23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B40000"/>
                </a:solidFill>
                <a:latin typeface="+mn-lt"/>
                <a:ea typeface="Tahoma" pitchFamily="34" charset="0"/>
                <a:cs typeface="Tahoma" pitchFamily="34" charset="0"/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3B2648-2988-DDF5-3B00-2C50D9961258}"/>
              </a:ext>
            </a:extLst>
          </p:cNvPr>
          <p:cNvGrpSpPr/>
          <p:nvPr userDrawn="1"/>
        </p:nvGrpSpPr>
        <p:grpSpPr>
          <a:xfrm>
            <a:off x="10598596" y="6318101"/>
            <a:ext cx="1066119" cy="524043"/>
            <a:chOff x="10598596" y="6318101"/>
            <a:chExt cx="1066119" cy="52404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7B45EA-DF08-9BD8-0E65-7B7CF845E1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98596" y="6318101"/>
              <a:ext cx="1044116" cy="52404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15425DF-E504-86F9-34AC-3D4EE1BA0992}"/>
                </a:ext>
              </a:extLst>
            </p:cNvPr>
            <p:cNvSpPr txBox="1"/>
            <p:nvPr userDrawn="1"/>
          </p:nvSpPr>
          <p:spPr>
            <a:xfrm>
              <a:off x="11557722" y="6435742"/>
              <a:ext cx="1069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b="1">
                  <a:solidFill>
                    <a:srgbClr val="C00000"/>
                  </a:solidFill>
                </a:rPr>
                <a:t>2</a:t>
              </a:r>
              <a:endParaRPr lang="en-NL" sz="1200" b="1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5295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B40000"/>
          </a:solidFill>
          <a:latin typeface="+mn-lt"/>
          <a:ea typeface="Tahoma" pitchFamily="34" charset="0"/>
          <a:cs typeface="Tahom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24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22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20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18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16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38/PSP.2014.27" TargetMode="Externa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nlmixr2.github.io/rxode2/articles/Integrating-User-Defined-Functions-into-rxode2.html" TargetMode="Externa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nlmixr2.github.io/rxode2/articles/adaptive-dosing.html" TargetMode="Externa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rdrr.io/r/stats/TDist.html" TargetMode="External"/><Relationship Id="rId2" Type="http://schemas.openxmlformats.org/officeDocument/2006/relationships/hyperlink" Target="https://rdrr.io/r/base/Log.html" TargetMode="Externa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rdrr.io/r/base/list.html" TargetMode="External"/><Relationship Id="rId2" Type="http://schemas.openxmlformats.org/officeDocument/2006/relationships/hyperlink" Target="https://magrittr.tidyverse.org/reference/pipe.html" TargetMode="Externa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rdrr.io/r/base/Log.html" TargetMode="External"/><Relationship Id="rId2" Type="http://schemas.openxmlformats.org/officeDocument/2006/relationships/hyperlink" Target="https://magrittr.tidyverse.org/reference/pipe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rdrr.io/r/base/list.html" TargetMode="External"/><Relationship Id="rId4" Type="http://schemas.openxmlformats.org/officeDocument/2006/relationships/hyperlink" Target="https://rdrr.io/r/utils/fix.html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nlmixr2.github.io/nlmixr2lib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web/packages/onbrand/index.html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nlmixr2.github.io/nlmixr2rpt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ruminate.ubiquity.tools/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ruminate.ubiquity.tools/articles/clinical_trial_simulation.html" TargetMode="Externa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2967608" y="2204864"/>
            <a:ext cx="6400800" cy="2664296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rxode2/nlmixr2 Course </a:t>
            </a:r>
            <a:br>
              <a:rPr lang="en-GB" dirty="0"/>
            </a:br>
            <a:r>
              <a:rPr lang="en-GB" dirty="0"/>
              <a:t>PAGE 2026, Dubrovnik, Croatia 
Justin / Bill?
</a:t>
            </a:r>
          </a:p>
          <a:p>
            <a:pPr lvl="0"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Tahoma" pitchFamily="34" charset="0"/>
                <a:cs typeface="Tahoma" pitchFamily="34" charset="0"/>
              </a:rPr>
              <a:t>On behalf of the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B40000"/>
                </a:solidFill>
                <a:effectLst/>
                <a:uLnTx/>
                <a:uFillTx/>
                <a:latin typeface="Calibri" panose="020F0502020204030204" pitchFamily="34" charset="0"/>
                <a:ea typeface="Tahoma" pitchFamily="34" charset="0"/>
                <a:cs typeface="Tahoma" pitchFamily="34" charset="0"/>
              </a:rPr>
              <a:t>nlmixr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Tahoma" pitchFamily="34" charset="0"/>
                <a:cs typeface="Tahoma" pitchFamily="34" charset="0"/>
              </a:rPr>
              <a:t> development team: </a:t>
            </a:r>
          </a:p>
          <a:p>
            <a:pPr lvl="0">
              <a:defRPr/>
            </a:pPr>
            <a:r>
              <a:rPr lang="en-GB" sz="2400" dirty="0">
                <a:solidFill>
                  <a:srgbClr val="1F497D">
                    <a:lumMod val="50000"/>
                  </a:srgbClr>
                </a:solidFill>
              </a:rPr>
              <a:t>Matt Fidler, Bill Denney, </a:t>
            </a:r>
            <a:r>
              <a:rPr lang="en-GB" dirty="0">
                <a:solidFill>
                  <a:srgbClr val="1F497D">
                    <a:lumMod val="50000"/>
                  </a:srgbClr>
                </a:solidFill>
              </a:rPr>
              <a:t>John Harrold, </a:t>
            </a:r>
            <a:r>
              <a:rPr lang="en-GB" sz="2400" dirty="0">
                <a:solidFill>
                  <a:srgbClr val="1F497D">
                    <a:lumMod val="50000"/>
                  </a:srgbClr>
                </a:solidFill>
              </a:rPr>
              <a:t>Richard Hooijmaijers, Mutaz Jaber, Anne Keunecke</a:t>
            </a:r>
            <a:r>
              <a:rPr lang="en-GB" dirty="0">
                <a:solidFill>
                  <a:srgbClr val="1F497D">
                    <a:lumMod val="50000"/>
                  </a:srgbClr>
                </a:solidFill>
              </a:rPr>
              <a:t>, Theo Papathanasiou, </a:t>
            </a:r>
            <a:r>
              <a:rPr lang="en-GB" sz="2400" dirty="0">
                <a:solidFill>
                  <a:srgbClr val="1F497D">
                    <a:lumMod val="50000"/>
                  </a:srgbClr>
                </a:solidFill>
              </a:rPr>
              <a:t>Rik Schoemaker, </a:t>
            </a:r>
            <a:r>
              <a:rPr lang="en-GB" dirty="0">
                <a:solidFill>
                  <a:srgbClr val="1F497D">
                    <a:lumMod val="50000"/>
                  </a:srgbClr>
                </a:solidFill>
              </a:rPr>
              <a:t>Max Taubert, </a:t>
            </a:r>
            <a:r>
              <a:rPr lang="en-GB" sz="2400" dirty="0">
                <a:solidFill>
                  <a:srgbClr val="1F497D">
                    <a:lumMod val="50000"/>
                  </a:srgbClr>
                </a:solidFill>
              </a:rPr>
              <a:t>Mirjam Trame, Justin Wilkins, Brendan Bender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063552" y="620688"/>
            <a:ext cx="8208912" cy="1296144"/>
          </a:xfrm>
        </p:spPr>
        <p:txBody>
          <a:bodyPr>
            <a:normAutofit/>
          </a:bodyPr>
          <a:lstStyle/>
          <a:p>
            <a:r>
              <a:rPr lang="en-GB" dirty="0"/>
              <a:t>nlmix</a:t>
            </a:r>
            <a:r>
              <a:rPr lang="en-GB" dirty="0">
                <a:solidFill>
                  <a:srgbClr val="B40000"/>
                </a:solidFill>
              </a:rPr>
              <a:t>r2 advanced topics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0310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4525C-4327-40C9-8039-BA88868DF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outline: Part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ED073-061A-4971-9742-610B2E87E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Time-to-event models</a:t>
            </a:r>
          </a:p>
          <a:p>
            <a:r>
              <a:rPr lang="en-GB" dirty="0"/>
              <a:t>Models for categorical data</a:t>
            </a:r>
          </a:p>
          <a:p>
            <a:r>
              <a:rPr lang="en-GB" dirty="0"/>
              <a:t>Custom functions</a:t>
            </a:r>
          </a:p>
          <a:p>
            <a:r>
              <a:rPr lang="en-GB" dirty="0"/>
              <a:t>Model piping</a:t>
            </a:r>
          </a:p>
          <a:p>
            <a:r>
              <a:rPr lang="en-GB" dirty="0"/>
              <a:t>nlmixr2lib</a:t>
            </a:r>
          </a:p>
          <a:p>
            <a:r>
              <a:rPr lang="en-GB" dirty="0"/>
              <a:t>Adaptive dosing</a:t>
            </a:r>
          </a:p>
          <a:p>
            <a:r>
              <a:rPr lang="en-GB" dirty="0"/>
              <a:t>The future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1A0086-1FF5-4298-89A4-74784DB833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AA760-C95D-4673-A233-50E6A5ABB1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491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48932-1A89-17EA-226D-0682B9CE8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to event (TTE) models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37EE2-89FD-79D6-C5B9-CFAD72748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Time-to-event (TTE) analysis models the time until a discrete event occurs</a:t>
            </a:r>
          </a:p>
          <a:p>
            <a:pPr lvl="1"/>
            <a:r>
              <a:rPr lang="en-GB" dirty="0" err="1"/>
              <a:t>Tumor</a:t>
            </a:r>
            <a:r>
              <a:rPr lang="en-GB" dirty="0"/>
              <a:t> progression, an adverse event, dropout, relapse, device failure, death, etc</a:t>
            </a:r>
          </a:p>
          <a:p>
            <a:r>
              <a:rPr lang="en-GB" dirty="0"/>
              <a:t>The endpoint is not only whether the event occurred, but also how long the subject remained event-free</a:t>
            </a:r>
          </a:p>
          <a:p>
            <a:pPr lvl="1"/>
            <a:r>
              <a:rPr lang="en-GB" dirty="0"/>
              <a:t>A subject who is followed for 24 weeks without any event is therefore informative even though an event was not observed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B70FD5-2CA7-C89E-E1D8-4671327A1E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F11C9-D3E7-DDF2-616F-974DCFA62E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412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EB4A8-B922-43A6-DACC-487D59EC2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 a straightforward example…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CA8AAC-8FAF-AC10-3D44-CDECB4BAB6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0C46F-5901-0DA5-30AA-9377BABC10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1B9BD0-B6B7-D1D1-1356-AAD1B3A07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1196752"/>
            <a:ext cx="10297144" cy="514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751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5AB34-8657-3970-2462-A5BB922A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can do some exploratory analysis to see what kind of hazard distribution we need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482AB-8D80-2D67-DAC2-52D7B00FEF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C0005-2BEF-DEBC-7C69-8ADCE6C363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5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CA3D48-014A-05B6-86CB-8CBCAB334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1263675"/>
            <a:ext cx="5040560" cy="50405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2FDBBE-67ED-0D72-C023-15CBC599C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008" y="1263675"/>
            <a:ext cx="5040560" cy="50405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833F30C-31C4-17F8-C271-3833709D5ED8}"/>
              </a:ext>
            </a:extLst>
          </p:cNvPr>
          <p:cNvSpPr txBox="1"/>
          <p:nvPr/>
        </p:nvSpPr>
        <p:spPr>
          <a:xfrm>
            <a:off x="6672064" y="1700808"/>
            <a:ext cx="33485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Hazard is not constant over time! 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Looks like Weibull or Gompertz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409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33D3-78F5-A681-FD72-244002866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try an exponential model first, just to see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602619-F709-6A0B-DF4D-ACCF1FF180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0AF189-C23C-A346-9856-1636477608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86EEB4-A0AA-0262-A295-570EBE4D586F}"/>
              </a:ext>
            </a:extLst>
          </p:cNvPr>
          <p:cNvSpPr txBox="1"/>
          <p:nvPr/>
        </p:nvSpPr>
        <p:spPr>
          <a:xfrm>
            <a:off x="623392" y="1281720"/>
            <a:ext cx="957706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tte_exponential_model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function() {  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({    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Baseline log hazard for the control group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log_h0     &lt;- log(0.06)    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Log hazard ratio for treatment versus control  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trt_log_hr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-0.3  })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model({    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Treatment multiplies the baseline hazard on the hazard-ratio scale        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log_h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log_h0 + 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trt_log_hr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TRT    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h &lt;- exp(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log_h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Exponential cumulative hazard   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H &lt;- h * TIME    </a:t>
            </a:r>
          </a:p>
          <a:p>
            <a:endParaRPr lang="en-GB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Event rows contribute log(h) - H; censored rows contribute -H    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tte_ll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EVENT * 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log_h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 H    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ll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tte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~ 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tte_ll</a:t>
            </a:r>
            <a:endParaRPr lang="en-GB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})} </a:t>
            </a:r>
          </a:p>
          <a:p>
            <a:endParaRPr lang="en-GB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Use </a:t>
            </a:r>
            <a:r>
              <a:rPr lang="en-GB" sz="1400" b="1" dirty="0" err="1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bobyqa</a:t>
            </a:r>
            <a:r>
              <a:rPr lang="en-GB" sz="14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for this custom likelihood to avoid relying on symbolic gradients</a:t>
            </a:r>
            <a:endParaRPr lang="en-GB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fit_tte_exp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nlmixr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  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tte_exponential_model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tte_data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est = "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bobyqa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control = 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bobyqaControl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(print = 0)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4B1E47-AA39-165D-A30D-33FE4CDDF44A}"/>
              </a:ext>
            </a:extLst>
          </p:cNvPr>
          <p:cNvSpPr txBox="1"/>
          <p:nvPr/>
        </p:nvSpPr>
        <p:spPr>
          <a:xfrm>
            <a:off x="9120336" y="980728"/>
            <a:ext cx="2592288" cy="1200329"/>
          </a:xfrm>
          <a:prstGeom prst="rect">
            <a:avLst/>
          </a:prstGeom>
          <a:noFill/>
          <a:ln>
            <a:solidFill>
              <a:srgbClr val="B4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TTE models are supported in nlmixr2 using custom likelihoods –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794175-CEED-9EA6-5A97-A5A5C3133006}"/>
                  </a:ext>
                </a:extLst>
              </p:cNvPr>
              <p:cNvSpPr txBox="1"/>
              <p:nvPr/>
            </p:nvSpPr>
            <p:spPr>
              <a:xfrm>
                <a:off x="9337732" y="3353702"/>
                <a:ext cx="9618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794175-CEED-9EA6-5A97-A5A5C3133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7732" y="3353702"/>
                <a:ext cx="961802" cy="276999"/>
              </a:xfrm>
              <a:prstGeom prst="rect">
                <a:avLst/>
              </a:prstGeom>
              <a:blipFill>
                <a:blip r:embed="rId2"/>
                <a:stretch>
                  <a:fillRect l="-5063" r="-5063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ACE55F-D3A9-74B0-E867-BF3E5D6CD28E}"/>
                  </a:ext>
                </a:extLst>
              </p:cNvPr>
              <p:cNvSpPr txBox="1"/>
              <p:nvPr/>
            </p:nvSpPr>
            <p:spPr>
              <a:xfrm>
                <a:off x="9337732" y="3789040"/>
                <a:ext cx="10792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ACE55F-D3A9-74B0-E867-BF3E5D6CD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7732" y="3789040"/>
                <a:ext cx="1079205" cy="276999"/>
              </a:xfrm>
              <a:prstGeom prst="rect">
                <a:avLst/>
              </a:prstGeom>
              <a:blipFill>
                <a:blip r:embed="rId3"/>
                <a:stretch>
                  <a:fillRect l="-4520" r="-3955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6177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DC683-1C38-CFC2-821E-3B360E4DF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nlmixr2 fit output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26BD8E-EE2E-67CC-4885-25EA7A135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B85F83-30A1-87F6-D2B7-CB7257B2F0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DCB2B4-B475-BFD2-E520-DAD3276E7AFF}"/>
              </a:ext>
            </a:extLst>
          </p:cNvPr>
          <p:cNvSpPr txBox="1"/>
          <p:nvPr/>
        </p:nvSpPr>
        <p:spPr>
          <a:xfrm>
            <a:off x="623392" y="1340768"/>
            <a:ext cx="11159157" cy="423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&gt; </a:t>
            </a:r>
            <a:r>
              <a:rPr lang="en-GB" sz="1400" b="0" i="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fit_tte_exp</a:t>
            </a:r>
            <a:r>
              <a:rPr lang="en-GB" sz="1400" b="0" i="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── </a:t>
            </a:r>
            <a:r>
              <a:rPr lang="en-GB" sz="1400" b="1" i="0" dirty="0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nlmix</a:t>
            </a:r>
            <a:r>
              <a:rPr lang="en-GB" sz="1400" b="1" i="0" dirty="0">
                <a:solidFill>
                  <a:srgbClr val="CC0000"/>
                </a:solidFill>
                <a:effectLst/>
                <a:latin typeface="Cascadia Mono" panose="020B0609020000020004" pitchFamily="49" charset="0"/>
              </a:rPr>
              <a:t>r²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log-likelihood </a:t>
            </a:r>
            <a:r>
              <a:rPr lang="en-GB" sz="1400" b="1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bobyqa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──</a:t>
            </a: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OBJF      AIC      BIC Log-likelihood Condition#(Cov) Condition#(Cor)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lPop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1084.069 1529.159 1536.121      -762.5797        6.255733        4.940448</a:t>
            </a:r>
          </a:p>
          <a:p>
            <a:pPr algn="l" latinLnBrk="1">
              <a:lnSpc>
                <a:spcPts val="1680"/>
              </a:lnSpc>
              <a:buNone/>
            </a:pP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── Time (sec </a:t>
            </a:r>
            <a:r>
              <a:rPr lang="en-GB" sz="1400" b="1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fit_tte_exp</a:t>
            </a:r>
            <a:r>
              <a:rPr lang="en-GB" sz="14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$time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): ──</a:t>
            </a: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setup table  other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elapsed 0.003  0.06 10.597</a:t>
            </a:r>
          </a:p>
          <a:p>
            <a:pPr algn="l" latinLnBrk="1">
              <a:lnSpc>
                <a:spcPts val="1680"/>
              </a:lnSpc>
              <a:buNone/>
            </a:pP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── (</a:t>
            </a:r>
            <a:r>
              <a:rPr lang="en-GB" sz="1400" b="1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fit_tte_exp</a:t>
            </a:r>
            <a:r>
              <a:rPr lang="en-GB" sz="14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$parFixed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or </a:t>
            </a:r>
            <a:r>
              <a:rPr lang="en-GB" sz="1400" b="1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fit_tte_exp</a:t>
            </a:r>
            <a:r>
              <a:rPr lang="en-GB" sz="14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$parFixedDf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): ──</a:t>
            </a: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    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Est.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SE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%RSE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Back-transformed(95%CI)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BSV(SD)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Shrink(SD)%</a:t>
            </a: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log_h0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-2.537  0.189 7.448    -2.537 (-2.908, -2.167)                   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trt_log_hr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-0.6261 0.2849  45.5 -0.6261 (-1.185, -0.06772)                   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Covariance Type (</a:t>
            </a:r>
            <a:r>
              <a:rPr lang="en-GB" sz="1400" b="0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fit_tte_exp</a:t>
            </a:r>
            <a:r>
              <a:rPr lang="en-GB" sz="14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$covMethod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):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r</a:t>
            </a: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Censoring (</a:t>
            </a:r>
            <a:r>
              <a:rPr lang="en-GB" sz="1400" b="0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fit_tte_exp</a:t>
            </a:r>
            <a:r>
              <a:rPr lang="en-GB" sz="14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$censInformation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): No censoring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6D0FF8-79D0-DC41-01EA-B8B9F089E970}"/>
              </a:ext>
            </a:extLst>
          </p:cNvPr>
          <p:cNvSpPr/>
          <p:nvPr/>
        </p:nvSpPr>
        <p:spPr>
          <a:xfrm>
            <a:off x="1199456" y="1988840"/>
            <a:ext cx="2808312" cy="504056"/>
          </a:xfrm>
          <a:prstGeom prst="rect">
            <a:avLst/>
          </a:prstGeom>
          <a:noFill/>
          <a:ln>
            <a:solidFill>
              <a:srgbClr val="B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8630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05DEB-DE2D-2BE4-559F-A6A6B39CF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VPC suggests there’s room for improvement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1415FA-930C-44FD-BD97-E4C1ED85BD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D38656-DF5B-9D53-C0FE-2CE2F205C6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04B96B-1864-F73B-343B-75966878C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1340768"/>
            <a:ext cx="10224000" cy="5112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EF41C5-0F53-165F-D5B3-51DE7304DB16}"/>
              </a:ext>
            </a:extLst>
          </p:cNvPr>
          <p:cNvSpPr txBox="1"/>
          <p:nvPr/>
        </p:nvSpPr>
        <p:spPr>
          <a:xfrm>
            <a:off x="3649773" y="1772816"/>
            <a:ext cx="2176846" cy="1477328"/>
          </a:xfrm>
          <a:prstGeom prst="rect">
            <a:avLst/>
          </a:prstGeom>
          <a:noFill/>
          <a:ln>
            <a:solidFill>
              <a:srgbClr val="B4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Generated using a custom simulation function together with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vpc_tte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the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vpc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package</a:t>
            </a: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497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9CF86-334C-20A9-8A6C-3B9A79A4E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for a Weibull model (non-proportional hazard)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A1E43-860B-0A85-685B-30BE32CF23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E93296-2789-E722-9EF0-2BAF85A720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D3946A-1CA5-4D2D-78A1-DBDE14703D98}"/>
              </a:ext>
            </a:extLst>
          </p:cNvPr>
          <p:cNvSpPr txBox="1"/>
          <p:nvPr/>
        </p:nvSpPr>
        <p:spPr>
          <a:xfrm>
            <a:off x="623392" y="1196752"/>
            <a:ext cx="655272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tte_weibull_model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function() {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Weibull scale and shape are estimated on log scales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log_scale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log(12)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log_shape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log(1.2)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Log hazard ratio for treatment versus control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trt_log_hr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-0.3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})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model({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scale &lt;- exp(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log_scale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shape &lt;- exp(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log_shape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 small offset protects the hazard if TIME is very close to 0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tte_time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TIME + 1e-6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Baseline Weibull hazard and cumulative hazard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h0 &lt;- (shape / scale) * (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tte_time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 scale)^(shape - 1)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H0 &lt;- (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tte_time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 scale)^shape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Treatment acts as a proportional hazard multiplier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log_hr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trt_log_hr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TRT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hr &lt;- exp(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log_hr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h &lt;- h0 * hr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H &lt;- H0 * hr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Custom TTE log-likelihood contribution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tte_ll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EVENT * log(h) – H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ll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tte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~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tte_ll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})}</a:t>
            </a: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Fit the Weibull model to the same TTE data</a:t>
            </a:r>
          </a:p>
          <a:p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fit_tte_weibull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nlmixr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tte_weibull_model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tte_data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 est = "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bobyqa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control =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bobyqaControl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(print = 0))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42895D-A198-833F-7206-CDEF5E246F0D}"/>
                  </a:ext>
                </a:extLst>
              </p:cNvPr>
              <p:cNvSpPr txBox="1"/>
              <p:nvPr/>
            </p:nvSpPr>
            <p:spPr>
              <a:xfrm>
                <a:off x="8688288" y="2996952"/>
                <a:ext cx="1768048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42895D-A198-833F-7206-CDEF5E246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8288" y="2996952"/>
                <a:ext cx="1768048" cy="5603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56E90A-03C5-E8E3-1FC0-F11C17161918}"/>
                  </a:ext>
                </a:extLst>
              </p:cNvPr>
              <p:cNvSpPr txBox="1"/>
              <p:nvPr/>
            </p:nvSpPr>
            <p:spPr>
              <a:xfrm>
                <a:off x="8688288" y="3717032"/>
                <a:ext cx="1294905" cy="5383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56E90A-03C5-E8E3-1FC0-F11C17161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8288" y="3717032"/>
                <a:ext cx="1294905" cy="5383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9934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F45B3-E03B-B70D-8D6C-2D5F9233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looks a bit better!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079FB-8B45-5DC1-EA30-07CE931931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D8DD8-27F7-4CA5-E416-916636AAFB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D06115-8B80-68B4-8D1D-9F39586E563C}"/>
              </a:ext>
            </a:extLst>
          </p:cNvPr>
          <p:cNvSpPr txBox="1"/>
          <p:nvPr/>
        </p:nvSpPr>
        <p:spPr>
          <a:xfrm>
            <a:off x="623392" y="1211373"/>
            <a:ext cx="8808640" cy="443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&gt; </a:t>
            </a:r>
            <a:r>
              <a:rPr lang="en-GB" sz="1400" b="0" i="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fit_tte_weibull</a:t>
            </a:r>
            <a:endParaRPr lang="en-GB" sz="1400" b="0" i="0" dirty="0">
              <a:solidFill>
                <a:srgbClr val="0000FF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── </a:t>
            </a:r>
            <a:r>
              <a:rPr lang="en-GB" sz="1400" b="1" i="0" dirty="0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nlmix</a:t>
            </a:r>
            <a:r>
              <a:rPr lang="en-GB" sz="1400" b="1" i="0" dirty="0">
                <a:solidFill>
                  <a:srgbClr val="CC0000"/>
                </a:solidFill>
                <a:effectLst/>
                <a:latin typeface="Cascadia Mono" panose="020B0609020000020004" pitchFamily="49" charset="0"/>
              </a:rPr>
              <a:t>r²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log-likelihood </a:t>
            </a:r>
            <a:r>
              <a:rPr lang="en-GB" sz="1400" b="1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bobyqa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──</a:t>
            </a: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OBJF      AIC     BIC Log-likelihood Condition#(Cov) Condition#(Cor)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lPop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1033.108 1480.198 1490.64      -737.0992        14.47451        5.396522</a:t>
            </a:r>
          </a:p>
          <a:p>
            <a:pPr algn="l" latinLnBrk="1">
              <a:lnSpc>
                <a:spcPts val="1680"/>
              </a:lnSpc>
              <a:buNone/>
            </a:pP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── Time (sec </a:t>
            </a:r>
            <a:r>
              <a:rPr lang="en-GB" sz="1400" b="1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fit_tte_weibull</a:t>
            </a:r>
            <a:r>
              <a:rPr lang="en-GB" sz="14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$time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): ──</a:t>
            </a: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setup table other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elapsed 0.002  0.05 5.588</a:t>
            </a:r>
          </a:p>
          <a:p>
            <a:pPr algn="l" latinLnBrk="1">
              <a:lnSpc>
                <a:spcPts val="1680"/>
              </a:lnSpc>
              <a:buNone/>
            </a:pP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── (</a:t>
            </a:r>
            <a:r>
              <a:rPr lang="en-GB" sz="1400" b="1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fit_tte_weibull</a:t>
            </a:r>
            <a:r>
              <a:rPr lang="en-GB" sz="14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$parFixed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or </a:t>
            </a:r>
            <a:r>
              <a:rPr lang="en-GB" sz="1400" b="1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fit_tte_weibull</a:t>
            </a:r>
            <a:r>
              <a:rPr lang="en-GB" sz="14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$parFixedDf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): ──</a:t>
            </a: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   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Est.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SE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%RSE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Back-transformed(95%CI)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BSV(SD)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Shrink(SD)%</a:t>
            </a: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log_scale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2.613 0.1207 4.621     13.63 (10.76, 17.27)                   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log_shape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0.4669 0.1185 25.38     1.595 (1.264, 2.012)                   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trt_log_hr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-0.795 0.2889 36.35 -0.795 (-1.361, -0.2287)                   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Covariance Type (</a:t>
            </a:r>
            <a:r>
              <a:rPr lang="en-GB" sz="1400" b="0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fit_tte_weibull</a:t>
            </a:r>
            <a:r>
              <a:rPr lang="en-GB" sz="14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$covMethod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):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r</a:t>
            </a: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Censoring (</a:t>
            </a:r>
            <a:r>
              <a:rPr lang="en-GB" sz="1400" b="0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fit_tte_weibull</a:t>
            </a:r>
            <a:r>
              <a:rPr lang="en-GB" sz="14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$censInformation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): No censoring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A55EDD-E1FA-CF25-8F34-1D41E8C4CB54}"/>
              </a:ext>
            </a:extLst>
          </p:cNvPr>
          <p:cNvSpPr/>
          <p:nvPr/>
        </p:nvSpPr>
        <p:spPr>
          <a:xfrm>
            <a:off x="1199456" y="1844824"/>
            <a:ext cx="2736304" cy="504056"/>
          </a:xfrm>
          <a:prstGeom prst="rect">
            <a:avLst/>
          </a:prstGeom>
          <a:noFill/>
          <a:ln>
            <a:solidFill>
              <a:srgbClr val="B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4579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EC3CA-E540-35DF-6128-87C2CD88C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VPC looks better!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103CE-C75B-9B4B-F613-569454835F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11B312-AFEB-8695-AF22-1F879E149F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11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05B1-CB44-641C-8DBE-A6A855F26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1275805"/>
            <a:ext cx="10225136" cy="51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966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41B99-71EC-E9A9-71FD-CF3E1DE21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TTE modeling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83D60-7387-8E75-E4C6-34003A2A2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example we show here could just as easily be performed using the </a:t>
            </a:r>
            <a:r>
              <a:rPr lang="en-US" b="1" dirty="0" err="1"/>
              <a:t>survreg</a:t>
            </a:r>
            <a:r>
              <a:rPr lang="en-US" dirty="0"/>
              <a:t> package in R – these models are quite simple</a:t>
            </a:r>
          </a:p>
          <a:p>
            <a:r>
              <a:rPr lang="en-GB" dirty="0"/>
              <a:t>Where it starts becoming really useful is with repeated time-to-event (RTTE) models, or with joint models (e.g. TGI-OS)</a:t>
            </a:r>
          </a:p>
          <a:p>
            <a:r>
              <a:rPr lang="en-GB" dirty="0"/>
              <a:t>Code examples are provided in the </a:t>
            </a:r>
            <a:r>
              <a:rPr lang="en-GB" b="1" dirty="0"/>
              <a:t>TTE</a:t>
            </a:r>
            <a:r>
              <a:rPr lang="en-GB" dirty="0"/>
              <a:t> folder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C6E16-C7EB-A059-ECAB-055AD0785B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F74D1-16C5-52A1-6619-FCAFFC29FE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320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2CD5C-470D-DE71-526C-FC582E46F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for discrete data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DF2D2-9FF3-6322-8434-457A49F85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Discrete data can be:</a:t>
            </a:r>
          </a:p>
          <a:p>
            <a:pPr lvl="1"/>
            <a:r>
              <a:rPr lang="en-US" dirty="0"/>
              <a:t>Binary (0 or 1, yes or no)</a:t>
            </a:r>
          </a:p>
          <a:p>
            <a:pPr lvl="1"/>
            <a:r>
              <a:rPr lang="en-US" dirty="0"/>
              <a:t>Categorical (ordered or unordered)</a:t>
            </a:r>
          </a:p>
          <a:p>
            <a:pPr lvl="1"/>
            <a:r>
              <a:rPr lang="en-US" dirty="0"/>
              <a:t>Counts</a:t>
            </a:r>
          </a:p>
          <a:p>
            <a:r>
              <a:rPr lang="en-US" dirty="0"/>
              <a:t>These kinds of data cannot easily be approximated using continuous-data models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06ECD7-BB2F-BBEC-66F2-E51E80A3CE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DF9E22-F73D-CB66-AC15-7B8323BE88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2288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634DD-04C4-A791-9F52-6DF2FEF23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for binary data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56934-2E11-883B-9543-3008E1687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392" y="980728"/>
            <a:ext cx="5184576" cy="5184576"/>
          </a:xfrm>
        </p:spPr>
        <p:txBody>
          <a:bodyPr/>
          <a:lstStyle/>
          <a:p>
            <a:r>
              <a:rPr lang="en-US" dirty="0"/>
              <a:t>We typically use logistic regression for binary data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8FDCB-7253-024C-1A20-83630DB050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F6339C-EABD-2586-6849-B574B12C1E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14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23543A-0072-B9E7-58EB-DE54A4B11169}"/>
                  </a:ext>
                </a:extLst>
              </p:cNvPr>
              <p:cNvSpPr txBox="1"/>
              <p:nvPr/>
            </p:nvSpPr>
            <p:spPr>
              <a:xfrm>
                <a:off x="1055440" y="1916832"/>
                <a:ext cx="5221942" cy="489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logit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23543A-0072-B9E7-58EB-DE54A4B11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440" y="1916832"/>
                <a:ext cx="5221942" cy="4898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B6765817-A770-D323-CBD9-7ADC130A0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064" y="1085776"/>
            <a:ext cx="4941168" cy="49411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9621AC5-00FC-A6E3-2259-AF3A67FCBE39}"/>
              </a:ext>
            </a:extLst>
          </p:cNvPr>
          <p:cNvSpPr txBox="1"/>
          <p:nvPr/>
        </p:nvSpPr>
        <p:spPr>
          <a:xfrm>
            <a:off x="551384" y="2636912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logistic_binary_model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function() {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Log odds of response at dose 0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logit_p0 &lt;- -1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Change in log odds for each one-unit increase in dose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beta_dose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&lt;- 0.008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})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model({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Linear predictor on the log-odds scale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lp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logit_p0 +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beta_dose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DOSE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Inverse-logit transformation to obtain a probability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 &lt;-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expit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lp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 binary response is a binomial endpoint with one trial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one &lt;- 1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RESPONSE ~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dbinom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(one, p)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})}</a:t>
            </a: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Fit the logistic regression model</a:t>
            </a:r>
          </a:p>
          <a:p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fit_logistic_binary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nlmixr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logistic_binary_model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binary_data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est = "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nlm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control =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nlmControl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(print = 0))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A733E-CFB1-0DD1-AC42-B03C77F27929}"/>
              </a:ext>
            </a:extLst>
          </p:cNvPr>
          <p:cNvSpPr/>
          <p:nvPr/>
        </p:nvSpPr>
        <p:spPr>
          <a:xfrm>
            <a:off x="4079776" y="6113066"/>
            <a:ext cx="1224136" cy="282504"/>
          </a:xfrm>
          <a:prstGeom prst="rect">
            <a:avLst/>
          </a:prstGeom>
          <a:noFill/>
          <a:ln>
            <a:solidFill>
              <a:srgbClr val="B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459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3BB3C-DEAC-55A4-C9C6-BD45FE484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fit 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8929A-C976-4E2D-5378-8B13F83A5F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B14D5-1BE2-9D60-3473-C9CD993DB6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85B959-A5B4-DDB3-8634-DE9084C538CD}"/>
              </a:ext>
            </a:extLst>
          </p:cNvPr>
          <p:cNvSpPr txBox="1"/>
          <p:nvPr/>
        </p:nvSpPr>
        <p:spPr>
          <a:xfrm>
            <a:off x="625542" y="1052736"/>
            <a:ext cx="11593288" cy="3799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80"/>
              </a:lnSpc>
              <a:buNone/>
            </a:pPr>
            <a:r>
              <a:rPr lang="en-GB" sz="1600" b="0" i="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&gt; </a:t>
            </a:r>
            <a:r>
              <a:rPr lang="en-GB" sz="1600" b="0" i="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fit_logistic_binary</a:t>
            </a:r>
            <a:endParaRPr lang="en-GB" sz="1600" b="0" i="0" dirty="0">
              <a:solidFill>
                <a:srgbClr val="0000FF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── </a:t>
            </a:r>
            <a:r>
              <a:rPr lang="en-GB" sz="1600" b="1" i="0" dirty="0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nlmix</a:t>
            </a:r>
            <a:r>
              <a:rPr lang="en-GB" sz="1600" b="1" i="0" dirty="0">
                <a:solidFill>
                  <a:srgbClr val="CC0000"/>
                </a:solidFill>
                <a:effectLst/>
                <a:latin typeface="Cascadia Mono" panose="020B0609020000020004" pitchFamily="49" charset="0"/>
              </a:rPr>
              <a:t>r²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log-likelihood </a:t>
            </a:r>
            <a:r>
              <a:rPr lang="en-GB" sz="1600" b="1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nlm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──</a:t>
            </a:r>
            <a:endParaRPr lang="en-GB" sz="16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endParaRPr lang="en-GB" sz="16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 OBJF      AIC      BIC Log-likelihood Condition#(Cov) Condition#(Cor)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0" i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lPop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-177.2108 414.9099 422.4465      -205.4549         32856.2        7.982354</a:t>
            </a:r>
          </a:p>
          <a:p>
            <a:pPr algn="l" latinLnBrk="1">
              <a:lnSpc>
                <a:spcPts val="1680"/>
              </a:lnSpc>
              <a:buNone/>
            </a:pPr>
            <a:endParaRPr lang="en-GB" sz="16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── Time (sec </a:t>
            </a:r>
            <a:r>
              <a:rPr lang="en-GB" sz="1600" b="1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fit_logistic_binary</a:t>
            </a:r>
            <a:r>
              <a:rPr lang="en-GB" sz="16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$time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): ──</a:t>
            </a:r>
            <a:endParaRPr lang="en-GB" sz="16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endParaRPr lang="en-GB" sz="16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setup table other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elapsed 0.003  0.08 7.307</a:t>
            </a:r>
          </a:p>
          <a:p>
            <a:pPr algn="l" latinLnBrk="1">
              <a:lnSpc>
                <a:spcPts val="1680"/>
              </a:lnSpc>
              <a:buNone/>
            </a:pPr>
            <a:endParaRPr lang="en-GB" sz="16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── (</a:t>
            </a:r>
            <a:r>
              <a:rPr lang="en-GB" sz="1600" b="1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fit_logistic_binary</a:t>
            </a:r>
            <a:r>
              <a:rPr lang="en-GB" sz="16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$parFixed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or </a:t>
            </a:r>
            <a:r>
              <a:rPr lang="en-GB" sz="1600" b="1" i="0" dirty="0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</a:t>
            </a:r>
            <a:r>
              <a:rPr lang="en-GB" sz="16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parFixedDf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): ──</a:t>
            </a:r>
            <a:endParaRPr lang="en-GB" sz="16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endParaRPr lang="en-GB" sz="16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     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Est.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SE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%RSE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Back-transformed(95%CI)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BSV(SD)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Shrink(SD)%</a:t>
            </a:r>
            <a:endParaRPr lang="en-GB" sz="16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logit_p0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-0.9513   0.3745 39.37    -0.9513 (-1.685, -0.2172)                   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1" i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beta_dose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0.008611 0.003285 38.15 0.008611 (0.002173, 0.01505)                   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D4222A9-BACD-FDAD-B7C1-BA188B69D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392" y="5085184"/>
            <a:ext cx="10945216" cy="1296144"/>
          </a:xfrm>
        </p:spPr>
        <p:txBody>
          <a:bodyPr/>
          <a:lstStyle/>
          <a:p>
            <a:r>
              <a:rPr lang="en-US" dirty="0"/>
              <a:t>This suggests the odds ratio per 100 unit increase in dose is </a:t>
            </a:r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74E6CF-7C76-43CD-E088-91914BD7E08E}"/>
                  </a:ext>
                </a:extLst>
              </p:cNvPr>
              <p:cNvSpPr txBox="1"/>
              <p:nvPr/>
            </p:nvSpPr>
            <p:spPr>
              <a:xfrm>
                <a:off x="983432" y="5620598"/>
                <a:ext cx="410747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1" i="1" smtClean="0">
                              <a:solidFill>
                                <a:srgbClr val="B4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1" i="0" smtClean="0">
                              <a:solidFill>
                                <a:srgbClr val="B40000"/>
                              </a:solidFill>
                              <a:latin typeface="Cambria Math" panose="02040503050406030204" pitchFamily="18" charset="0"/>
                            </a:rPr>
                            <m:t>𝐞𝐱𝐩</m:t>
                          </m:r>
                        </m:fName>
                        <m:e>
                          <m:d>
                            <m:dPr>
                              <m:ctrlPr>
                                <a:rPr lang="en-US" sz="2400" b="1" i="1" smtClean="0">
                                  <a:solidFill>
                                    <a:srgbClr val="B4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solidFill>
                                    <a:srgbClr val="B40000"/>
                                  </a:solidFill>
                                  <a:latin typeface="Cambria Math" panose="02040503050406030204" pitchFamily="18" charset="0"/>
                                </a:rPr>
                                <m:t>𝟏𝟎𝟎</m:t>
                              </m:r>
                              <m:r>
                                <a:rPr lang="en-US" sz="2400" b="1" i="1" smtClean="0">
                                  <a:solidFill>
                                    <a:srgbClr val="B4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2400" b="1" i="1" smtClean="0">
                                  <a:solidFill>
                                    <a:srgbClr val="B4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400" b="1" i="1" smtClean="0">
                                  <a:solidFill>
                                    <a:srgbClr val="B4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400" b="1" i="1" smtClean="0">
                                  <a:solidFill>
                                    <a:srgbClr val="B40000"/>
                                  </a:solidFill>
                                  <a:latin typeface="Cambria Math" panose="02040503050406030204" pitchFamily="18" charset="0"/>
                                </a:rPr>
                                <m:t>𝟎𝟎𝟖𝟔𝟏𝟏</m:t>
                              </m:r>
                            </m:e>
                          </m:d>
                        </m:e>
                      </m:func>
                      <m:r>
                        <a:rPr lang="en-US" sz="2400" b="1" i="1" smtClean="0">
                          <a:solidFill>
                            <a:srgbClr val="B4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B4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B4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B40000"/>
                          </a:solidFill>
                          <a:latin typeface="Cambria Math" panose="02040503050406030204" pitchFamily="18" charset="0"/>
                        </a:rPr>
                        <m:t>𝟑𝟕</m:t>
                      </m:r>
                    </m:oMath>
                  </m:oMathPara>
                </a14:m>
                <a:endParaRPr lang="en-GB" sz="2400" b="1" dirty="0">
                  <a:solidFill>
                    <a:srgbClr val="B4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74E6CF-7C76-43CD-E088-91914BD7E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5620598"/>
                <a:ext cx="4107471" cy="369332"/>
              </a:xfrm>
              <a:prstGeom prst="rect">
                <a:avLst/>
              </a:prstGeom>
              <a:blipFill>
                <a:blip r:embed="rId2"/>
                <a:stretch>
                  <a:fillRect l="-1335" r="-1187" b="-295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9537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A9B7D-5F40-ABC6-B528-3E47C507A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VPC shows our model does the job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1A2B55-C33C-D040-95EE-3D8F7AA994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F4205-A874-CDD9-13F6-702EE618FF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16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AD299A-E90B-A5B6-EFA7-784E7BE79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1124744"/>
            <a:ext cx="10945216" cy="54726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173C7F-AF1A-5467-1CB0-016994CA87C5}"/>
              </a:ext>
            </a:extLst>
          </p:cNvPr>
          <p:cNvSpPr txBox="1"/>
          <p:nvPr/>
        </p:nvSpPr>
        <p:spPr>
          <a:xfrm>
            <a:off x="6600056" y="1983124"/>
            <a:ext cx="2176846" cy="1477328"/>
          </a:xfrm>
          <a:prstGeom prst="rect">
            <a:avLst/>
          </a:prstGeom>
          <a:noFill/>
          <a:ln>
            <a:solidFill>
              <a:srgbClr val="B4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Generated using a custom simulation function together with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vpc_cat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the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vpc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package</a:t>
            </a: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031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7FD30-D022-A3CF-AA11-F152273B3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for count data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1DB33-68C8-E761-F987-1122A58EA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Counts arise when the endpoint is the number of events in an observation window</a:t>
            </a:r>
          </a:p>
          <a:p>
            <a:pPr lvl="1"/>
            <a:r>
              <a:rPr lang="en-GB" dirty="0"/>
              <a:t>e.g. seizures per week, infections per treatment cycle, vomiting episodes, device failures</a:t>
            </a:r>
          </a:p>
          <a:p>
            <a:r>
              <a:rPr lang="en-GB" dirty="0"/>
              <a:t>Count data can have different properties:</a:t>
            </a:r>
          </a:p>
          <a:p>
            <a:pPr lvl="1"/>
            <a:r>
              <a:rPr lang="en-GB" dirty="0" err="1"/>
              <a:t>Equidispersed</a:t>
            </a:r>
            <a:r>
              <a:rPr lang="en-GB" dirty="0"/>
              <a:t>: for a given individual and covariate pattern, the mean and variance are both the same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>
                <a:solidFill>
                  <a:srgbClr val="B40000"/>
                </a:solidFill>
                <a:sym typeface="Wingdings" panose="05000000000000000000" pitchFamily="2" charset="2"/>
              </a:rPr>
              <a:t>Poisson models</a:t>
            </a:r>
            <a:endParaRPr lang="en-GB" dirty="0">
              <a:solidFill>
                <a:srgbClr val="B40000"/>
              </a:solidFill>
            </a:endParaRPr>
          </a:p>
          <a:p>
            <a:pPr lvl="1"/>
            <a:r>
              <a:rPr lang="en-GB" dirty="0" err="1"/>
              <a:t>Overdispersed</a:t>
            </a:r>
            <a:r>
              <a:rPr lang="en-GB" dirty="0"/>
              <a:t>: some subjects have many more events than the population mean predicts, while others have few or none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>
                <a:solidFill>
                  <a:srgbClr val="B40000"/>
                </a:solidFill>
                <a:sym typeface="Wingdings" panose="05000000000000000000" pitchFamily="2" charset="2"/>
              </a:rPr>
              <a:t>negative binomial models</a:t>
            </a:r>
            <a:endParaRPr lang="en-GB" dirty="0">
              <a:solidFill>
                <a:srgbClr val="B40000"/>
              </a:solidFill>
            </a:endParaRPr>
          </a:p>
          <a:p>
            <a:pPr lvl="1"/>
            <a:r>
              <a:rPr lang="en-GB" dirty="0"/>
              <a:t>Zero-inflated: disproportionately high proportion of zero counts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>
                <a:solidFill>
                  <a:srgbClr val="B40000"/>
                </a:solidFill>
                <a:sym typeface="Wingdings" panose="05000000000000000000" pitchFamily="2" charset="2"/>
              </a:rPr>
              <a:t>zero-inflated </a:t>
            </a:r>
            <a:r>
              <a:rPr lang="en-GB" dirty="0" err="1">
                <a:solidFill>
                  <a:srgbClr val="B40000"/>
                </a:solidFill>
                <a:sym typeface="Wingdings" panose="05000000000000000000" pitchFamily="2" charset="2"/>
              </a:rPr>
              <a:t>Possion</a:t>
            </a:r>
            <a:r>
              <a:rPr lang="en-GB" dirty="0">
                <a:solidFill>
                  <a:srgbClr val="B40000"/>
                </a:solidFill>
                <a:sym typeface="Wingdings" panose="05000000000000000000" pitchFamily="2" charset="2"/>
              </a:rPr>
              <a:t> and negative binomial models</a:t>
            </a:r>
            <a:endParaRPr lang="en-GB" dirty="0">
              <a:solidFill>
                <a:srgbClr val="B40000"/>
              </a:solidFill>
            </a:endParaRPr>
          </a:p>
          <a:p>
            <a:r>
              <a:rPr lang="en-GB" dirty="0">
                <a:solidFill>
                  <a:srgbClr val="B40000"/>
                </a:solidFill>
              </a:rPr>
              <a:t>nlmixr2</a:t>
            </a:r>
            <a:r>
              <a:rPr lang="en-GB" dirty="0"/>
              <a:t> can handle all of these, but as before, we need to write our own likelihood – see the </a:t>
            </a:r>
            <a:r>
              <a:rPr lang="en-GB" b="1" dirty="0"/>
              <a:t>Counts</a:t>
            </a:r>
            <a:r>
              <a:rPr lang="en-GB" dirty="0"/>
              <a:t> folder for examples</a:t>
            </a:r>
          </a:p>
          <a:p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0F1502-7A8D-51B4-B843-9A449ED2A7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nlmix</a:t>
            </a:r>
            <a:r>
              <a:rPr lang="en-GB" dirty="0">
                <a:solidFill>
                  <a:srgbClr val="B40000"/>
                </a:solidFill>
              </a:rPr>
              <a:t>r</a:t>
            </a:r>
            <a:r>
              <a:rPr lang="en-GB" baseline="30000" dirty="0">
                <a:solidFill>
                  <a:srgbClr val="B40000"/>
                </a:solidFill>
              </a:rPr>
              <a:t>2</a:t>
            </a:r>
            <a:r>
              <a:rPr lang="en-GB" dirty="0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5F6C1-D467-0EFA-6260-FB627E9A9D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A6E61E-3378-2C3E-AC14-D1E3038DAD3C}"/>
              </a:ext>
            </a:extLst>
          </p:cNvPr>
          <p:cNvSpPr txBox="1"/>
          <p:nvPr/>
        </p:nvSpPr>
        <p:spPr>
          <a:xfrm>
            <a:off x="623392" y="5949280"/>
            <a:ext cx="10729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 E. </a:t>
            </a:r>
            <a:r>
              <a:rPr lang="en-GB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Modeling</a:t>
            </a:r>
            <a:r>
              <a:rPr lang="en-GB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Simulation of Count Data. CPT: Pharmacometrics &amp; Systems Pharmacology. 2014 Aug 1;3(8):1–12. doi:</a:t>
            </a:r>
            <a:r>
              <a:rPr lang="en-GB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10.1038/PSP.2014.27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644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B2399-3A6B-003F-7910-C68FE3FB1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for unordered categorical data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620FE-0BC8-6FE5-F928-4667CEC5E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Unordered categorical endpoints occur when the outcome is a category, but the categories do not have a natural severity or magnitude ordering</a:t>
            </a:r>
          </a:p>
          <a:p>
            <a:pPr lvl="1"/>
            <a:r>
              <a:rPr lang="en-GB" dirty="0"/>
              <a:t>e.g. adverse-event type, reason for discontinuation, responder phenotype, etc. </a:t>
            </a:r>
          </a:p>
          <a:p>
            <a:pPr lvl="1"/>
            <a:r>
              <a:rPr lang="en-GB" dirty="0"/>
              <a:t>Categories are not ranked, just different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F7C122-3A15-BE62-242C-54E631072C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91389-B173-FB17-49FB-F51AF0FAEA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18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086424-FA32-9D7E-774D-478C13424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915" y="2914727"/>
            <a:ext cx="7128115" cy="356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076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F32F8-E6E0-B44E-41D9-FF4E4BB95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for unordered categorical data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51829E-B9DB-5A16-7274-03AE94F645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C9D7A-CC44-6862-B0E2-F3A5C677DC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D4EB6-A3B4-6B2A-4D02-FB835D98E4F1}"/>
              </a:ext>
            </a:extLst>
          </p:cNvPr>
          <p:cNvSpPr txBox="1"/>
          <p:nvPr/>
        </p:nvSpPr>
        <p:spPr>
          <a:xfrm>
            <a:off x="623392" y="1166843"/>
            <a:ext cx="1108923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unordered_model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function() {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Category 2 versus category 1 at DOSE = 100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cat2_intercept &lt;- -0.2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cat2_dose &lt;- 0.004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Category 3 versus category 1 at DOSE = 100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cat3_intercept &lt;- 0.3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cat3_dose &lt;- -0.003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})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model({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Logits for categories 2 and 3 relative to reference category 1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lp2 &lt;- cat2_intercept + cat2_dose * (DOSE - 100)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lp3 &lt;- cat3_intercept + cat3_dose * (DOSE - 100)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Category 1 is represented by exp(0) = 1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denom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&lt;- 1 + exp(lp2) + exp(lp3)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p1 &lt;- 1 / 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denom</a:t>
            </a:r>
            <a:endParaRPr lang="en-GB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p2 &lt;- exp(lp2) / 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denom</a:t>
            </a:r>
            <a:endParaRPr lang="en-GB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Three categories: 1, 2, and the remainder category 3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CAT ~ c(p1, p2)</a:t>
            </a:r>
          </a:p>
          <a:p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})}</a:t>
            </a:r>
          </a:p>
          <a:p>
            <a:r>
              <a:rPr lang="en-GB" sz="14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Fit the fixed-effect categorical model</a:t>
            </a:r>
          </a:p>
          <a:p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fit_unordered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nlmixr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unordered_model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unordered_data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est = "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nlm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0062152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5ABE-DDA4-BFAD-D5A8-82C8EB2C9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for unordered categorical data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D09737-CC53-83C9-3A1A-6FC4A16247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6F736-FD11-386B-F997-2B075CF8FD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760E3A-C427-CECB-2105-C380CB060AF6}"/>
              </a:ext>
            </a:extLst>
          </p:cNvPr>
          <p:cNvSpPr txBox="1"/>
          <p:nvPr/>
        </p:nvSpPr>
        <p:spPr>
          <a:xfrm>
            <a:off x="623392" y="1196752"/>
            <a:ext cx="12313368" cy="5107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80"/>
              </a:lnSpc>
              <a:buNone/>
            </a:pPr>
            <a:r>
              <a:rPr lang="en-GB" sz="1600" b="0" i="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&gt; </a:t>
            </a:r>
            <a:r>
              <a:rPr lang="en-GB" sz="1600" b="0" i="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fit_unordered</a:t>
            </a:r>
            <a:endParaRPr lang="en-GB" sz="1600" b="0" i="0" dirty="0">
              <a:solidFill>
                <a:srgbClr val="0000FF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── </a:t>
            </a:r>
            <a:r>
              <a:rPr lang="en-GB" sz="1600" b="1" i="0" dirty="0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nlmix</a:t>
            </a:r>
            <a:r>
              <a:rPr lang="en-GB" sz="1600" b="1" i="0" dirty="0">
                <a:solidFill>
                  <a:srgbClr val="CC0000"/>
                </a:solidFill>
                <a:effectLst/>
                <a:latin typeface="Cascadia Mono" panose="020B0609020000020004" pitchFamily="49" charset="0"/>
              </a:rPr>
              <a:t>r²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log-likelihood </a:t>
            </a:r>
            <a:r>
              <a:rPr lang="en-GB" sz="1600" b="1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nlm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──</a:t>
            </a:r>
            <a:endParaRPr lang="en-GB" sz="16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endParaRPr lang="en-GB" sz="16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OBJF      AIC      BIC Log-likelihood Condition#(Cov) Condition#(Cor)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0" i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lPop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47.93183 497.0223 510.9449      -244.5112        17878.36        3.521674</a:t>
            </a:r>
          </a:p>
          <a:p>
            <a:pPr algn="l" latinLnBrk="1">
              <a:lnSpc>
                <a:spcPts val="1680"/>
              </a:lnSpc>
              <a:buNone/>
            </a:pPr>
            <a:endParaRPr lang="en-GB" sz="16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── Time (sec </a:t>
            </a:r>
            <a:r>
              <a:rPr lang="en-GB" sz="1600" b="1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fit_unordered</a:t>
            </a:r>
            <a:r>
              <a:rPr lang="en-GB" sz="16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$time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): ──</a:t>
            </a:r>
            <a:endParaRPr lang="en-GB" sz="16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endParaRPr lang="en-GB" sz="16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setup table other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elapsed 0.003  0.06 9.227</a:t>
            </a:r>
          </a:p>
          <a:p>
            <a:pPr algn="l" latinLnBrk="1">
              <a:lnSpc>
                <a:spcPts val="1680"/>
              </a:lnSpc>
              <a:buNone/>
            </a:pPr>
            <a:endParaRPr lang="en-GB" sz="16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── (</a:t>
            </a:r>
            <a:r>
              <a:rPr lang="en-GB" sz="1600" b="1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fit_unordered</a:t>
            </a:r>
            <a:r>
              <a:rPr lang="en-GB" sz="16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$parFixed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or </a:t>
            </a:r>
            <a:r>
              <a:rPr lang="en-GB" sz="1600" b="1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fit_unordered</a:t>
            </a:r>
            <a:r>
              <a:rPr lang="en-GB" sz="16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$parFixedDf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): ──</a:t>
            </a:r>
            <a:endParaRPr lang="en-GB" sz="16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endParaRPr lang="en-GB" sz="16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           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Est.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SE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%RSE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Back-transformed(95%CI)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BSV(SD)</a:t>
            </a:r>
            <a:endParaRPr lang="en-GB" sz="16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cat2_intercept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-0.3537   0.3688 104.3       -0.3537 (-1.077, 0.3691)       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cat2_dose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0.003579 0.004876 136.2  0.003579 (-0.005978, 0.01314)       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cat3_intercept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0.4228   0.3088 73.02        0.4228 (-0.1823, 1.028)       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cat3_dose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-0.003625  0.00416 114.8 -0.003625 (-0.01178, 0.004528)       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      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Shrink(SD)%</a:t>
            </a:r>
            <a:endParaRPr lang="en-GB" sz="16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cat2_intercept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  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cat2_dose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       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cat3_intercept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  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6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cat3_dose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0006082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8ED9E-1EA6-5107-B750-97179D0D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model fits well!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A38B30-A28F-FBF6-A413-CE345E945A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A362C-7A95-6814-0FA6-63D5CE8500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21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9B516A-342C-E630-D94F-8CF92454B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700" y="1916832"/>
            <a:ext cx="5594272" cy="35283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C9DF9D-59E9-07BE-4BDD-185B25A48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65" y="1916832"/>
            <a:ext cx="5594272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6322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A1690-0393-E333-2F7D-11F00DB5E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for ordered categorical data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D080E-0918-89FF-1684-6AF22F111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Ordered categorical endpoints are common for safety and symptom scores</a:t>
            </a:r>
          </a:p>
          <a:p>
            <a:pPr lvl="1"/>
            <a:r>
              <a:rPr lang="en-GB" dirty="0"/>
              <a:t>none, mild, moderate, severe; grade 0 through grade 4 toxicity; etc.</a:t>
            </a:r>
          </a:p>
          <a:p>
            <a:r>
              <a:rPr lang="en-GB" dirty="0"/>
              <a:t>Similar to unordered categories; probabilities must sum to 1…</a:t>
            </a:r>
          </a:p>
          <a:p>
            <a:pPr lvl="1"/>
            <a:r>
              <a:rPr lang="en-GB" dirty="0"/>
              <a:t>Category 1 = p1</a:t>
            </a:r>
          </a:p>
          <a:p>
            <a:pPr lvl="1"/>
            <a:r>
              <a:rPr lang="en-GB" dirty="0"/>
              <a:t>Category 2 = p2</a:t>
            </a:r>
          </a:p>
          <a:p>
            <a:pPr lvl="1"/>
            <a:r>
              <a:rPr lang="en-GB" dirty="0"/>
              <a:t>Category 3 = p3</a:t>
            </a:r>
          </a:p>
          <a:p>
            <a:pPr lvl="1"/>
            <a:r>
              <a:rPr lang="en-GB" dirty="0"/>
              <a:t>Category 4 = 1 – p1 – p2 – p3</a:t>
            </a:r>
          </a:p>
          <a:p>
            <a:r>
              <a:rPr lang="en-GB" dirty="0"/>
              <a:t>The difference is in the cumulative probabilities:</a:t>
            </a:r>
          </a:p>
          <a:p>
            <a:pPr lvl="1"/>
            <a:r>
              <a:rPr lang="en-GB" dirty="0"/>
              <a:t>p1 = cp1</a:t>
            </a:r>
          </a:p>
          <a:p>
            <a:pPr lvl="1"/>
            <a:r>
              <a:rPr lang="en-GB" dirty="0"/>
              <a:t>p2 = cp2 – cp1</a:t>
            </a:r>
          </a:p>
          <a:p>
            <a:pPr lvl="1"/>
            <a:r>
              <a:rPr lang="en-GB" dirty="0"/>
              <a:t>p3 = cp3 – cp2 </a:t>
            </a:r>
          </a:p>
          <a:p>
            <a:pPr lvl="1"/>
            <a:r>
              <a:rPr lang="en-GB" dirty="0"/>
              <a:t>p4 = 1 – cp3</a:t>
            </a:r>
          </a:p>
          <a:p>
            <a:r>
              <a:rPr lang="en-GB" dirty="0"/>
              <a:t>A convenient way to tackle this is a proportional-odds model with ordered thresholds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51E3DF-A29F-EA3F-E025-4941A786F1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44376E-25C4-62CD-3B76-A8ABA8F7A3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0457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6F5C5-2828-B794-BFF3-D66E01513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Proportional odds model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3F990B-912B-2864-5449-4750E04FD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364C42-D538-2B43-DAD8-D074092D1A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18AFB6-888E-D0E0-2916-CCEFB44B3717}"/>
              </a:ext>
            </a:extLst>
          </p:cNvPr>
          <p:cNvSpPr txBox="1"/>
          <p:nvPr/>
        </p:nvSpPr>
        <p:spPr>
          <a:xfrm>
            <a:off x="623392" y="923601"/>
            <a:ext cx="11017224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ordinal_model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function() {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First threshold and positive log-increments to the next thresholds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theta1 &lt;- -1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log_delta2 &lt;- log(1.4)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log_delta3 &lt;- log(1.2)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Dose effect on the latent severity scale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beta_dose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&lt;- 0.005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Subject-level variability in latent severity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eta_sev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~ 0.05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})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model({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Linear predictor </a:t>
            </a:r>
            <a:r>
              <a:rPr lang="en-GB" sz="1200" b="1" dirty="0" err="1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centered</a:t>
            </a:r>
            <a:r>
              <a:rPr lang="en-GB" sz="12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at 100 mg for numerical stability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lp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beta_dose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(DOSE - 100) +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eta_sev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Ordered thresholds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theta2 &lt;- theta1 + exp(log_delta2)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theta3 &lt;- theta2 + exp(log_delta3)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Cumulative probabilities P(Y &lt;= k)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cp1 &lt;-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expit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(theta1 -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lp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cp2 &lt;-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expit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(theta2 -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lp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cp3 &lt;-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expit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(theta3 -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lp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Category probabilities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p1 &lt;- cp1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p2 &lt;- cp2 - cp1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p3 &lt;- cp3 - cp2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Four ordered categories: 1, 2, 3, and the remainder category 4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SEV ~ c(p1, p2, p3)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})}</a:t>
            </a:r>
          </a:p>
          <a:p>
            <a:r>
              <a:rPr lang="en-GB" sz="1200" b="1" dirty="0">
                <a:solidFill>
                  <a:srgbClr val="57A83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Fit the ordered categorical model</a:t>
            </a:r>
          </a:p>
          <a:p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fit_ordinal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nlmixr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ordinal_model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ordered_data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est = "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laplace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17421789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49949-6610-CFE6-81C8-1C1EA12B4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Proportional odds model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51930B-F6C3-38A0-2D39-72B69881EC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AE9CFE-9ECC-A4CB-CD70-E2DBB025E7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D38169-393A-BEEC-8AFC-18BB16509292}"/>
              </a:ext>
            </a:extLst>
          </p:cNvPr>
          <p:cNvSpPr txBox="1"/>
          <p:nvPr/>
        </p:nvSpPr>
        <p:spPr>
          <a:xfrm>
            <a:off x="551384" y="980728"/>
            <a:ext cx="10945216" cy="5531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&gt; </a:t>
            </a:r>
            <a:r>
              <a:rPr lang="en-GB" sz="1400" b="0" i="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fit_ordinal</a:t>
            </a:r>
            <a:endParaRPr lang="en-GB" sz="1400" b="0" i="0" dirty="0">
              <a:solidFill>
                <a:srgbClr val="0000FF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── </a:t>
            </a:r>
            <a:r>
              <a:rPr lang="en-GB" sz="1400" b="1" i="0" dirty="0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nlmix</a:t>
            </a:r>
            <a:r>
              <a:rPr lang="en-GB" sz="1400" b="1" i="0" dirty="0">
                <a:solidFill>
                  <a:srgbClr val="CC0000"/>
                </a:solidFill>
                <a:effectLst/>
                <a:latin typeface="Cascadia Mono" panose="020B0609020000020004" pitchFamily="49" charset="0"/>
              </a:rPr>
              <a:t>r²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log-likelihood </a:t>
            </a:r>
            <a:r>
              <a:rPr lang="en-GB" sz="1400" b="1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AGQ</a:t>
            </a:r>
            <a:r>
              <a:rPr lang="en-GB" sz="1400" b="1" i="0" dirty="0" err="1">
                <a:solidFill>
                  <a:srgbClr val="CC0000"/>
                </a:solidFill>
                <a:effectLst/>
                <a:latin typeface="Cascadia Mono" panose="020B0609020000020004" pitchFamily="49" charset="0"/>
              </a:rPr>
              <a:t>i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(outer: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nlminb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 Laplace) ──</a:t>
            </a:r>
          </a:p>
          <a:p>
            <a:pPr algn="l" latinLnBrk="1">
              <a:lnSpc>
                <a:spcPts val="1680"/>
              </a:lnSpc>
              <a:buNone/>
            </a:pP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  OBJF      AIC     BIC Log-likelihood Condition#(Cov) Condition#(Cor)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Laplace 163.491 541.0665 557.558      -265.5332        12127.27        5.516579</a:t>
            </a:r>
          </a:p>
          <a:p>
            <a:pPr algn="l" latinLnBrk="1">
              <a:lnSpc>
                <a:spcPts val="1680"/>
              </a:lnSpc>
              <a:buNone/>
            </a:pP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── Time (sec </a:t>
            </a:r>
            <a:r>
              <a:rPr lang="en-GB" sz="1400" b="1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fit_ordinal</a:t>
            </a:r>
            <a:r>
              <a:rPr lang="en-GB" sz="14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$time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): ──</a:t>
            </a: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setup optimize covariance table other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elapsed 0.002    0.073      0.073  0.13 8.372</a:t>
            </a:r>
          </a:p>
          <a:p>
            <a:pPr algn="l" latinLnBrk="1">
              <a:lnSpc>
                <a:spcPts val="1680"/>
              </a:lnSpc>
              <a:buNone/>
            </a:pP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── Population Parameters (</a:t>
            </a:r>
            <a:r>
              <a:rPr lang="en-GB" sz="1400" b="1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fit_ordinal</a:t>
            </a:r>
            <a:r>
              <a:rPr lang="en-GB" sz="14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$parFixed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or </a:t>
            </a:r>
            <a:r>
              <a:rPr lang="en-GB" sz="1400" b="1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fit_ordinal</a:t>
            </a:r>
            <a:r>
              <a:rPr lang="en-GB" sz="14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$parFixedDf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): ──</a:t>
            </a: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    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Est.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SE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%RSE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Back-transformed(95%CI)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BSV(SD)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Shrink(SD)%</a:t>
            </a: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theta1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 -1   0.363 36.3          -1 (-1.71, -0.288)                   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log_delta2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0.336   0.232   69       0.336 (-0.119, 0.792)                   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log_delta3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0.182   0.267  147       0.182 (-0.341, 0.706)                   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beta_dose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0.00685 0.00393 57.3 0.00685 (-0.000847, 0.0146)                   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eta_sev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                                              0.224      </a:t>
            </a:r>
            <a:r>
              <a:rPr lang="en-GB" sz="1400" b="1" i="0" dirty="0">
                <a:solidFill>
                  <a:srgbClr val="CC0000"/>
                </a:solidFill>
                <a:effectLst/>
                <a:latin typeface="Cascadia Mono" panose="020B0609020000020004" pitchFamily="49" charset="0"/>
              </a:rPr>
              <a:t>88.1%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Covariance Type (</a:t>
            </a:r>
            <a:r>
              <a:rPr lang="en-GB" sz="1400" b="0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fit_ordinal</a:t>
            </a:r>
            <a:r>
              <a:rPr lang="en-GB" sz="14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$covMethod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):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s</a:t>
            </a: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No correlations in between subject variability (BSV) matrix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Full BSV covariance (</a:t>
            </a:r>
            <a:r>
              <a:rPr lang="en-GB" sz="1400" b="0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fit_ordinal</a:t>
            </a:r>
            <a:r>
              <a:rPr lang="en-GB" sz="14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$omega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or correlation (</a:t>
            </a:r>
            <a:r>
              <a:rPr lang="en-GB" sz="1400" b="0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fit_ordinal</a:t>
            </a:r>
            <a:r>
              <a:rPr lang="en-GB" sz="14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$omegaR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 diagonals=SDs)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Distribution stats (mean/skewness/kurtosis/p-value) available in </a:t>
            </a:r>
            <a:r>
              <a:rPr lang="en-GB" sz="1400" b="0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fit_ordinal</a:t>
            </a:r>
            <a:r>
              <a:rPr lang="en-GB" sz="14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$shrink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00402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54674-68AF-E60D-3131-FA6D725E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works!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0A3BB7-446F-F233-BA4A-9F47BF1E8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3FF028-CC15-FB65-88F3-7D3B6586B2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25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44C971-826F-9239-46A2-75F20B61D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22" y="2204889"/>
            <a:ext cx="5593651" cy="352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A68E67-D762-0D6D-FE18-7CD99AE64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2204889"/>
            <a:ext cx="5593651" cy="3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5599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E1AB5-11F7-14B4-CFEA-1154AB21B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functions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78130-6C29-C6EC-83CC-03B2C78B5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When defining models, you may wish to write a small R function or make a function integrate into rxode2 somehow. This is possible!</a:t>
            </a:r>
          </a:p>
          <a:p>
            <a:pPr lvl="1"/>
            <a:r>
              <a:rPr lang="en-GB" dirty="0"/>
              <a:t>R-based user functions which can be loaded as simple functions or in certain circumstances translated to C to run more efficiently</a:t>
            </a:r>
          </a:p>
          <a:p>
            <a:pPr lvl="1"/>
            <a:r>
              <a:rPr lang="en-GB" dirty="0"/>
              <a:t>C functions that you define and integrate into code</a:t>
            </a:r>
          </a:p>
          <a:p>
            <a:pPr lvl="1"/>
            <a:r>
              <a:rPr lang="en-GB" dirty="0"/>
              <a:t>Functions that insert rxode2 code into the current model</a:t>
            </a:r>
          </a:p>
          <a:p>
            <a:r>
              <a:rPr lang="en-GB" dirty="0"/>
              <a:t>See </a:t>
            </a:r>
            <a:r>
              <a:rPr lang="en-GB" dirty="0">
                <a:hlinkClick r:id="rId2"/>
              </a:rPr>
              <a:t>https://nlmixr2.github.io/rxode2/articles/Integrating-User-Defined-Functions-into-rxode2.html</a:t>
            </a:r>
            <a:r>
              <a:rPr lang="en-GB" dirty="0"/>
              <a:t>	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1486D1-F038-0285-D79F-9D86AB6F69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5140A-46DF-859D-E500-D6C0F0CAE1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83207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D184F-6B0E-8003-EE05-65CC060C9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dosing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33B87-2A68-A3C5-0C7F-6C4C712B8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rxode2</a:t>
            </a:r>
            <a:r>
              <a:rPr lang="en-GB" dirty="0"/>
              <a:t> can modify an individual’s event history while the model is being solved</a:t>
            </a:r>
          </a:p>
          <a:p>
            <a:r>
              <a:rPr lang="en-GB" dirty="0"/>
              <a:t>This allows adaptive dosing strategies such as:</a:t>
            </a:r>
          </a:p>
          <a:p>
            <a:pPr lvl="1"/>
            <a:r>
              <a:rPr lang="en-GB" dirty="0"/>
              <a:t>response-guided titration</a:t>
            </a:r>
          </a:p>
          <a:p>
            <a:pPr lvl="1"/>
            <a:r>
              <a:rPr lang="en-GB" dirty="0"/>
              <a:t>rescue doses</a:t>
            </a:r>
          </a:p>
          <a:p>
            <a:pPr lvl="1"/>
            <a:r>
              <a:rPr lang="en-GB" dirty="0"/>
              <a:t>infusion starts with fixed rate or fixed duration</a:t>
            </a:r>
          </a:p>
          <a:p>
            <a:pPr lvl="1"/>
            <a:r>
              <a:rPr lang="en-GB" dirty="0"/>
              <a:t>compartment reset, replacement, or proportional adjustment</a:t>
            </a:r>
          </a:p>
          <a:p>
            <a:pPr lvl="1"/>
            <a:r>
              <a:rPr lang="en-GB" dirty="0"/>
              <a:t>phantom/transit doses that update podo() and tad() without adding mass to the compartment</a:t>
            </a:r>
          </a:p>
          <a:p>
            <a:pPr lvl="1"/>
            <a:r>
              <a:rPr lang="en-GB" dirty="0"/>
              <a:t>adaptive observation scheduling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6C3431-8AE9-5D80-A300-E524C65A26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F1D4B1-BA03-4DC7-E20B-9155D74FBD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4529FB-9DC8-B8DF-3082-ADBE5138FC5D}"/>
              </a:ext>
            </a:extLst>
          </p:cNvPr>
          <p:cNvSpPr txBox="1"/>
          <p:nvPr/>
        </p:nvSpPr>
        <p:spPr>
          <a:xfrm>
            <a:off x="623392" y="5445224"/>
            <a:ext cx="98650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https://nlmixr2.github.io/rxode2/articles/adaptive-dosing.html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43686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E96A6-C3EE-50D4-48C4-7A0E116F7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piping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BEB45-91FE-1FA0-4CE1-448B99895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392" y="1196752"/>
            <a:ext cx="10153128" cy="5184576"/>
          </a:xfrm>
        </p:spPr>
        <p:txBody>
          <a:bodyPr/>
          <a:lstStyle/>
          <a:p>
            <a:r>
              <a:rPr lang="en-US" dirty="0"/>
              <a:t>Consider this very simple PK model (it might seem familiar!)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0C29C0-5CAF-4301-7ECF-79208D5269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BFC94-8788-A0A6-13B4-88A4EE7A42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28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1CEA86-EF5A-A739-62A6-BD4F3B84EEF5}"/>
              </a:ext>
            </a:extLst>
          </p:cNvPr>
          <p:cNvSpPr txBox="1"/>
          <p:nvPr/>
        </p:nvSpPr>
        <p:spPr>
          <a:xfrm>
            <a:off x="1415480" y="1844824"/>
            <a:ext cx="609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GB" sz="1400" b="1" i="0" dirty="0" err="1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one.compartment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&lt;-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function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GB" sz="1400" b="1" i="0" dirty="0">
              <a:solidFill>
                <a:srgbClr val="003B4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0">
              <a:buNone/>
            </a:pP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400" b="1" i="0" dirty="0" err="1">
                <a:solidFill>
                  <a:srgbClr val="4758A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ini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  <a:endParaRPr lang="en-GB" sz="1400" b="1" i="0" dirty="0">
              <a:solidFill>
                <a:srgbClr val="003B4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0">
              <a:buNone/>
            </a:pP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i="0" dirty="0" err="1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tka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&lt;-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AD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0.45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GB" sz="1400" b="1" i="0" dirty="0">
                <a:solidFill>
                  <a:srgbClr val="4758A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b="1" i="0" dirty="0">
                <a:solidFill>
                  <a:srgbClr val="20794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"Ka"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GB" sz="1400" b="1" i="0" dirty="0">
              <a:solidFill>
                <a:srgbClr val="003B4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0">
              <a:buNone/>
            </a:pP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i="0" dirty="0" err="1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tcl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&lt;-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AD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GB" sz="1400" b="1" i="0" dirty="0">
                <a:solidFill>
                  <a:srgbClr val="4758A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b="1" i="0" dirty="0">
                <a:solidFill>
                  <a:srgbClr val="20794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"Cl"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GB" sz="1400" b="1" i="0" dirty="0">
              <a:solidFill>
                <a:srgbClr val="003B4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0">
              <a:buNone/>
            </a:pP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tv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&lt;-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AD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3.45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GB" sz="1400" b="1" i="0" dirty="0">
                <a:solidFill>
                  <a:srgbClr val="4758A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b="1" i="0" dirty="0">
                <a:solidFill>
                  <a:srgbClr val="20794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"V"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GB" sz="1400" b="1" i="0" dirty="0">
              <a:solidFill>
                <a:srgbClr val="003B4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0">
              <a:buNone/>
            </a:pP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i="0" dirty="0" err="1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eta.ka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AD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0.6</a:t>
            </a:r>
            <a:endParaRPr lang="en-GB" sz="1400" b="1" i="0" dirty="0">
              <a:solidFill>
                <a:srgbClr val="003B4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0">
              <a:buNone/>
            </a:pP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eta.cl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AD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0.3</a:t>
            </a:r>
            <a:endParaRPr lang="en-GB" sz="1400" b="1" i="0" dirty="0">
              <a:solidFill>
                <a:srgbClr val="003B4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0">
              <a:buNone/>
            </a:pP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i="0" dirty="0" err="1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eta.v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AD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0.1</a:t>
            </a:r>
            <a:endParaRPr lang="en-GB" sz="1400" b="1" i="0" dirty="0">
              <a:solidFill>
                <a:srgbClr val="003B4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0">
              <a:buNone/>
            </a:pP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add.sd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&lt;-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AD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0.7</a:t>
            </a:r>
            <a:endParaRPr lang="en-GB" sz="1400" b="1" i="0" dirty="0">
              <a:solidFill>
                <a:srgbClr val="003B4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0">
              <a:buNone/>
            </a:pP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})</a:t>
            </a:r>
            <a:endParaRPr lang="en-GB" sz="1400" b="1" i="0" dirty="0">
              <a:solidFill>
                <a:srgbClr val="003B4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0">
              <a:buNone/>
            </a:pP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400" b="1" i="0" dirty="0">
                <a:solidFill>
                  <a:srgbClr val="4758A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model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  <a:endParaRPr lang="en-GB" sz="1400" b="1" i="0" dirty="0">
              <a:solidFill>
                <a:srgbClr val="003B4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0">
              <a:buNone/>
            </a:pP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ka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&lt;-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4758A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exp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b="1" i="0" dirty="0" err="1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tka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 err="1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eta.ka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GB" sz="1400" b="1" i="0" dirty="0">
              <a:solidFill>
                <a:srgbClr val="003B4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0">
              <a:buNone/>
            </a:pP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&lt;-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4758A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exp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b="1" i="0" dirty="0" err="1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tcl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eta.cl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GB" sz="1400" b="1" i="0" dirty="0">
              <a:solidFill>
                <a:srgbClr val="003B4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0">
              <a:buNone/>
            </a:pP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&lt;-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4758A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exp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b="1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tv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 err="1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eta.v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GB" sz="1400" b="1" i="0" dirty="0">
              <a:solidFill>
                <a:srgbClr val="003B4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0">
              <a:buNone/>
            </a:pP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1400" b="1" i="0" dirty="0">
                <a:solidFill>
                  <a:srgbClr val="4758A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dt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b="1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depot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GB" sz="1400" b="1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ka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depot</a:t>
            </a:r>
            <a:endParaRPr lang="en-GB" sz="1400" b="1" i="0" dirty="0">
              <a:solidFill>
                <a:srgbClr val="003B4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0">
              <a:buNone/>
            </a:pP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1400" b="1" i="0" dirty="0">
                <a:solidFill>
                  <a:srgbClr val="4758A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dt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b="1" i="0" dirty="0" err="1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center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ka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depot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 err="1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center</a:t>
            </a:r>
            <a:endParaRPr lang="en-GB" sz="1400" b="1" i="0" dirty="0">
              <a:solidFill>
                <a:srgbClr val="003B4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0">
              <a:buNone/>
            </a:pP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 err="1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center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endParaRPr lang="en-GB" sz="1400" b="1" i="0" dirty="0">
              <a:solidFill>
                <a:srgbClr val="003B4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0">
              <a:buNone/>
            </a:pP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400" b="1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i="0" dirty="0">
                <a:solidFill>
                  <a:srgbClr val="4758A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b="1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add.sd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GB" sz="1400" b="1" i="0" dirty="0">
              <a:solidFill>
                <a:srgbClr val="003B4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0">
              <a:buNone/>
            </a:pPr>
            <a:r>
              <a:rPr lang="en-GB" sz="1400" b="1" i="0" dirty="0">
                <a:solidFill>
                  <a:srgbClr val="003B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})</a:t>
            </a:r>
            <a:endParaRPr lang="en-GB" sz="1400" b="1" i="0" dirty="0">
              <a:solidFill>
                <a:srgbClr val="003B4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buNone/>
            </a:pPr>
            <a:r>
              <a:rPr lang="en-GB" sz="1400" b="1" i="0" dirty="0">
                <a:solidFill>
                  <a:srgbClr val="5E5E5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sz="1400" b="1" i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564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FA333-874A-A095-B40F-9C34D3EAB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piping: the theophylline model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8372C1-68F7-0ED2-A1E8-A6139B8978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5708B6-2891-4A31-3369-DC919BE636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29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10600B-5D62-A6DF-D0CD-6F33B7E0E1C4}"/>
              </a:ext>
            </a:extLst>
          </p:cNvPr>
          <p:cNvSpPr txBox="1"/>
          <p:nvPr/>
        </p:nvSpPr>
        <p:spPr>
          <a:xfrm>
            <a:off x="623392" y="980728"/>
            <a:ext cx="11161240" cy="530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80"/>
              </a:lnSpc>
              <a:buNone/>
            </a:pPr>
            <a:r>
              <a:rPr lang="en-GB" sz="1200" b="0" i="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&gt; fit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2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── </a:t>
            </a:r>
            <a:r>
              <a:rPr lang="en-GB" sz="1200" b="1" i="0" dirty="0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nlmix</a:t>
            </a:r>
            <a:r>
              <a:rPr lang="en-GB" sz="1200" b="1" i="0" dirty="0">
                <a:solidFill>
                  <a:srgbClr val="CC0000"/>
                </a:solidFill>
                <a:effectLst/>
                <a:latin typeface="Cascadia Mono" panose="020B0609020000020004" pitchFamily="49" charset="0"/>
              </a:rPr>
              <a:t>r²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GB" sz="1200" b="1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FOCE</a:t>
            </a:r>
            <a:r>
              <a:rPr lang="en-GB" sz="1200" b="1" i="0" dirty="0" err="1">
                <a:solidFill>
                  <a:srgbClr val="CC0000"/>
                </a:solidFill>
                <a:effectLst/>
                <a:latin typeface="Cascadia Mono" panose="020B0609020000020004" pitchFamily="49" charset="0"/>
              </a:rPr>
              <a:t>i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(outer: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nlminb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 ──</a:t>
            </a:r>
          </a:p>
          <a:p>
            <a:pPr algn="l" latinLnBrk="1">
              <a:lnSpc>
                <a:spcPts val="1680"/>
              </a:lnSpc>
              <a:buNone/>
            </a:pPr>
            <a:endParaRPr lang="en-GB" sz="12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 OBJF      AIC      BIC Log-likelihood Condition#(Cov) Condition#(Cor)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200" b="0" i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FOCEi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116.8174 373.4172 393.5968      -179.7086        18.67727        12.50802</a:t>
            </a:r>
          </a:p>
          <a:p>
            <a:pPr algn="l" latinLnBrk="1">
              <a:lnSpc>
                <a:spcPts val="1680"/>
              </a:lnSpc>
              <a:buNone/>
            </a:pPr>
            <a:endParaRPr lang="en-GB" sz="12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2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── Time (sec </a:t>
            </a:r>
            <a:r>
              <a:rPr lang="en-GB" sz="1200" b="1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</a:t>
            </a:r>
            <a:r>
              <a:rPr lang="en-GB" sz="12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$time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): ──</a:t>
            </a:r>
            <a:endParaRPr lang="en-GB" sz="12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endParaRPr lang="en-GB" sz="12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setup optimize covariance table  other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elapsed 0.001    0.475      0.475  2.23 10.329</a:t>
            </a:r>
          </a:p>
          <a:p>
            <a:pPr algn="l" latinLnBrk="1">
              <a:lnSpc>
                <a:spcPts val="1680"/>
              </a:lnSpc>
              <a:buNone/>
            </a:pPr>
            <a:endParaRPr lang="en-GB" sz="12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2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── Population Parameters (</a:t>
            </a:r>
            <a:r>
              <a:rPr lang="en-GB" sz="1200" b="1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</a:t>
            </a:r>
            <a:r>
              <a:rPr lang="en-GB" sz="12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$parFixed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or </a:t>
            </a:r>
            <a:r>
              <a:rPr lang="en-GB" sz="1200" b="1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</a:t>
            </a:r>
            <a:r>
              <a:rPr lang="en-GB" sz="12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$parFixedDf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): ──</a:t>
            </a:r>
            <a:endParaRPr lang="en-GB" sz="12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endParaRPr lang="en-GB" sz="12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Parameter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Est.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SE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%RSE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Back-transformed(95%CI)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BSV(CV%)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Shrink(SD)%</a:t>
            </a:r>
            <a:endParaRPr lang="en-GB" sz="12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200" b="1" i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tka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  Ka 0.464  0.36 77.5      1.59 (0.786, 3.22)     69.0     0.473%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200" b="1" i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tcl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  Cl  1.01 0.313   31       2.75 (1.49, 5.08)     26.8      4.35%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2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tv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    V  3.46 0.182 5.26       31.8 (22.3, 45.5)     14.3      11.4%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2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add.sd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  0.695                              0.695                    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Covariance Type (</a:t>
            </a:r>
            <a:r>
              <a:rPr lang="en-GB" sz="1200" b="0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</a:t>
            </a:r>
            <a:r>
              <a:rPr lang="en-GB" sz="12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$covMethod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): 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s</a:t>
            </a:r>
            <a:endParaRPr lang="en-GB" sz="12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No correlations in between subject variability (BSV) matrix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Full BSV covariance (</a:t>
            </a:r>
            <a:r>
              <a:rPr lang="en-GB" sz="1200" b="0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</a:t>
            </a:r>
            <a:r>
              <a:rPr lang="en-GB" sz="12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$omega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 or correlation (</a:t>
            </a:r>
            <a:r>
              <a:rPr lang="en-GB" sz="1200" b="0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</a:t>
            </a:r>
            <a:r>
              <a:rPr lang="en-GB" sz="12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$omegaR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 diagonals=SDs)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Distribution stats (mean/skewness/kurtosis/p-value) available in </a:t>
            </a:r>
            <a:r>
              <a:rPr lang="en-GB" sz="1200" b="0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fit</a:t>
            </a:r>
            <a:r>
              <a:rPr lang="en-GB" sz="1200" b="1" i="0" dirty="0" err="1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$shrink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6470772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354E6-A1D2-2AD8-25B6-4FF4C2EC5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 estimate of ka was a bit imprecise. What if we fix it to its estimated value? Rewriting the model is too much effort, we’ll just use the pipe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36B3F4-75C0-4980-3D5B-BEB11EB0DC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9908E-2A6B-C6D1-A978-E8541A7292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30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ACC45E-4260-D2D7-C142-0F6001E14154}"/>
              </a:ext>
            </a:extLst>
          </p:cNvPr>
          <p:cNvSpPr txBox="1"/>
          <p:nvPr/>
        </p:nvSpPr>
        <p:spPr>
          <a:xfrm>
            <a:off x="623392" y="1124744"/>
            <a:ext cx="10585176" cy="95410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GB" sz="1400" i="0" dirty="0">
                <a:solidFill>
                  <a:srgbClr val="11111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one.ka.0.5</a:t>
            </a:r>
            <a:r>
              <a:rPr lang="en-GB" sz="140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140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&lt;-</a:t>
            </a:r>
            <a:r>
              <a:rPr lang="en-GB" sz="140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1400" i="0" dirty="0">
                <a:solidFill>
                  <a:srgbClr val="11111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fit</a:t>
            </a:r>
            <a:r>
              <a:rPr lang="en-GB" sz="140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140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  <a:hlinkClick r:id="rId2"/>
              </a:rPr>
              <a:t>%&gt;%</a:t>
            </a:r>
            <a:endParaRPr lang="en-GB" sz="1400" i="0" dirty="0">
              <a:solidFill>
                <a:srgbClr val="003B4F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l" latinLnBrk="0">
              <a:buNone/>
            </a:pPr>
            <a:r>
              <a:rPr lang="en-GB" sz="140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400" i="0" dirty="0" err="1">
                <a:solidFill>
                  <a:srgbClr val="4758A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</a:t>
            </a:r>
            <a:r>
              <a:rPr lang="en-GB" sz="140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GB" sz="1400" i="0" dirty="0" err="1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tka</a:t>
            </a:r>
            <a:r>
              <a:rPr lang="en-GB" sz="140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GB" sz="1400" i="0" dirty="0">
                <a:solidFill>
                  <a:srgbClr val="11111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fix</a:t>
            </a:r>
            <a:r>
              <a:rPr lang="en-GB" sz="140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GB" sz="140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140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  <a:hlinkClick r:id="rId2"/>
              </a:rPr>
              <a:t>%&gt;%</a:t>
            </a:r>
            <a:endParaRPr lang="en-GB" sz="1400" i="0" dirty="0">
              <a:solidFill>
                <a:srgbClr val="003B4F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l" latinLnBrk="0">
              <a:buNone/>
            </a:pPr>
            <a:r>
              <a:rPr lang="en-GB" sz="140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GB" sz="1400" i="0" dirty="0" err="1">
                <a:solidFill>
                  <a:srgbClr val="4758A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nlmixr</a:t>
            </a:r>
            <a:r>
              <a:rPr lang="en-GB" sz="140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GB" sz="140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est</a:t>
            </a:r>
            <a:r>
              <a:rPr lang="en-GB" sz="140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GB" sz="1400" i="0" dirty="0">
                <a:solidFill>
                  <a:srgbClr val="20794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GB" sz="1400" i="0" dirty="0" err="1">
                <a:solidFill>
                  <a:srgbClr val="20794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focei</a:t>
            </a:r>
            <a:r>
              <a:rPr lang="en-GB" sz="1400" i="0" dirty="0">
                <a:solidFill>
                  <a:srgbClr val="20794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GB" sz="140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control</a:t>
            </a:r>
            <a:r>
              <a:rPr lang="en-GB" sz="140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GB" sz="1400" i="0" dirty="0">
                <a:solidFill>
                  <a:srgbClr val="4758A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  <a:hlinkClick r:id="rId3"/>
              </a:rPr>
              <a:t>list</a:t>
            </a:r>
            <a:r>
              <a:rPr lang="en-GB" sz="140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GB" sz="140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GB" sz="140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GB" sz="1400" i="0" dirty="0">
                <a:solidFill>
                  <a:srgbClr val="AD000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GB" sz="140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GB" sz="140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</a:p>
          <a:p>
            <a:pPr algn="l">
              <a:buNone/>
            </a:pPr>
            <a:r>
              <a:rPr lang="en-GB" sz="140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table</a:t>
            </a:r>
            <a:r>
              <a:rPr lang="en-GB" sz="140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GB" sz="1400" i="0" dirty="0">
                <a:solidFill>
                  <a:srgbClr val="4758A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  <a:hlinkClick r:id="rId3"/>
              </a:rPr>
              <a:t>list</a:t>
            </a:r>
            <a:r>
              <a:rPr lang="en-GB" sz="140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GB" sz="1400" i="0" dirty="0" err="1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cwres</a:t>
            </a:r>
            <a:r>
              <a:rPr lang="en-GB" sz="140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GB" sz="1400" i="0" dirty="0">
                <a:solidFill>
                  <a:srgbClr val="8F590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TRUE</a:t>
            </a:r>
            <a:r>
              <a:rPr lang="en-GB" sz="140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GB" sz="1400" i="0" dirty="0" err="1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npde</a:t>
            </a:r>
            <a:r>
              <a:rPr lang="en-GB" sz="140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GB" sz="1400" i="0" dirty="0">
                <a:solidFill>
                  <a:srgbClr val="8F590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TRUE</a:t>
            </a:r>
            <a:r>
              <a:rPr lang="en-GB" sz="140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endParaRPr lang="en-GB" sz="1400" i="0" dirty="0">
              <a:solidFill>
                <a:srgbClr val="000000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9314D0-08FA-5B84-8B33-1EECBD53A8D9}"/>
              </a:ext>
            </a:extLst>
          </p:cNvPr>
          <p:cNvSpPr txBox="1"/>
          <p:nvPr/>
        </p:nvSpPr>
        <p:spPr>
          <a:xfrm>
            <a:off x="623392" y="2204864"/>
            <a:ext cx="9577064" cy="4659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&gt; one.ka.0.5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── </a:t>
            </a:r>
            <a:r>
              <a:rPr lang="en-GB" sz="1400" b="1" i="0" dirty="0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nlmix</a:t>
            </a:r>
            <a:r>
              <a:rPr lang="en-GB" sz="1400" b="1" i="0" dirty="0">
                <a:solidFill>
                  <a:srgbClr val="CC0000"/>
                </a:solidFill>
                <a:effectLst/>
                <a:latin typeface="Cascadia Mono" panose="020B0609020000020004" pitchFamily="49" charset="0"/>
              </a:rPr>
              <a:t>r²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GB" sz="1400" b="1" i="0" dirty="0" err="1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FOCE</a:t>
            </a:r>
            <a:r>
              <a:rPr lang="en-GB" sz="1400" b="1" i="0" dirty="0" err="1">
                <a:solidFill>
                  <a:srgbClr val="CC0000"/>
                </a:solidFill>
                <a:effectLst/>
                <a:latin typeface="Cascadia Mono" panose="020B0609020000020004" pitchFamily="49" charset="0"/>
              </a:rPr>
              <a:t>i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(outer: </a:t>
            </a:r>
            <a:r>
              <a:rPr lang="en-GB" sz="1400" b="0" i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nlminb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 ──</a:t>
            </a:r>
          </a:p>
          <a:p>
            <a:pPr algn="l" latinLnBrk="1">
              <a:lnSpc>
                <a:spcPts val="1680"/>
              </a:lnSpc>
              <a:buNone/>
            </a:pP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 OBJF     AIC      BIC Log-likelihood Condition#(Cov) Condition#(Cor)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FOCEi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116.8172 371.417 388.7138      -179.7085        9.780336        6.139784</a:t>
            </a:r>
          </a:p>
          <a:p>
            <a:pPr algn="l" latinLnBrk="1">
              <a:lnSpc>
                <a:spcPts val="1680"/>
              </a:lnSpc>
              <a:buNone/>
            </a:pP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── Time (sec </a:t>
            </a:r>
            <a:r>
              <a:rPr lang="en-GB" sz="1400" b="1" i="0" dirty="0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one.ka.0.5</a:t>
            </a:r>
            <a:r>
              <a:rPr lang="en-GB" sz="1400" b="1" i="0" dirty="0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$time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): ──</a:t>
            </a: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setup 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optimize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covariance table other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elapsed 0.002    0.267      0.267  2.22 7.244</a:t>
            </a:r>
          </a:p>
          <a:p>
            <a:pPr algn="l" latinLnBrk="1">
              <a:lnSpc>
                <a:spcPts val="1680"/>
              </a:lnSpc>
              <a:buNone/>
            </a:pP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── Population Parameters (</a:t>
            </a:r>
            <a:r>
              <a:rPr lang="en-GB" sz="1400" b="1" i="0" dirty="0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one.ka.0.5</a:t>
            </a:r>
            <a:r>
              <a:rPr lang="en-GB" sz="1400" b="1" i="0" dirty="0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$parFixed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or </a:t>
            </a:r>
            <a:r>
              <a:rPr lang="en-GB" sz="1400" b="1" i="0" dirty="0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one.ka.0.5</a:t>
            </a:r>
            <a:r>
              <a:rPr lang="en-GB" sz="1400" b="1" i="0" dirty="0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$parFixedDf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): ──</a:t>
            </a: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Parameter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Est.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SE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%RSE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Back-transformed(95%CI)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BSV(CV%)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Shrink(SD)%</a:t>
            </a: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tka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  Ka 0.464  </a:t>
            </a:r>
            <a:r>
              <a:rPr lang="en-GB" sz="1400" b="1" i="0" dirty="0">
                <a:solidFill>
                  <a:srgbClr val="4E9A06"/>
                </a:solidFill>
                <a:effectLst/>
                <a:latin typeface="Cascadia Mono" panose="020B0609020000020004" pitchFamily="49" charset="0"/>
              </a:rPr>
              <a:t>FIXED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GB" sz="1400" b="1" i="0" dirty="0" err="1">
                <a:solidFill>
                  <a:srgbClr val="4E9A06"/>
                </a:solidFill>
                <a:effectLst/>
                <a:latin typeface="Cascadia Mono" panose="020B0609020000020004" pitchFamily="49" charset="0"/>
              </a:rPr>
              <a:t>FIXED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          0.464     69.0     0.466%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tcl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  Cl  1.01  0.082   8.1       2.75 (2.34, 3.23)     26.8      4.34%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tv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    V  3.46 0.0443  1.28       31.8 (29.2, 34.7)     14.3      11.4%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1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add.sd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   0.695                                0.695                    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Covariance Type (</a:t>
            </a:r>
            <a:r>
              <a:rPr lang="en-GB" sz="1400" b="0" i="0" dirty="0">
                <a:solidFill>
                  <a:srgbClr val="C4A000"/>
                </a:solidFill>
                <a:effectLst/>
                <a:latin typeface="Cascadia Mono" panose="020B0609020000020004" pitchFamily="49" charset="0"/>
              </a:rPr>
              <a:t>one.ka.0.5</a:t>
            </a:r>
            <a:r>
              <a:rPr lang="en-GB" sz="1400" b="1" i="0" dirty="0">
                <a:solidFill>
                  <a:srgbClr val="3465A4"/>
                </a:solidFill>
                <a:effectLst/>
                <a:latin typeface="Cascadia Mono" panose="020B0609020000020004" pitchFamily="49" charset="0"/>
              </a:rPr>
              <a:t>$covMethod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): </a:t>
            </a:r>
            <a:r>
              <a:rPr lang="en-GB" sz="1400" b="1" i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r,s</a:t>
            </a:r>
            <a:endParaRPr lang="en-GB" sz="1400" b="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algn="l" latinLnBrk="1">
              <a:lnSpc>
                <a:spcPts val="1680"/>
              </a:lnSpc>
              <a:buNone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2668046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451E3-D9A0-89D7-0214-FA616877D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piping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A3E96-6076-43B9-A95F-0BBE77BA1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piping is quite versatile – can be used for</a:t>
            </a:r>
          </a:p>
          <a:p>
            <a:pPr lvl="1"/>
            <a:r>
              <a:rPr lang="en-GB" dirty="0"/>
              <a:t>Changing initial estimates</a:t>
            </a:r>
          </a:p>
          <a:p>
            <a:pPr lvl="1"/>
            <a:r>
              <a:rPr lang="en-GB" dirty="0"/>
              <a:t>Changing parameter labels and order</a:t>
            </a:r>
          </a:p>
          <a:p>
            <a:pPr lvl="1"/>
            <a:r>
              <a:rPr lang="en-GB" dirty="0"/>
              <a:t>Adding and removing random effects</a:t>
            </a:r>
          </a:p>
          <a:p>
            <a:pPr lvl="1"/>
            <a:r>
              <a:rPr lang="en-GB" dirty="0"/>
              <a:t>Adding and removing covariate relationships</a:t>
            </a:r>
          </a:p>
          <a:p>
            <a:pPr lvl="1"/>
            <a:r>
              <a:rPr lang="en-GB" dirty="0"/>
              <a:t>All kinds of things!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5277DA-74CA-01E4-B5AE-310C0440CE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152452-7371-B035-620F-96CDCAEF93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31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D85CF4-7820-B742-E788-F383F7E1F872}"/>
              </a:ext>
            </a:extLst>
          </p:cNvPr>
          <p:cNvSpPr txBox="1"/>
          <p:nvPr/>
        </p:nvSpPr>
        <p:spPr>
          <a:xfrm>
            <a:off x="1079442" y="4149080"/>
            <a:ext cx="1048916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## Note: currently “</a:t>
            </a:r>
            <a:r>
              <a:rPr lang="en-GB" sz="1600" b="0" i="0" dirty="0" err="1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cov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” is needed as a prefix so </a:t>
            </a:r>
            <a:r>
              <a:rPr lang="en-GB" sz="1600" b="0" i="0" dirty="0" err="1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nlmixr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knows </a:t>
            </a:r>
            <a:r>
              <a:rPr lang="en-GB" sz="1600" dirty="0">
                <a:solidFill>
                  <a:srgbClr val="5E5E5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how to deal with it</a:t>
            </a:r>
            <a:endParaRPr lang="en-GB" sz="1600" b="0" i="0" dirty="0">
              <a:solidFill>
                <a:srgbClr val="003B4F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l" latinLnBrk="0">
              <a:buNone/>
            </a:pPr>
            <a:r>
              <a:rPr lang="en-GB" sz="1600" b="0" i="0" dirty="0">
                <a:solidFill>
                  <a:srgbClr val="11111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wt70</a:t>
            </a:r>
            <a:r>
              <a:rPr lang="en-GB" sz="1600" b="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&lt;-</a:t>
            </a:r>
            <a:r>
              <a:rPr lang="en-GB" sz="1600" b="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1600" b="0" i="0" dirty="0">
                <a:solidFill>
                  <a:srgbClr val="11111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fit</a:t>
            </a:r>
            <a:r>
              <a:rPr lang="en-GB" sz="1600" b="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  <a:hlinkClick r:id="rId2"/>
              </a:rPr>
              <a:t>%&gt;%</a:t>
            </a:r>
            <a:endParaRPr lang="en-GB" sz="1600" b="0" i="0" dirty="0">
              <a:solidFill>
                <a:srgbClr val="003B4F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l" latinLnBrk="0">
              <a:buNone/>
            </a:pPr>
            <a:r>
              <a:rPr lang="en-GB" sz="1600" b="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GB" sz="1600" b="0" i="0" dirty="0">
                <a:solidFill>
                  <a:srgbClr val="4758A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model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({</a:t>
            </a:r>
            <a:r>
              <a:rPr lang="en-GB" sz="1600" b="0" i="0" dirty="0">
                <a:solidFill>
                  <a:srgbClr val="11111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</a:t>
            </a:r>
            <a:r>
              <a:rPr lang="en-GB" sz="1600" b="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&lt;-</a:t>
            </a:r>
            <a:r>
              <a:rPr lang="en-GB" sz="1600" b="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1600" b="0" i="0" dirty="0">
                <a:solidFill>
                  <a:srgbClr val="4758A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  <a:hlinkClick r:id="rId3"/>
              </a:rPr>
              <a:t>exp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GB" sz="1600" b="0" i="0" dirty="0" err="1">
                <a:solidFill>
                  <a:srgbClr val="11111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tcl</a:t>
            </a:r>
            <a:r>
              <a:rPr lang="en-GB" sz="1600" b="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</a:t>
            </a:r>
            <a:r>
              <a:rPr lang="en-GB" sz="1600" b="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1600" b="0" i="0" dirty="0">
                <a:solidFill>
                  <a:srgbClr val="11111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eta.cl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)*(</a:t>
            </a:r>
            <a:r>
              <a:rPr lang="en-GB" sz="1600" b="0" i="0" dirty="0">
                <a:solidFill>
                  <a:srgbClr val="11111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WT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/</a:t>
            </a:r>
            <a:r>
              <a:rPr lang="en-GB" sz="1600" b="0" i="0" dirty="0">
                <a:solidFill>
                  <a:srgbClr val="AD000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70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)^</a:t>
            </a:r>
            <a:r>
              <a:rPr lang="en-GB" sz="1600" b="0" i="0" dirty="0" err="1">
                <a:solidFill>
                  <a:srgbClr val="11111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covWtPow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})</a:t>
            </a:r>
            <a:r>
              <a:rPr lang="en-GB" sz="1600" b="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  <a:hlinkClick r:id="rId2"/>
              </a:rPr>
              <a:t>%&gt;%</a:t>
            </a:r>
            <a:endParaRPr lang="en-GB" sz="1600" b="0" i="0" dirty="0">
              <a:solidFill>
                <a:srgbClr val="003B4F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l" latinLnBrk="0">
              <a:buNone/>
            </a:pPr>
            <a:r>
              <a:rPr lang="en-GB" sz="1600" b="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GB" sz="1600" b="0" i="0" dirty="0" err="1">
                <a:solidFill>
                  <a:srgbClr val="4758A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GB" sz="1600" b="0" i="0" dirty="0" err="1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covWtPow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GB" sz="1600" b="0" i="0" dirty="0">
                <a:solidFill>
                  <a:srgbClr val="4758A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  <a:hlinkClick r:id="rId4"/>
              </a:rPr>
              <a:t>fix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GB" sz="1600" b="0" i="0" dirty="0">
                <a:solidFill>
                  <a:srgbClr val="AD000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0.75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r>
              <a:rPr lang="en-GB" sz="1600" b="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  <a:hlinkClick r:id="rId2"/>
              </a:rPr>
              <a:t>%&gt;%</a:t>
            </a:r>
            <a:endParaRPr lang="en-GB" sz="1600" b="0" i="0" dirty="0">
              <a:solidFill>
                <a:srgbClr val="003B4F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l" latinLnBrk="0">
              <a:buNone/>
            </a:pPr>
            <a:r>
              <a:rPr lang="en-GB" sz="1600" b="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GB" sz="1600" b="0" i="0" dirty="0" err="1">
                <a:solidFill>
                  <a:srgbClr val="4758A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GB" sz="1600" b="0" i="0" dirty="0" err="1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tka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GB" sz="1600" b="0" i="0" dirty="0">
                <a:solidFill>
                  <a:srgbClr val="4758A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  <a:hlinkClick r:id="rId4"/>
              </a:rPr>
              <a:t>fix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GB" sz="1600" b="0" i="0" dirty="0">
                <a:solidFill>
                  <a:srgbClr val="AD000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0.5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r>
              <a:rPr lang="en-GB" sz="1600" b="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  <a:hlinkClick r:id="rId2"/>
              </a:rPr>
              <a:t>%&gt;%</a:t>
            </a:r>
            <a:endParaRPr lang="en-GB" sz="1600" b="0" i="0" dirty="0">
              <a:solidFill>
                <a:srgbClr val="003B4F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l" latinLnBrk="0">
              <a:buNone/>
            </a:pPr>
            <a:r>
              <a:rPr lang="en-GB" sz="1600" b="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GB" sz="1600" b="0" i="0" dirty="0" err="1">
                <a:solidFill>
                  <a:srgbClr val="4758A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nlmixr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GB" sz="1600" b="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est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GB" sz="1600" b="0" i="0" dirty="0">
                <a:solidFill>
                  <a:srgbClr val="20794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GB" sz="1600" b="0" i="0" dirty="0" err="1">
                <a:solidFill>
                  <a:srgbClr val="20794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focei</a:t>
            </a:r>
            <a:r>
              <a:rPr lang="en-GB" sz="1600" b="0" i="0" dirty="0">
                <a:solidFill>
                  <a:srgbClr val="20794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GB" sz="1600" b="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control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GB" sz="1600" b="0" i="0" dirty="0">
                <a:solidFill>
                  <a:srgbClr val="4758A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  <a:hlinkClick r:id="rId5"/>
              </a:rPr>
              <a:t>list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GB" sz="1600" b="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GB" sz="1600" b="0" i="0" dirty="0">
                <a:solidFill>
                  <a:srgbClr val="AD000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GB" sz="1600" b="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</a:p>
          <a:p>
            <a:pPr algn="l">
              <a:buNone/>
            </a:pPr>
            <a:r>
              <a:rPr lang="en-GB" sz="1600" b="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table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GB" sz="1600" b="0" i="0" dirty="0">
                <a:solidFill>
                  <a:srgbClr val="4758A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  <a:hlinkClick r:id="rId5"/>
              </a:rPr>
              <a:t>list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GB" sz="1600" b="0" i="0" dirty="0" err="1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cwres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GB" sz="1600" b="0" i="0" dirty="0">
                <a:solidFill>
                  <a:srgbClr val="8F590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TRUE</a:t>
            </a:r>
            <a:r>
              <a:rPr lang="en-GB" sz="1600" b="0" i="0" dirty="0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GB" sz="1600" b="0" i="0" dirty="0" err="1">
                <a:solidFill>
                  <a:srgbClr val="003B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npde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GB" sz="1600" b="0" i="0" dirty="0">
                <a:solidFill>
                  <a:srgbClr val="8F590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TRUE</a:t>
            </a:r>
            <a:r>
              <a:rPr lang="en-GB" sz="1600" b="0" i="0" dirty="0">
                <a:solidFill>
                  <a:srgbClr val="5E5E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endParaRPr lang="en-GB" sz="1600" b="0" i="0" dirty="0">
              <a:solidFill>
                <a:srgbClr val="000000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5263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9FB6C-C546-3A2B-1A92-A873BE89F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nlmixr2lib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48B4D-641F-E0F8-E19A-CE87CC42C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nlmixr2lib</a:t>
            </a:r>
            <a:r>
              <a:rPr lang="en-US" dirty="0"/>
              <a:t> provides an extensive model library for nlmixr2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Model piping is particularly useful here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At last count, there are a staggering </a:t>
            </a:r>
            <a:r>
              <a:rPr lang="en-US" b="1" dirty="0"/>
              <a:t>614</a:t>
            </a:r>
            <a:r>
              <a:rPr lang="en-US" dirty="0"/>
              <a:t> models available! (standard, literature, </a:t>
            </a:r>
            <a:r>
              <a:rPr lang="en-US" dirty="0" err="1"/>
              <a:t>DDMoRe</a:t>
            </a:r>
            <a:r>
              <a:rPr lang="en-US" dirty="0"/>
              <a:t>, …)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01D4EB-D7A4-9634-D4BE-2FF359D046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F465C-0EFB-626C-BCC6-3422EC9A15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32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308598-5AD1-5269-4A83-2DAC0D72A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6" y="1610079"/>
            <a:ext cx="7529568" cy="24669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10DBCD-5E6B-C7E7-DBD0-5E4E51A5B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6" y="4437112"/>
            <a:ext cx="7558143" cy="11096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E08D14-3A72-5A33-0398-C33C69CE98F4}"/>
              </a:ext>
            </a:extLst>
          </p:cNvPr>
          <p:cNvSpPr txBox="1"/>
          <p:nvPr/>
        </p:nvSpPr>
        <p:spPr>
          <a:xfrm>
            <a:off x="655523" y="822296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https://nlmixr2.github.io/nlmixr2lib/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94412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DDEA9-71F6-802B-B01F-80F90CDD2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4652F-9200-7C9C-7B0D-7D441AAA6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nlmixr2rpt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4515D-2142-95EE-F346-C5A9029EE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Automates the reporting of analyses performed in nlmixr2</a:t>
            </a:r>
          </a:p>
          <a:p>
            <a:pPr lvl="1"/>
            <a:r>
              <a:rPr lang="en-GB" dirty="0"/>
              <a:t>PowerPoint </a:t>
            </a:r>
          </a:p>
          <a:p>
            <a:pPr lvl="1"/>
            <a:r>
              <a:rPr lang="en-GB" dirty="0"/>
              <a:t>Word</a:t>
            </a:r>
          </a:p>
          <a:p>
            <a:r>
              <a:rPr lang="en-GB" dirty="0"/>
              <a:t>Uses a </a:t>
            </a:r>
            <a:r>
              <a:rPr lang="en-GB" b="1" dirty="0"/>
              <a:t>YAML</a:t>
            </a:r>
            <a:r>
              <a:rPr lang="en-GB" dirty="0"/>
              <a:t> file that contains specifications for report elements (figures and tables) as well as the contents of Word and PowerPoint documents</a:t>
            </a:r>
          </a:p>
          <a:p>
            <a:r>
              <a:rPr lang="en-GB" dirty="0"/>
              <a:t>Simple templates for both documents and the report YAML file are included</a:t>
            </a:r>
          </a:p>
          <a:p>
            <a:pPr lvl="1"/>
            <a:r>
              <a:rPr lang="en-GB" dirty="0"/>
              <a:t>Format of the document templates can be customized using </a:t>
            </a:r>
            <a:r>
              <a:rPr lang="en-GB" b="1" dirty="0" err="1"/>
              <a:t>onbrand</a:t>
            </a:r>
            <a:endParaRPr lang="en-GB" b="1" dirty="0"/>
          </a:p>
          <a:p>
            <a:pPr lvl="1"/>
            <a:r>
              <a:rPr lang="en-GB" dirty="0"/>
              <a:t>Report contents can be customized by modifying the YAML template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DBB97-1317-71E1-486E-23F70EC377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409346-E414-F14F-B8E1-34D0C1B5E6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33</a:t>
            </a:fld>
            <a:endParaRPr lang="en-GB"/>
          </a:p>
        </p:txBody>
      </p:sp>
      <p:pic>
        <p:nvPicPr>
          <p:cNvPr id="2050" name="Picture 2" descr="nlmixr2lib hex sticker">
            <a:extLst>
              <a:ext uri="{FF2B5EF4-FFF2-40B4-BE49-F238E27FC236}">
                <a16:creationId xmlns:a16="http://schemas.microsoft.com/office/drawing/2014/main" id="{D0C2702B-27F4-11FD-4C15-569560665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480" y="235584"/>
            <a:ext cx="1605913" cy="184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D4725-448F-65DA-D546-96CED3AFCB85}"/>
              </a:ext>
            </a:extLst>
          </p:cNvPr>
          <p:cNvSpPr txBox="1"/>
          <p:nvPr/>
        </p:nvSpPr>
        <p:spPr>
          <a:xfrm>
            <a:off x="623392" y="5805264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https://cran.r-project.org/web/packages/onbrand/index.html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33A5E2-4D50-8BF1-E37A-99391D255696}"/>
              </a:ext>
            </a:extLst>
          </p:cNvPr>
          <p:cNvSpPr txBox="1"/>
          <p:nvPr/>
        </p:nvSpPr>
        <p:spPr>
          <a:xfrm>
            <a:off x="623392" y="5612439"/>
            <a:ext cx="87609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https://nlmixr2.github.io/nlmixr2rpt/</a:t>
            </a:r>
            <a:r>
              <a:rPr lang="en-US" sz="12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	</a:t>
            </a:r>
          </a:p>
        </p:txBody>
      </p:sp>
    </p:spTree>
    <p:extLst>
      <p:ext uri="{BB962C8B-B14F-4D97-AF65-F5344CB8AC3E}">
        <p14:creationId xmlns:p14="http://schemas.microsoft.com/office/powerpoint/2010/main" val="8705298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DA5BE-9CAB-E04B-E014-1CD035F7F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ruminate: data exploration and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B14DB-A045-03D7-F581-BF1BE4653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392" y="1196751"/>
            <a:ext cx="10945216" cy="536813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Set of Shiny modules to allow users with limited experience to use R for pharmacometrics</a:t>
            </a:r>
          </a:p>
          <a:p>
            <a:pPr lvl="1"/>
            <a:r>
              <a:rPr lang="en-US" dirty="0"/>
              <a:t>Data wrangling: Transform your data (</a:t>
            </a:r>
            <a:r>
              <a:rPr lang="en-US" b="1" dirty="0" err="1"/>
              <a:t>tidyr</a:t>
            </a:r>
            <a:r>
              <a:rPr lang="en-US" dirty="0"/>
              <a:t> and </a:t>
            </a:r>
            <a:r>
              <a:rPr lang="en-US" b="1" dirty="0" err="1"/>
              <a:t>dplyr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Figure generation: Plot your data (</a:t>
            </a:r>
            <a:r>
              <a:rPr lang="en-US" b="1" dirty="0"/>
              <a:t>ggplot2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NCA: Run noncompartmental analysis (</a:t>
            </a:r>
            <a:r>
              <a:rPr lang="en-US" b="1" dirty="0"/>
              <a:t>PKNCA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Model building: Construct ode-based models (</a:t>
            </a:r>
            <a:r>
              <a:rPr lang="en-US" b="1" dirty="0"/>
              <a:t>rxode2</a:t>
            </a:r>
            <a:r>
              <a:rPr lang="en-US" dirty="0"/>
              <a:t>, in development)</a:t>
            </a:r>
          </a:p>
          <a:p>
            <a:pPr lvl="1"/>
            <a:r>
              <a:rPr lang="en-US" b="1" dirty="0"/>
              <a:t>Trial simulation: Adaptive trial simulator (rxode2, in </a:t>
            </a:r>
            <a:r>
              <a:rPr lang="en-US" b="1" dirty="0" err="1"/>
              <a:t>devevelopment</a:t>
            </a:r>
            <a:r>
              <a:rPr lang="en-US" b="1" dirty="0"/>
              <a:t>)</a:t>
            </a:r>
          </a:p>
          <a:p>
            <a:r>
              <a:rPr lang="en-US" dirty="0"/>
              <a:t>Each module element will generate the code to reproduce the element (see in real time the relationship between code and output)</a:t>
            </a:r>
          </a:p>
          <a:p>
            <a:r>
              <a:rPr lang="en-US" dirty="0"/>
              <a:t>Reporting: PowerPoint, Word and Excel</a:t>
            </a:r>
          </a:p>
          <a:p>
            <a:r>
              <a:rPr lang="en-US" dirty="0"/>
              <a:t>Save your analysis:</a:t>
            </a:r>
          </a:p>
          <a:p>
            <a:pPr lvl="1"/>
            <a:r>
              <a:rPr lang="en-US" dirty="0"/>
              <a:t>Generate a script to reproduce what was done in the app</a:t>
            </a:r>
          </a:p>
          <a:p>
            <a:pPr lvl="1"/>
            <a:r>
              <a:rPr lang="en-US" dirty="0"/>
              <a:t>Return and load the analysis later</a:t>
            </a:r>
          </a:p>
          <a:p>
            <a:r>
              <a:rPr lang="en-US" dirty="0"/>
              <a:t>Generate workflows to apply an analysis to new datasets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F0A22B-AB14-4891-327C-AF2A456522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98B766-7EB4-6617-337F-8CB286E5B8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34</a:t>
            </a:fld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EB1E841-9840-223C-6E86-AD358FBCA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8488" y="293118"/>
            <a:ext cx="1596712" cy="1844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E3C442-C424-661F-5556-9F9A77ED6A16}"/>
              </a:ext>
            </a:extLst>
          </p:cNvPr>
          <p:cNvSpPr txBox="1"/>
          <p:nvPr/>
        </p:nvSpPr>
        <p:spPr>
          <a:xfrm>
            <a:off x="623392" y="787139"/>
            <a:ext cx="87609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https://ruminate.ubiquity.tools/</a:t>
            </a:r>
            <a:r>
              <a:rPr lang="en-US" sz="12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	</a:t>
            </a:r>
          </a:p>
        </p:txBody>
      </p:sp>
    </p:spTree>
    <p:extLst>
      <p:ext uri="{BB962C8B-B14F-4D97-AF65-F5344CB8AC3E}">
        <p14:creationId xmlns:p14="http://schemas.microsoft.com/office/powerpoint/2010/main" val="14471986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2C6F7-1389-373C-8E92-3D638F941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ruminate: adaptive trial simulation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DAFA2-DDDC-0649-9F23-793B68786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392" y="1196752"/>
            <a:ext cx="10945216" cy="5328592"/>
          </a:xfrm>
        </p:spPr>
        <p:txBody>
          <a:bodyPr>
            <a:normAutofit/>
          </a:bodyPr>
          <a:lstStyle/>
          <a:p>
            <a:r>
              <a:rPr lang="en-US" dirty="0"/>
              <a:t>Uses models in rxode2 format (nlmixr2, nonmem2rx,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Pull subject data from datasets or generate it using </a:t>
            </a:r>
            <a:r>
              <a:rPr lang="en-US" dirty="0" err="1">
                <a:solidFill>
                  <a:srgbClr val="0070C0"/>
                </a:solidFill>
              </a:rPr>
              <a:t>mk_subjects</a:t>
            </a:r>
            <a:r>
              <a:rPr lang="en-US" dirty="0">
                <a:solidFill>
                  <a:srgbClr val="0070C0"/>
                </a:solidFill>
              </a:rPr>
              <a:t>()</a:t>
            </a:r>
          </a:p>
          <a:p>
            <a:r>
              <a:rPr lang="en-US" dirty="0"/>
              <a:t>Create a series of conditions and actions</a:t>
            </a:r>
          </a:p>
          <a:p>
            <a:pPr lvl="1"/>
            <a:r>
              <a:rPr lang="en-US" dirty="0"/>
              <a:t>When a condition is met, the action (update dosing, set a compartment to a value, </a:t>
            </a:r>
            <a:r>
              <a:rPr lang="en-US" dirty="0" err="1"/>
              <a:t>etc</a:t>
            </a:r>
            <a:r>
              <a:rPr lang="en-US" dirty="0"/>
              <a:t>) is executed</a:t>
            </a:r>
          </a:p>
          <a:p>
            <a:pPr lvl="1"/>
            <a:r>
              <a:rPr lang="en-US" dirty="0"/>
              <a:t>Conditions and actions can be simple statements (CP &lt; 5) or you can create user defined functions</a:t>
            </a:r>
          </a:p>
          <a:p>
            <a:r>
              <a:rPr lang="en-US" dirty="0"/>
              <a:t>Evaluations occur at specified times</a:t>
            </a:r>
          </a:p>
          <a:p>
            <a:r>
              <a:rPr lang="en-US" dirty="0"/>
              <a:t>The function </a:t>
            </a:r>
            <a:r>
              <a:rPr lang="en-US" dirty="0" err="1">
                <a:solidFill>
                  <a:srgbClr val="0070C0"/>
                </a:solidFill>
              </a:rPr>
              <a:t>simulate_subjects</a:t>
            </a:r>
            <a:r>
              <a:rPr lang="en-US" dirty="0">
                <a:solidFill>
                  <a:srgbClr val="0070C0"/>
                </a:solidFill>
              </a:rPr>
              <a:t>() </a:t>
            </a:r>
            <a:r>
              <a:rPr lang="en-US" dirty="0"/>
              <a:t>wraps around rxode2 to move from one evaluation time to the next.</a:t>
            </a:r>
          </a:p>
          <a:p>
            <a:pPr lvl="1"/>
            <a:r>
              <a:rPr lang="en-US" dirty="0"/>
              <a:t>The starting and stopping can slow things down a bit</a:t>
            </a:r>
          </a:p>
          <a:p>
            <a:pPr lvl="1"/>
            <a:r>
              <a:rPr lang="en-US" dirty="0"/>
              <a:t>You have the flexibility to code the logic above in R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BD35E0-8B3F-7975-8FB9-53DC2E50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1C0B1-3B40-BF8D-E099-E6FEC9D511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35</a:t>
            </a:fld>
            <a:endParaRPr lang="en-GB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E4D37A7-1377-F32F-FD6E-DA575C1F7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8488" y="293118"/>
            <a:ext cx="1596712" cy="1844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210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7609A-5D88-21D4-A235-0378476B2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PK/biomarker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B1F21-6537-341D-6DC8-E2BBD1F74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393" y="980728"/>
            <a:ext cx="5304590" cy="2088232"/>
          </a:xfrm>
        </p:spPr>
        <p:txBody>
          <a:bodyPr/>
          <a:lstStyle/>
          <a:p>
            <a:r>
              <a:rPr lang="en-US" dirty="0"/>
              <a:t>Evaluate every 6 weeks</a:t>
            </a:r>
          </a:p>
          <a:p>
            <a:r>
              <a:rPr lang="en-US" dirty="0"/>
              <a:t>Titrating up or down until the biomarker is within the desired range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4A78E-9870-26B1-8F2D-23EA128068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2B495-B596-E793-59C8-A93CC6BE65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36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FD53B2-0C0E-7F7C-9CDB-237C5D2E3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745" y="456349"/>
            <a:ext cx="5574403" cy="5720585"/>
          </a:xfrm>
          <a:prstGeom prst="rect">
            <a:avLst/>
          </a:prstGeom>
          <a:ln>
            <a:solidFill>
              <a:srgbClr val="B400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FAAEAF-6289-D0FB-9B24-C0CDA3D8A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947" y="2521524"/>
            <a:ext cx="5304590" cy="4043359"/>
          </a:xfrm>
          <a:prstGeom prst="rect">
            <a:avLst/>
          </a:prstGeom>
          <a:ln>
            <a:solidFill>
              <a:srgbClr val="B4000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6CA397-DE67-E90A-3935-9707EECE74B9}"/>
              </a:ext>
            </a:extLst>
          </p:cNvPr>
          <p:cNvSpPr txBox="1"/>
          <p:nvPr/>
        </p:nvSpPr>
        <p:spPr>
          <a:xfrm>
            <a:off x="3628285" y="2736110"/>
            <a:ext cx="2371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cycle, start at a standard dose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DFD25E-69A0-63D1-714F-42A95D919A4A}"/>
              </a:ext>
            </a:extLst>
          </p:cNvPr>
          <p:cNvSpPr txBox="1"/>
          <p:nvPr/>
        </p:nvSpPr>
        <p:spPr>
          <a:xfrm>
            <a:off x="3484714" y="5142654"/>
            <a:ext cx="2371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Within range keep last dose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20151A-BAF7-50CC-F023-2BE35CD745FF}"/>
              </a:ext>
            </a:extLst>
          </p:cNvPr>
          <p:cNvSpPr txBox="1"/>
          <p:nvPr/>
        </p:nvSpPr>
        <p:spPr>
          <a:xfrm>
            <a:off x="8894388" y="1285548"/>
            <a:ext cx="2754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BM too high reduce by 10%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3B9FEA-47F3-4E79-5EE1-7CB45F7EEDAC}"/>
              </a:ext>
            </a:extLst>
          </p:cNvPr>
          <p:cNvSpPr txBox="1"/>
          <p:nvPr/>
        </p:nvSpPr>
        <p:spPr>
          <a:xfrm>
            <a:off x="8888334" y="3175656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BM too low increase by 30%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E8FA441-A98C-D5AB-935F-C7A70AAC7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6560" y="192705"/>
            <a:ext cx="864096" cy="998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89160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D184F-6B0E-8003-EE05-65CC060C9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output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33B87-2A68-A3C5-0C7F-6C4C712B8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6C3431-8AE9-5D80-A300-E524C65A26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F1D4B1-BA03-4DC7-E20B-9155D74FBD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37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CC9F3E-634C-C20C-24DE-0A84C7AE7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9680"/>
            <a:ext cx="5963276" cy="51113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1AFF0E-76ED-4948-31E2-5581D947A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284" y="1464094"/>
            <a:ext cx="5687347" cy="4874869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6CD3F952-48D7-4061-227D-640528BAD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6560" y="192705"/>
            <a:ext cx="864096" cy="998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80E3C442-C424-661F-5556-9F9A77ED6A16}"/>
              </a:ext>
            </a:extLst>
          </p:cNvPr>
          <p:cNvSpPr txBox="1"/>
          <p:nvPr/>
        </p:nvSpPr>
        <p:spPr>
          <a:xfrm>
            <a:off x="623392" y="753753"/>
            <a:ext cx="87609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https://ruminate.ubiquity.tools/articles/clinical_trial_simulation.html</a:t>
            </a:r>
            <a:r>
              <a:rPr lang="en-US" sz="12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1661753"/>
      </p:ext>
    </p:extLst>
  </p:cSld>
  <p:clrMapOvr>
    <a:masterClrMapping/>
  </p:clrMapOvr>
</p:sld>
</file>

<file path=ppt/theme/theme1.xml><?xml version="1.0" encoding="utf-8"?>
<a:theme xmlns:a="http://schemas.openxmlformats.org/drawingml/2006/main" name="OccamsPresentation">
  <a:themeElements>
    <a:clrScheme name="Custom 3">
      <a:dk1>
        <a:srgbClr val="3B3B3B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902C10"/>
      </a:accent2>
      <a:accent3>
        <a:srgbClr val="9BBB59"/>
      </a:accent3>
      <a:accent4>
        <a:srgbClr val="8064A2"/>
      </a:accent4>
      <a:accent5>
        <a:srgbClr val="4BACC6"/>
      </a:accent5>
      <a:accent6>
        <a:srgbClr val="E08836"/>
      </a:accent6>
      <a:hlink>
        <a:srgbClr val="902C10"/>
      </a:hlink>
      <a:folHlink>
        <a:srgbClr val="902C1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672098E-E704-41C2-B233-A5DE79514A81}" vid="{05D70944-1DEC-4194-BA18-DA1D17F1F2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4122</Words>
  <Application>Microsoft Office PowerPoint</Application>
  <PresentationFormat>Widescreen</PresentationFormat>
  <Paragraphs>551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Arial</vt:lpstr>
      <vt:lpstr>Calibri</vt:lpstr>
      <vt:lpstr>Cambria Math</vt:lpstr>
      <vt:lpstr>Cascadia Code</vt:lpstr>
      <vt:lpstr>Cascadia Mono</vt:lpstr>
      <vt:lpstr>Century Gothic</vt:lpstr>
      <vt:lpstr>Courier New</vt:lpstr>
      <vt:lpstr>Wingdings</vt:lpstr>
      <vt:lpstr>OccamsPresentation</vt:lpstr>
      <vt:lpstr>nlmixr2 advanced topics</vt:lpstr>
      <vt:lpstr>Course outline: Part 2</vt:lpstr>
      <vt:lpstr>Time to event (TTE) models</vt:lpstr>
      <vt:lpstr>Consider a straightforward example…</vt:lpstr>
      <vt:lpstr>We can do some exploratory analysis to see what kind of hazard distribution we need</vt:lpstr>
      <vt:lpstr>Let’s try an exponential model first, just to see</vt:lpstr>
      <vt:lpstr>nlmixr2 fit output</vt:lpstr>
      <vt:lpstr>VPC suggests there’s room for improvement</vt:lpstr>
      <vt:lpstr>Now for a Weibull model (non-proportional hazard)</vt:lpstr>
      <vt:lpstr>This looks a bit better!</vt:lpstr>
      <vt:lpstr>The VPC looks better!</vt:lpstr>
      <vt:lpstr>Advanced TTE modeling</vt:lpstr>
      <vt:lpstr>Models for discrete data</vt:lpstr>
      <vt:lpstr>Models for binary data</vt:lpstr>
      <vt:lpstr>Model fit </vt:lpstr>
      <vt:lpstr>A VPC shows our model does the job</vt:lpstr>
      <vt:lpstr>Models for count data</vt:lpstr>
      <vt:lpstr>Models for unordered categorical data</vt:lpstr>
      <vt:lpstr>Models for unordered categorical data</vt:lpstr>
      <vt:lpstr>Models for unordered categorical data</vt:lpstr>
      <vt:lpstr>The model fits well!</vt:lpstr>
      <vt:lpstr>Models for ordered categorical data</vt:lpstr>
      <vt:lpstr>Proportional odds model</vt:lpstr>
      <vt:lpstr>Proportional odds model</vt:lpstr>
      <vt:lpstr>It works!</vt:lpstr>
      <vt:lpstr>Custom functions</vt:lpstr>
      <vt:lpstr>Adaptive dosing</vt:lpstr>
      <vt:lpstr>Model piping</vt:lpstr>
      <vt:lpstr>Model piping: the theophylline model</vt:lpstr>
      <vt:lpstr>That estimate of ka was a bit imprecise. What if we fix it to its estimated value? Rewriting the model is too much effort, we’ll just use the pipe</vt:lpstr>
      <vt:lpstr>Model piping</vt:lpstr>
      <vt:lpstr>nlmixr2lib</vt:lpstr>
      <vt:lpstr>nlmixr2rpt</vt:lpstr>
      <vt:lpstr>ruminate: data exploration and analysis</vt:lpstr>
      <vt:lpstr>ruminate: adaptive trial simulation</vt:lpstr>
      <vt:lpstr>PK/biomarker </vt:lpstr>
      <vt:lpstr>Sample output</vt:lpstr>
    </vt:vector>
  </TitlesOfParts>
  <Manager/>
  <Company>Occams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Rik Schoemaker</dc:creator>
  <cp:keywords/>
  <dc:description/>
  <cp:lastModifiedBy>Justin Wilkins</cp:lastModifiedBy>
  <cp:revision>256</cp:revision>
  <dcterms:created xsi:type="dcterms:W3CDTF">2016-11-23T19:12:10Z</dcterms:created>
  <dcterms:modified xsi:type="dcterms:W3CDTF">2026-05-31T20:30:48Z</dcterms:modified>
  <cp:category/>
</cp:coreProperties>
</file>