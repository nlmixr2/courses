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530" r:id="rId2"/>
    <p:sldId id="563" r:id="rId3"/>
    <p:sldId id="273" r:id="rId4"/>
    <p:sldId id="271" r:id="rId5"/>
    <p:sldId id="5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7A83A"/>
    <a:srgbClr val="B40000"/>
    <a:srgbClr val="76C65A"/>
    <a:srgbClr val="FF8000"/>
    <a:srgbClr val="808080"/>
    <a:srgbClr val="305480"/>
    <a:srgbClr val="E08836"/>
    <a:srgbClr val="DE8400"/>
    <a:srgbClr val="902C10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7" autoAdjust="0"/>
    <p:restoredTop sz="96405"/>
  </p:normalViewPr>
  <p:slideViewPr>
    <p:cSldViewPr>
      <p:cViewPr varScale="1">
        <p:scale>
          <a:sx n="100" d="100"/>
          <a:sy n="100" d="100"/>
        </p:scale>
        <p:origin x="48" y="32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101" d="100"/>
          <a:sy n="101" d="100"/>
        </p:scale>
        <p:origin x="5154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5B5575-5396-4903-B001-2952BE6B9F1B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42CCE1-13AB-4907-8C53-954A4412C1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96156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E547EB-7C1B-40A0-9C00-7392B48D9156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3989F4-5BC7-45C8-8C9A-BD91344270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3248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019400"/>
            <a:ext cx="8534400" cy="170574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4" name="Rectangle 3"/>
          <p:cNvSpPr/>
          <p:nvPr userDrawn="1"/>
        </p:nvSpPr>
        <p:spPr>
          <a:xfrm>
            <a:off x="0" y="-204936"/>
            <a:ext cx="12192000" cy="15567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8" name="Rectangle 7"/>
          <p:cNvSpPr/>
          <p:nvPr userDrawn="1"/>
        </p:nvSpPr>
        <p:spPr>
          <a:xfrm>
            <a:off x="0" y="6237312"/>
            <a:ext cx="12192000" cy="628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3392" y="476672"/>
            <a:ext cx="10945216" cy="2448272"/>
          </a:xfrm>
        </p:spPr>
        <p:txBody>
          <a:bodyPr anchor="b">
            <a:normAutofit/>
          </a:bodyPr>
          <a:lstStyle>
            <a:lvl1pPr algn="ctr">
              <a:defRPr sz="3200">
                <a:solidFill>
                  <a:srgbClr val="B4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9D51947-24F4-C4DC-5885-9F67B2093E4F}"/>
              </a:ext>
            </a:extLst>
          </p:cNvPr>
          <p:cNvGrpSpPr/>
          <p:nvPr userDrawn="1"/>
        </p:nvGrpSpPr>
        <p:grpSpPr>
          <a:xfrm>
            <a:off x="4339232" y="4819600"/>
            <a:ext cx="3589360" cy="1763448"/>
            <a:chOff x="4339232" y="4819600"/>
            <a:chExt cx="3589360" cy="1763448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3E4E562-3F63-307A-0740-45B3E73A091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9232" y="4819600"/>
              <a:ext cx="3513536" cy="1763448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2C4A0EA-E478-7F0A-1EEC-46DA78AFE7EE}"/>
                </a:ext>
              </a:extLst>
            </p:cNvPr>
            <p:cNvSpPr txBox="1"/>
            <p:nvPr userDrawn="1"/>
          </p:nvSpPr>
          <p:spPr>
            <a:xfrm>
              <a:off x="7568552" y="5538903"/>
              <a:ext cx="360040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900" b="1">
                  <a:solidFill>
                    <a:srgbClr val="C00000"/>
                  </a:solidFill>
                </a:rPr>
                <a:t>2</a:t>
              </a:r>
              <a:endParaRPr lang="en-NL" sz="1900" b="1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46382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800"/>
            </a:lvl1pPr>
          </a:lstStyle>
          <a:p>
            <a:fld id="{133EA325-E17C-4431-8C79-1AEA4A39660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5310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B40000"/>
                </a:solidFill>
              </a:defRPr>
            </a:lvl1pPr>
          </a:lstStyle>
          <a:p>
            <a:fld id="{133EA325-E17C-4431-8C79-1AEA4A39660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 Placeholder 2"/>
          <p:cNvSpPr>
            <a:spLocks noGrp="1"/>
          </p:cNvSpPr>
          <p:nvPr>
            <p:ph idx="1"/>
          </p:nvPr>
        </p:nvSpPr>
        <p:spPr>
          <a:xfrm>
            <a:off x="623392" y="1196752"/>
            <a:ext cx="10945216" cy="518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2159563" y="6564883"/>
            <a:ext cx="7392821" cy="230400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</p:spTree>
    <p:extLst>
      <p:ext uri="{BB962C8B-B14F-4D97-AF65-F5344CB8AC3E}">
        <p14:creationId xmlns:p14="http://schemas.microsoft.com/office/powerpoint/2010/main" val="1208292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6884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2207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3392" y="113386"/>
            <a:ext cx="10945216" cy="985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392" y="1196752"/>
            <a:ext cx="10945216" cy="518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59563" y="6564883"/>
            <a:ext cx="7392821" cy="230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2">
                    <a:lumMod val="75000"/>
                  </a:schemeClr>
                </a:solidFill>
                <a:latin typeface="+mn-lt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3392" y="6564883"/>
            <a:ext cx="1056117" cy="230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B40000"/>
                </a:solidFill>
                <a:latin typeface="+mn-lt"/>
                <a:ea typeface="Tahoma" pitchFamily="34" charset="0"/>
                <a:cs typeface="Tahoma" pitchFamily="34" charset="0"/>
              </a:defRPr>
            </a:lvl1pPr>
          </a:lstStyle>
          <a:p>
            <a:fld id="{133EA325-E17C-4431-8C79-1AEA4A396602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73B2648-2988-DDF5-3B00-2C50D9961258}"/>
              </a:ext>
            </a:extLst>
          </p:cNvPr>
          <p:cNvGrpSpPr/>
          <p:nvPr userDrawn="1"/>
        </p:nvGrpSpPr>
        <p:grpSpPr>
          <a:xfrm>
            <a:off x="10598596" y="6318101"/>
            <a:ext cx="1066119" cy="524043"/>
            <a:chOff x="10598596" y="6318101"/>
            <a:chExt cx="1066119" cy="524043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C7B45EA-DF08-9BD8-0E65-7B7CF845E10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98596" y="6318101"/>
              <a:ext cx="1044116" cy="524043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15425DF-E504-86F9-34AC-3D4EE1BA0992}"/>
                </a:ext>
              </a:extLst>
            </p:cNvPr>
            <p:cNvSpPr txBox="1"/>
            <p:nvPr userDrawn="1"/>
          </p:nvSpPr>
          <p:spPr>
            <a:xfrm>
              <a:off x="11557722" y="6435742"/>
              <a:ext cx="10699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b="1">
                  <a:solidFill>
                    <a:srgbClr val="C00000"/>
                  </a:solidFill>
                </a:rPr>
                <a:t>2</a:t>
              </a:r>
              <a:endParaRPr lang="en-NL" sz="1200" b="1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25295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2" r:id="rId4"/>
    <p:sldLayoutId id="2147483653" r:id="rId5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B40000"/>
          </a:solidFill>
          <a:latin typeface="+mn-lt"/>
          <a:ea typeface="Tahoma" pitchFamily="34" charset="0"/>
          <a:cs typeface="Tahoma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B40000"/>
        </a:buClr>
        <a:buFont typeface="Arial" pitchFamily="34" charset="0"/>
        <a:buChar char="•"/>
        <a:defRPr sz="2400" kern="1200">
          <a:solidFill>
            <a:schemeClr val="tx2">
              <a:lumMod val="50000"/>
            </a:schemeClr>
          </a:solidFill>
          <a:latin typeface="Calibri" panose="020F0502020204030204" pitchFamily="34" charset="0"/>
          <a:ea typeface="Tahoma" pitchFamily="34" charset="0"/>
          <a:cs typeface="Tahoma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B40000"/>
        </a:buClr>
        <a:buFont typeface="Arial" pitchFamily="34" charset="0"/>
        <a:buChar char="•"/>
        <a:defRPr sz="2200" kern="1200">
          <a:solidFill>
            <a:schemeClr val="tx2">
              <a:lumMod val="50000"/>
            </a:schemeClr>
          </a:solidFill>
          <a:latin typeface="Calibri" panose="020F0502020204030204" pitchFamily="34" charset="0"/>
          <a:ea typeface="Tahoma" pitchFamily="34" charset="0"/>
          <a:cs typeface="Tahoma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B40000"/>
        </a:buClr>
        <a:buFont typeface="Arial" pitchFamily="34" charset="0"/>
        <a:buChar char="•"/>
        <a:defRPr sz="2000" kern="1200">
          <a:solidFill>
            <a:schemeClr val="tx2">
              <a:lumMod val="50000"/>
            </a:schemeClr>
          </a:solidFill>
          <a:latin typeface="Calibri" panose="020F0502020204030204" pitchFamily="34" charset="0"/>
          <a:ea typeface="Tahoma" pitchFamily="34" charset="0"/>
          <a:cs typeface="Tahoma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B40000"/>
        </a:buClr>
        <a:buFont typeface="Arial" pitchFamily="34" charset="0"/>
        <a:buChar char="•"/>
        <a:defRPr sz="1800" kern="1200">
          <a:solidFill>
            <a:schemeClr val="tx2">
              <a:lumMod val="50000"/>
            </a:schemeClr>
          </a:solidFill>
          <a:latin typeface="Calibri" panose="020F0502020204030204" pitchFamily="34" charset="0"/>
          <a:ea typeface="Tahoma" pitchFamily="34" charset="0"/>
          <a:cs typeface="Tahoma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B40000"/>
        </a:buClr>
        <a:buFont typeface="Arial" pitchFamily="34" charset="0"/>
        <a:buChar char="•"/>
        <a:defRPr sz="1600" kern="1200">
          <a:solidFill>
            <a:schemeClr val="tx2">
              <a:lumMod val="50000"/>
            </a:schemeClr>
          </a:solidFill>
          <a:latin typeface="Calibri" panose="020F0502020204030204" pitchFamily="34" charset="0"/>
          <a:ea typeface="Tahoma" pitchFamily="34" charset="0"/>
          <a:cs typeface="Tahom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2967608" y="2204864"/>
            <a:ext cx="6400800" cy="2664296"/>
          </a:xfrm>
        </p:spPr>
        <p:txBody>
          <a:bodyPr>
            <a:normAutofit fontScale="70000" lnSpcReduction="20000"/>
          </a:bodyPr>
          <a:lstStyle/>
          <a:p>
            <a:r>
              <a:rPr lang="en-GB" dirty="0"/>
              <a:t>rxode2/nlmixr2 Course </a:t>
            </a:r>
            <a:br>
              <a:rPr lang="en-GB" dirty="0"/>
            </a:br>
            <a:r>
              <a:rPr lang="en-GB" dirty="0"/>
              <a:t>PAGE 2026, Dubrovnik, Croatia 
</a:t>
            </a:r>
            <a:r>
              <a:rPr lang="en-GB"/>
              <a:t>
Justin Wilkins, </a:t>
            </a:r>
            <a:r>
              <a:rPr lang="en-GB" dirty="0"/>
              <a:t>PhD
</a:t>
            </a:r>
          </a:p>
          <a:p>
            <a:pPr lvl="0"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Tahoma" pitchFamily="34" charset="0"/>
                <a:cs typeface="Tahoma" pitchFamily="34" charset="0"/>
              </a:rPr>
              <a:t>On behalf of the 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B40000"/>
                </a:solidFill>
                <a:effectLst/>
                <a:uLnTx/>
                <a:uFillTx/>
                <a:latin typeface="Calibri" panose="020F0502020204030204" pitchFamily="34" charset="0"/>
                <a:ea typeface="Tahoma" pitchFamily="34" charset="0"/>
                <a:cs typeface="Tahoma" pitchFamily="34" charset="0"/>
              </a:rPr>
              <a:t>nlmixr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Tahoma" pitchFamily="34" charset="0"/>
                <a:cs typeface="Tahoma" pitchFamily="34" charset="0"/>
              </a:rPr>
              <a:t> development team: </a:t>
            </a:r>
          </a:p>
          <a:p>
            <a:pPr lvl="0">
              <a:defRPr/>
            </a:pPr>
            <a:r>
              <a:rPr lang="en-GB" sz="2400" dirty="0">
                <a:solidFill>
                  <a:srgbClr val="1F497D">
                    <a:lumMod val="50000"/>
                  </a:srgbClr>
                </a:solidFill>
              </a:rPr>
              <a:t>Matt Fidler, Bill Denney, </a:t>
            </a:r>
            <a:r>
              <a:rPr lang="en-GB" dirty="0">
                <a:solidFill>
                  <a:srgbClr val="1F497D">
                    <a:lumMod val="50000"/>
                  </a:srgbClr>
                </a:solidFill>
              </a:rPr>
              <a:t>John Harrold, </a:t>
            </a:r>
            <a:r>
              <a:rPr lang="en-GB" sz="2400" dirty="0">
                <a:solidFill>
                  <a:srgbClr val="1F497D">
                    <a:lumMod val="50000"/>
                  </a:srgbClr>
                </a:solidFill>
              </a:rPr>
              <a:t>Richard Hooijmaijers, Mutaz Jaber, Anne Keunecke</a:t>
            </a:r>
            <a:r>
              <a:rPr lang="en-GB" dirty="0">
                <a:solidFill>
                  <a:srgbClr val="1F497D">
                    <a:lumMod val="50000"/>
                  </a:srgbClr>
                </a:solidFill>
              </a:rPr>
              <a:t>, Theo Papathanasiou, </a:t>
            </a:r>
            <a:r>
              <a:rPr lang="en-GB" sz="2400" dirty="0">
                <a:solidFill>
                  <a:srgbClr val="1F497D">
                    <a:lumMod val="50000"/>
                  </a:srgbClr>
                </a:solidFill>
              </a:rPr>
              <a:t>Rik Schoemaker, </a:t>
            </a:r>
            <a:r>
              <a:rPr lang="en-GB" dirty="0">
                <a:solidFill>
                  <a:srgbClr val="1F497D">
                    <a:lumMod val="50000"/>
                  </a:srgbClr>
                </a:solidFill>
              </a:rPr>
              <a:t>Max Taubert, </a:t>
            </a:r>
            <a:r>
              <a:rPr lang="en-GB" sz="2400" dirty="0">
                <a:solidFill>
                  <a:srgbClr val="1F497D">
                    <a:lumMod val="50000"/>
                  </a:srgbClr>
                </a:solidFill>
              </a:rPr>
              <a:t>Mirjam Trame, Justin Wilkins, Brendan Bender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2063552" y="620688"/>
            <a:ext cx="8208912" cy="1296144"/>
          </a:xfrm>
        </p:spPr>
        <p:txBody>
          <a:bodyPr>
            <a:normAutofit/>
          </a:bodyPr>
          <a:lstStyle/>
          <a:p>
            <a:r>
              <a:rPr lang="en-GB" dirty="0"/>
              <a:t>nlmix</a:t>
            </a:r>
            <a:r>
              <a:rPr lang="en-GB" dirty="0">
                <a:solidFill>
                  <a:srgbClr val="B40000"/>
                </a:solidFill>
              </a:rPr>
              <a:t>r2: the future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40310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186E3-2704-1FC6-D9D3-0F2FE2678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Coming soon!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1F05D2-B599-066E-1FCD-975CEAB414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Stepwise covariate modeling via </a:t>
            </a:r>
            <a:r>
              <a:rPr lang="en-US" b="1" dirty="0">
                <a:solidFill>
                  <a:srgbClr val="C00000"/>
                </a:solidFill>
              </a:rPr>
              <a:t>nlmixr2scm</a:t>
            </a:r>
          </a:p>
          <a:p>
            <a:r>
              <a:rPr lang="en-US" dirty="0"/>
              <a:t>Sampling importance resampling via </a:t>
            </a:r>
            <a:r>
              <a:rPr lang="en-US" b="1" dirty="0">
                <a:solidFill>
                  <a:srgbClr val="C00000"/>
                </a:solidFill>
              </a:rPr>
              <a:t>nlmixr2sir</a:t>
            </a:r>
          </a:p>
          <a:p>
            <a:r>
              <a:rPr lang="en-US" dirty="0"/>
              <a:t>Log-likelihood profiling via </a:t>
            </a:r>
            <a:r>
              <a:rPr lang="en-US" b="1" dirty="0">
                <a:solidFill>
                  <a:srgbClr val="C00000"/>
                </a:solidFill>
              </a:rPr>
              <a:t>nlmixr2llp</a:t>
            </a:r>
          </a:p>
          <a:p>
            <a:r>
              <a:rPr lang="en-US" dirty="0"/>
              <a:t>Stochastic simulation and estimation via </a:t>
            </a:r>
            <a:r>
              <a:rPr lang="en-US" b="1" dirty="0">
                <a:solidFill>
                  <a:srgbClr val="C00000"/>
                </a:solidFill>
              </a:rPr>
              <a:t>nlmixr2sse</a:t>
            </a:r>
          </a:p>
          <a:p>
            <a:r>
              <a:rPr lang="en-US" dirty="0"/>
              <a:t>Enhanced bootstrapping via </a:t>
            </a:r>
            <a:r>
              <a:rPr lang="en-US" b="1" dirty="0">
                <a:solidFill>
                  <a:srgbClr val="C00000"/>
                </a:solidFill>
              </a:rPr>
              <a:t>nlmixr2boot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1B8090-34A1-E49E-07FF-5091C3D7384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0D9E72-AB0F-FF82-6981-7AD357B02A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2653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386ED-7AC7-2D52-5D25-754D8D794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already implemented in nlmix2/rxode2 that you might not have heard about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C9352E-F316-010E-904F-765EA22ABB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08AF15-2572-3728-68A6-4FB5AB078E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Time-varying covariates</a:t>
            </a:r>
          </a:p>
          <a:p>
            <a:r>
              <a:rPr lang="en-US" dirty="0"/>
              <a:t>Parallel ODE solving in rxode2 and SAEM (still needs to be worked out for other methods)</a:t>
            </a:r>
          </a:p>
          <a:p>
            <a:r>
              <a:rPr lang="en-US" dirty="0"/>
              <a:t>Generalized likelihood for certain population/mixed effects model</a:t>
            </a:r>
          </a:p>
          <a:p>
            <a:r>
              <a:rPr lang="en-US" dirty="0"/>
              <a:t>Censored data (M3/M4) via LIMIT,  CENS columns</a:t>
            </a:r>
          </a:p>
          <a:p>
            <a:r>
              <a:rPr lang="en-US" dirty="0"/>
              <a:t>User-defined functions interfacing R and possibly converting to C (with derivatives)</a:t>
            </a:r>
          </a:p>
          <a:p>
            <a:r>
              <a:rPr lang="en-US" dirty="0"/>
              <a:t>Neural network-based ODEs (</a:t>
            </a:r>
            <a:r>
              <a:rPr lang="en-US" dirty="0" err="1"/>
              <a:t>pmxNODE</a:t>
            </a:r>
            <a:r>
              <a:rPr lang="en-US" dirty="0"/>
              <a:t> + nlmixr2)</a:t>
            </a:r>
          </a:p>
          <a:p>
            <a:r>
              <a:rPr lang="en-US" dirty="0"/>
              <a:t>Inter-occasion variability (4.1.0+)</a:t>
            </a:r>
          </a:p>
          <a:p>
            <a:r>
              <a:rPr lang="en-US" dirty="0"/>
              <a:t>Adaptive Gaussian Quadrature (4.1.0+)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3245EF-B31A-A5A6-CC38-5C8F8D0C0B1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/>
              <a:t> development team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0040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4EC0F-4D5F-69B9-E199-DA97E9B8D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on the roadmap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E52724-DDC3-8821-A12A-4EEAA45ADD0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97750A-1D92-2AB4-42EF-AD16578EA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Easy (easier) ways to code and simulate survival models (and perhaps survival-specific regression techniques)</a:t>
            </a:r>
          </a:p>
          <a:p>
            <a:r>
              <a:rPr lang="en-US" b="1" dirty="0"/>
              <a:t>Shiny</a:t>
            </a:r>
            <a:r>
              <a:rPr lang="en-US" dirty="0"/>
              <a:t> access to model library, model building, model import</a:t>
            </a:r>
          </a:p>
          <a:p>
            <a:r>
              <a:rPr lang="en-US" dirty="0"/>
              <a:t>Mixture models</a:t>
            </a:r>
          </a:p>
          <a:p>
            <a:r>
              <a:rPr lang="en-US" dirty="0"/>
              <a:t>DSL to support survival models</a:t>
            </a:r>
          </a:p>
          <a:p>
            <a:r>
              <a:rPr lang="en-US" dirty="0"/>
              <a:t>Adding prior parameters to do Bayesian analysis with adjusted likelihoods (likely needed before </a:t>
            </a:r>
            <a:r>
              <a:rPr lang="en-US" b="1" dirty="0"/>
              <a:t>Torsten</a:t>
            </a:r>
            <a:r>
              <a:rPr lang="en-US" dirty="0"/>
              <a:t>/</a:t>
            </a:r>
            <a:r>
              <a:rPr lang="en-US" b="1" dirty="0" err="1"/>
              <a:t>stanette</a:t>
            </a:r>
            <a:r>
              <a:rPr lang="en-US" dirty="0"/>
              <a:t> integration)</a:t>
            </a:r>
          </a:p>
          <a:p>
            <a:r>
              <a:rPr lang="en-US" dirty="0"/>
              <a:t>Delay differential equations (?)</a:t>
            </a:r>
          </a:p>
          <a:p>
            <a:r>
              <a:rPr lang="en-US" dirty="0"/>
              <a:t>Matrix exponential / inductive linearization</a:t>
            </a:r>
          </a:p>
          <a:p>
            <a:r>
              <a:rPr lang="en-US" dirty="0"/>
              <a:t>Other ODE methods (we have </a:t>
            </a:r>
            <a:r>
              <a:rPr lang="en-US" b="1" dirty="0" err="1"/>
              <a:t>lsoda</a:t>
            </a:r>
            <a:r>
              <a:rPr lang="en-US" dirty="0"/>
              <a:t> and </a:t>
            </a:r>
            <a:r>
              <a:rPr lang="en-US" b="1" dirty="0"/>
              <a:t>dop853 </a:t>
            </a:r>
            <a:r>
              <a:rPr lang="en-US" dirty="0"/>
              <a:t>already)</a:t>
            </a:r>
          </a:p>
          <a:p>
            <a:r>
              <a:rPr lang="en-US" dirty="0"/>
              <a:t>Different methods for estimating covariance and likelihood calculation (for </a:t>
            </a:r>
            <a:r>
              <a:rPr lang="en-US" b="1" dirty="0"/>
              <a:t>SAEM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74F509-C733-607A-4D9B-0D377F44C1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/>
              <a:t> development team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05381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2063552" y="188640"/>
            <a:ext cx="8208912" cy="731862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nlmix</a:t>
            </a:r>
            <a:r>
              <a:rPr lang="en-GB" dirty="0"/>
              <a:t>r</a:t>
            </a:r>
            <a:r>
              <a:rPr lang="en-GB" baseline="30000" dirty="0"/>
              <a:t>2 </a:t>
            </a:r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acknowledgements</a:t>
            </a:r>
            <a:endParaRPr lang="en-GB" dirty="0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39B0C88F-AB18-6CDD-8C5A-AAF818691A2B}"/>
              </a:ext>
            </a:extLst>
          </p:cNvPr>
          <p:cNvSpPr txBox="1">
            <a:spLocks/>
          </p:cNvSpPr>
          <p:nvPr/>
        </p:nvSpPr>
        <p:spPr>
          <a:xfrm>
            <a:off x="7635677" y="4725963"/>
            <a:ext cx="241498" cy="12961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rgbClr val="B40000"/>
                </a:solidFill>
                <a:latin typeface="+mn-lt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GB" dirty="0"/>
              <a:t>2</a:t>
            </a:r>
          </a:p>
        </p:txBody>
      </p:sp>
      <p:sp>
        <p:nvSpPr>
          <p:cNvPr id="4" name="Subtitle 1">
            <a:extLst>
              <a:ext uri="{FF2B5EF4-FFF2-40B4-BE49-F238E27FC236}">
                <a16:creationId xmlns:a16="http://schemas.microsoft.com/office/drawing/2014/main" id="{392EBD4F-9AEA-58F2-E5BE-58E15C0B5B43}"/>
              </a:ext>
            </a:extLst>
          </p:cNvPr>
          <p:cNvSpPr txBox="1">
            <a:spLocks/>
          </p:cNvSpPr>
          <p:nvPr/>
        </p:nvSpPr>
        <p:spPr>
          <a:xfrm>
            <a:off x="2967608" y="1279376"/>
            <a:ext cx="6400800" cy="3733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Clr>
                <a:srgbClr val="B40000"/>
              </a:buClr>
              <a:buFont typeface="Arial" pitchFamily="34" charset="0"/>
              <a:buNone/>
              <a:defRPr sz="2400" kern="120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ea typeface="Tahoma" pitchFamily="34" charset="0"/>
                <a:cs typeface="Tahoma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rgbClr val="B40000"/>
              </a:buClr>
              <a:buFont typeface="Arial" pitchFamily="34" charset="0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Tahoma" pitchFamily="34" charset="0"/>
                <a:cs typeface="Tahoma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rgbClr val="B40000"/>
              </a:buClr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Tahoma" pitchFamily="34" charset="0"/>
                <a:cs typeface="Tahoma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rgbClr val="B40000"/>
              </a:buClr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Tahoma" pitchFamily="34" charset="0"/>
                <a:cs typeface="Tahoma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rgbClr val="B40000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Tahoma" pitchFamily="34" charset="0"/>
                <a:cs typeface="Tahoma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40000"/>
              </a:buClr>
              <a:buSzTx/>
              <a:buFontTx/>
              <a:buChar char="-"/>
              <a:tabLst/>
              <a:defRPr/>
            </a:pPr>
            <a:r>
              <a:rPr lang="en-GB" dirty="0">
                <a:solidFill>
                  <a:srgbClr val="1F497D">
                    <a:lumMod val="50000"/>
                  </a:srgbClr>
                </a:solidFill>
              </a:rPr>
              <a:t>n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Tahoma" pitchFamily="34" charset="0"/>
                <a:cs typeface="Tahoma" pitchFamily="34" charset="0"/>
              </a:rPr>
              <a:t>lmixr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Tahoma" pitchFamily="34" charset="0"/>
                <a:cs typeface="Tahoma" pitchFamily="34" charset="0"/>
              </a:rPr>
              <a:t> team, past &amp; present!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40000"/>
              </a:buClr>
              <a:buSzTx/>
              <a:buFontTx/>
              <a:buChar char="-"/>
              <a:tabLst/>
              <a:defRPr/>
            </a:pPr>
            <a:r>
              <a:rPr lang="en-GB" dirty="0">
                <a:solidFill>
                  <a:srgbClr val="1F497D">
                    <a:lumMod val="50000"/>
                  </a:srgbClr>
                </a:solidFill>
              </a:rPr>
              <a:t>Advisory Committee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40000"/>
              </a:buClr>
              <a:buSzTx/>
              <a:buFontTx/>
              <a:buChar char="-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Tahoma" pitchFamily="34" charset="0"/>
                <a:cs typeface="Tahoma" pitchFamily="34" charset="0"/>
              </a:rPr>
              <a:t>Novartis support &amp; internal advocates </a:t>
            </a:r>
          </a:p>
          <a:p>
            <a:pPr marL="800100" lvl="1" indent="-342900" algn="l">
              <a:buFontTx/>
              <a:buChar char="-"/>
              <a:defRPr/>
            </a:pPr>
            <a:r>
              <a:rPr lang="en-GB" dirty="0">
                <a:solidFill>
                  <a:srgbClr val="1F497D">
                    <a:lumMod val="50000"/>
                  </a:srgbClr>
                </a:solidFill>
              </a:rPr>
              <a:t>Lisa Hendricks</a:t>
            </a:r>
          </a:p>
          <a:p>
            <a:pPr marL="800100" lvl="1" indent="-342900" algn="l">
              <a:buFontTx/>
              <a:buChar char="-"/>
              <a:defRPr/>
            </a:pPr>
            <a:r>
              <a:rPr lang="en-GB" dirty="0">
                <a:solidFill>
                  <a:srgbClr val="1F497D">
                    <a:lumMod val="50000"/>
                  </a:srgbClr>
                </a:solidFill>
              </a:rPr>
              <a:t>Mick </a:t>
            </a:r>
            <a:r>
              <a:rPr lang="en-GB" dirty="0" err="1">
                <a:solidFill>
                  <a:srgbClr val="1F497D">
                    <a:lumMod val="50000"/>
                  </a:srgbClr>
                </a:solidFill>
              </a:rPr>
              <a:t>Looby</a:t>
            </a:r>
            <a:endParaRPr lang="en-GB" dirty="0">
              <a:solidFill>
                <a:srgbClr val="1F497D">
                  <a:lumMod val="50000"/>
                </a:srgbClr>
              </a:solidFill>
            </a:endParaRPr>
          </a:p>
          <a:p>
            <a:pPr marL="800100" lvl="1" indent="-342900" algn="l">
              <a:buFontTx/>
              <a:buChar char="-"/>
              <a:defRPr/>
            </a:pP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Tahoma" pitchFamily="34" charset="0"/>
                <a:cs typeface="Tahoma" pitchFamily="34" charset="0"/>
              </a:rPr>
              <a:t>Kai Grosch</a:t>
            </a:r>
          </a:p>
          <a:p>
            <a:pPr marL="800100" lvl="1" indent="-342900" algn="l">
              <a:buFontTx/>
              <a:buChar char="-"/>
              <a:defRPr/>
            </a:pPr>
            <a:r>
              <a:rPr lang="en-GB" dirty="0" err="1">
                <a:solidFill>
                  <a:srgbClr val="1F497D">
                    <a:lumMod val="50000"/>
                  </a:srgbClr>
                </a:solidFill>
              </a:rPr>
              <a:t>Farkad</a:t>
            </a:r>
            <a:r>
              <a:rPr lang="en-GB" dirty="0">
                <a:solidFill>
                  <a:srgbClr val="1F497D">
                    <a:lumMod val="50000"/>
                  </a:srgbClr>
                </a:solidFill>
              </a:rPr>
              <a:t> </a:t>
            </a:r>
            <a:r>
              <a:rPr lang="en-GB" dirty="0" err="1">
                <a:solidFill>
                  <a:srgbClr val="1F497D">
                    <a:lumMod val="50000"/>
                  </a:srgbClr>
                </a:solidFill>
              </a:rPr>
              <a:t>Ezzet</a:t>
            </a:r>
            <a:endParaRPr lang="en-GB" dirty="0">
              <a:solidFill>
                <a:srgbClr val="1F497D">
                  <a:lumMod val="50000"/>
                </a:srgbClr>
              </a:solidFill>
            </a:endParaRPr>
          </a:p>
          <a:p>
            <a:pPr marL="800100" lvl="1" indent="-342900" algn="l">
              <a:buFontTx/>
              <a:buChar char="-"/>
              <a:defRPr/>
            </a:pPr>
            <a:r>
              <a:rPr lang="en-GB" dirty="0">
                <a:solidFill>
                  <a:srgbClr val="1F497D">
                    <a:lumMod val="50000"/>
                  </a:srgbClr>
                </a:solidFill>
              </a:rPr>
              <a:t>Andy Stein</a:t>
            </a:r>
          </a:p>
          <a:p>
            <a:pPr marL="800100" lvl="1" indent="-342900" algn="l">
              <a:buFontTx/>
              <a:buChar char="-"/>
              <a:defRPr/>
            </a:pPr>
            <a:r>
              <a:rPr lang="pl-PL" dirty="0">
                <a:solidFill>
                  <a:srgbClr val="1F497D">
                    <a:lumMod val="50000"/>
                  </a:srgbClr>
                </a:solidFill>
              </a:rPr>
              <a:t>Maja Skataric</a:t>
            </a:r>
            <a:endParaRPr lang="en-US" dirty="0">
              <a:solidFill>
                <a:srgbClr val="1F497D">
                  <a:lumMod val="50000"/>
                </a:srgbClr>
              </a:solidFill>
            </a:endParaRPr>
          </a:p>
          <a:p>
            <a:pPr marL="800100" lvl="1" indent="-342900" algn="l">
              <a:buFontTx/>
              <a:buChar char="-"/>
              <a:defRPr/>
            </a:pPr>
            <a:r>
              <a:rPr lang="en-US" dirty="0">
                <a:solidFill>
                  <a:srgbClr val="1F497D">
                    <a:lumMod val="50000"/>
                  </a:srgbClr>
                </a:solidFill>
              </a:rPr>
              <a:t>Giuseppe Pasculli</a:t>
            </a:r>
          </a:p>
          <a:p>
            <a:pPr marL="800100" lvl="1" indent="-342900" algn="l">
              <a:buFontTx/>
              <a:buChar char="-"/>
              <a:defRPr/>
            </a:pPr>
            <a:r>
              <a:rPr lang="en-US" dirty="0">
                <a:solidFill>
                  <a:srgbClr val="1F497D">
                    <a:lumMod val="50000"/>
                  </a:srgbClr>
                </a:solidFill>
              </a:rPr>
              <a:t>Marina Savelieva</a:t>
            </a:r>
          </a:p>
          <a:p>
            <a:pPr marL="342900" indent="-342900" algn="l">
              <a:buFontTx/>
              <a:buChar char="-"/>
              <a:defRPr/>
            </a:pPr>
            <a:r>
              <a:rPr kumimoji="0" lang="en-GB" sz="26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Tahoma" pitchFamily="34" charset="0"/>
                <a:cs typeface="Tahoma" pitchFamily="34" charset="0"/>
              </a:rPr>
              <a:t>External Advocates</a:t>
            </a:r>
          </a:p>
        </p:txBody>
      </p:sp>
    </p:spTree>
    <p:extLst>
      <p:ext uri="{BB962C8B-B14F-4D97-AF65-F5344CB8AC3E}">
        <p14:creationId xmlns:p14="http://schemas.microsoft.com/office/powerpoint/2010/main" val="1039328993"/>
      </p:ext>
    </p:extLst>
  </p:cSld>
  <p:clrMapOvr>
    <a:masterClrMapping/>
  </p:clrMapOvr>
</p:sld>
</file>

<file path=ppt/theme/theme1.xml><?xml version="1.0" encoding="utf-8"?>
<a:theme xmlns:a="http://schemas.openxmlformats.org/drawingml/2006/main" name="OccamsPresentation">
  <a:themeElements>
    <a:clrScheme name="Custom 3">
      <a:dk1>
        <a:srgbClr val="3B3B3B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902C10"/>
      </a:accent2>
      <a:accent3>
        <a:srgbClr val="9BBB59"/>
      </a:accent3>
      <a:accent4>
        <a:srgbClr val="8064A2"/>
      </a:accent4>
      <a:accent5>
        <a:srgbClr val="4BACC6"/>
      </a:accent5>
      <a:accent6>
        <a:srgbClr val="E08836"/>
      </a:accent6>
      <a:hlink>
        <a:srgbClr val="902C10"/>
      </a:hlink>
      <a:folHlink>
        <a:srgbClr val="902C10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672098E-E704-41C2-B233-A5DE79514A81}" vid="{05D70944-1DEC-4194-BA18-DA1D17F1F2A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317</Words>
  <Application>Microsoft Office PowerPoint</Application>
  <PresentationFormat>Widescreen</PresentationFormat>
  <Paragraphs>49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Century Gothic</vt:lpstr>
      <vt:lpstr>OccamsPresentation</vt:lpstr>
      <vt:lpstr>nlmixr2: the future</vt:lpstr>
      <vt:lpstr>Coming soon!</vt:lpstr>
      <vt:lpstr>Features already implemented in nlmix2/rxode2 that you might not have heard about</vt:lpstr>
      <vt:lpstr>Features on the roadmap</vt:lpstr>
      <vt:lpstr>nlmixr2 acknowledgements</vt:lpstr>
    </vt:vector>
  </TitlesOfParts>
  <Manager/>
  <Company>Occams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Rik Schoemaker</dc:creator>
  <cp:keywords/>
  <dc:description/>
  <cp:lastModifiedBy>Justin Wilkins</cp:lastModifiedBy>
  <cp:revision>252</cp:revision>
  <dcterms:created xsi:type="dcterms:W3CDTF">2016-11-23T19:12:10Z</dcterms:created>
  <dcterms:modified xsi:type="dcterms:W3CDTF">2026-05-18T15:35:36Z</dcterms:modified>
  <cp:category/>
</cp:coreProperties>
</file>